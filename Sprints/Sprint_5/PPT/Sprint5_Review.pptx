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6"/>
    <p:sldId id="267" r:id="rId5"/>
    <p:sldId id="268" r:id="rId4"/>
    <p:sldId id="269" r:id="rId3"/>
    <p:sldId id="270" r:id="rId2"/>
    <p:sldId id="271" r:id="rId22"/>
    <p:sldId id="272" r:id="rId23"/>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5.xml"/><Relationship Id="rId3" Type="http://schemas.openxmlformats.org/officeDocument/2006/relationships/slide" Target="slides/slide14.xml"/><Relationship Id="rId4" Type="http://schemas.openxmlformats.org/officeDocument/2006/relationships/slide" Target="slides/slide13.xml"/><Relationship Id="rId5" Type="http://schemas.openxmlformats.org/officeDocument/2006/relationships/slide" Target="slides/slide12.xml"/><Relationship Id="rId6" Type="http://schemas.openxmlformats.org/officeDocument/2006/relationships/slide" Target="slides/slide1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6.xml"/><Relationship Id="rId23"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20 seconds</a:t>
            </a:r>
          </a:p>
          <a:p/>
          <a:p>
            <a:r>
              <a:t>Welcome to Team 11’s Sprint 5 review. We are Kellam, Melvin, and Kaleb, building the Squatch Sports basketball training app. This sprint adds 1v1 scorekeeping and nearby play while aligning the major features across the Apple and Android apps. The cover uses the project’s existing Squatch Sports branding; the feature slides include genuine current emulator captures.</a:t>
            </a:r>
          </a:p>
          <a:p/>
          <a:p>
            <a:r>
              <a:t>Sources / evidence:</a:t>
            </a:r>
          </a:p>
          <a:p>
            <a:r>
              <a:t>https://github.com/KellamA/Squatch-Sports-Team-11-Capstone-Project/blob/melvin-sprint5-docs/Sprints/Sprint_5/Sprint_Report/Sprint5_Report.md</a:t>
            </a:r>
          </a:p>
          <a:p>
            <a:r>
              <a:t>Sprints/Sprint_4/PPT/Sprint4_Review.pptx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35 seconds</a:t>
            </a:r>
          </a:p>
          <a:p/>
          <a:p>
            <a:r>
              <a:t>The core app is still shooting practice: select a drill, log shots on the watch, and review saved progress. The client wants useful logging to feel enjoyable. We split the sprint so Melvin built the iOS/watchOS foundation and gamification parity, Kaleb connected nearby iPhones, and I ported the 1v1 and nearby flows to Android and Wear OS. Each platform now covers the same main capabilities, but this is not a claim of identical behavior or mixed-platform multiplayer.</a:t>
            </a:r>
          </a:p>
          <a:p/>
          <a:p>
            <a:r>
              <a:t>Sources / evidence:</a:t>
            </a:r>
          </a:p>
          <a:p>
            <a:r>
              <a:t>https://github.com/KellamA/Squatch-Sports-Team-11-Capstone-Project/blob/melvin-sprint5-docs/Sprints/Sprint_5/Sprint_Report/Sprint5_Report.md</a:t>
            </a:r>
          </a:p>
          <a:p>
            <a:r>
              <a:t>https://github.com/KellamA/Squatch-Sports-Team-11-Capstone-Project/blob/melvin-sprint5-docs/Sprints/Sprint_5/MoM/MoM_2026-09-30.md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40 seconds</a:t>
            </a:r>
          </a:p>
          <a:p/>
          <a:p>
            <a:r>
              <a:t>We had four goals: close the gamification split from Sprint 4, build 1v1 on iPhone and Apple Watch, connect nearby players, and bring the same major flows to Android and Wear OS. Kaleb’s nearby iPhone feature is tested and complete based on Kellam’s current team confirmation. The Android/Wear OS implementation is now merged into main through PR 38, and issue 32 is closed. Android Nearby physical-device validation and client rollout remain separate next steps. The team-confirmed Apple completion is not being presented as a new iOS test run by this assistant.</a:t>
            </a:r>
          </a:p>
          <a:p/>
          <a:p>
            <a:r>
              <a:t>Sources / evidence:</a:t>
            </a:r>
          </a:p>
          <a:p>
            <a:r>
              <a:t>https://github.com/KellamA/Squatch-Sports-Team-11-Capstone-Project/blob/melvin-sprint5-docs/Sprints/Sprint_5/Sprint_Report/Sprint5_Report.md</a:t>
            </a:r>
          </a:p>
          <a:p>
            <a:r>
              <a:t>https://github.com/KellamA/Squatch-Sports-Team-11-Capstone-Project/issues/27</a:t>
            </a:r>
          </a:p>
          <a:p>
            <a:r>
              <a:t>https://github.com/KellamA/Squatch-Sports-Team-11-Capstone-Project/issues/28</a:t>
            </a:r>
          </a:p>
          <a:p>
            <a:r>
              <a:t>https://github.com/KellamA/Squatch-Sports-Team-11-Capstone-Project/issues/29</a:t>
            </a:r>
          </a:p>
          <a:p>
            <a:r>
              <a:t>https://github.com/KellamA/Squatch-Sports-Team-11-Capstone-Project/issues/30</a:t>
            </a:r>
          </a:p>
          <a:p>
            <a:r>
              <a:t>https://github.com/KellamA/Squatch-Sports-Team-11-Capstone-Project/issues/32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Melvin</a:t>
            </a:r>
          </a:p>
          <a:p>
            <a:r>
              <a:t>Target time: 55 seconds</a:t>
            </a:r>
          </a:p>
          <a:p/>
          <a:p>
            <a:r>
              <a:t>The base 1v1 feature keeps a list of events instead of changing scores in several places. Replaying that list computes points, possession and the winner, so undo is just removing the last event. Friends and records are saved locally and a paused match survives closing the app. Demo: add a friend, choose the rules, log a basket, a foul and a steal, undo, and save a short finished match. The diagram is illustrative. Possession-based restrictions on who may log which actions are not implemented yet; that is issue 25.</a:t>
            </a:r>
          </a:p>
          <a:p/>
          <a:p>
            <a:r>
              <a:t>Sources / evidence:</a:t>
            </a:r>
          </a:p>
          <a:p>
            <a:r>
              <a:t>https://github.com/KellamA/Squatch-Sports-Team-11-Capstone-Project/pull/24</a:t>
            </a:r>
          </a:p>
          <a:p>
            <a:r>
              <a:t>https://github.com/KellamA/Squatch-Sports-Team-11-Capstone-Project/issues/28</a:t>
            </a:r>
          </a:p>
          <a:p>
            <a:r>
              <a:t>Squatch Sports Basketball Training WatchOS Companion/OneOnOne/MatchEngine.swift</a:t>
            </a:r>
          </a:p>
          <a:p>
            <a:r>
              <a:t>https://github.com/KellamA/Squatch-Sports-Team-11-Capstone-Project/issues/25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Melvin</a:t>
            </a:r>
          </a:p>
          <a:p>
            <a:r>
              <a:t>Target time: 50 seconds</a:t>
            </a:r>
          </a:p>
          <a:p/>
          <a:p>
            <a:r>
              <a:t>Streaks and goals were Android-first in Sprint 4, while XP and levels were iOS-first. This sprint brings those rules and celebrations to both ecosystems. On the watch, the user has big scoring buttons, a second page for the opponent, Miss, Foul, Turnover, Undo and Save. The phone remains responsible for applying rules and sends the confirmed scoreboard back. The Apple Watch now requests the active game when it opens or reconnects, fixing a waiting-screen problem found in simulator testing. Steals are still phone-only, and HealthKit-driven auto-launch/keep-alive is future work.</a:t>
            </a:r>
          </a:p>
          <a:p/>
          <a:p>
            <a:r>
              <a:t>Sources / evidence:</a:t>
            </a:r>
          </a:p>
          <a:p>
            <a:r>
              <a:t>https://github.com/KellamA/Squatch-Sports-Team-11-Capstone-Project/issues/27</a:t>
            </a:r>
          </a:p>
          <a:p>
            <a:r>
              <a:t>https://github.com/KellamA/Squatch-Sports-Team-11-Capstone-Project/issues/29</a:t>
            </a:r>
          </a:p>
          <a:p>
            <a:r>
              <a:t>https://github.com/KellamA/Squatch-Sports-Team-11-Capstone-Project/issues/36</a:t>
            </a:r>
          </a:p>
          <a:p>
            <a:r>
              <a:t>https://github.com/KellamA/Squatch-Sports-Team-11-Capstone-Project/blob/melvin-sprint5-docs/Sprints/Sprint_5/Sprint_Report/Sprint5_Report.md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Kaleb</a:t>
            </a:r>
          </a:p>
          <a:p>
            <a:r>
              <a:t>Target time: 50 seconds</a:t>
            </a:r>
          </a:p>
          <a:p/>
          <a:p>
            <a:r>
              <a:t>Kaleb built and tested nearby discovery and shared 1v1 between two iPhones using Apple’s MultipeerConnectivity. The same game ID and settings are installed on both phones, but each player has the opposite local side. Plays, undo, finish and cancellation are forwarded without echoing remote actions, and each phone keeps its own paired watch updated. For this revised review, Kaleb’s feature is considered tested and complete based on Kellam’s explicit team confirmation. That confirmation supersedes the feature’s pending-testing wording in the original draft; no new Swift test counts or independent physical-device measurements are being invented. GitHub ticket 31 is still open and is tracked separately for board reconciliation.</a:t>
            </a:r>
          </a:p>
          <a:p/>
          <a:p>
            <a:r>
              <a:t>Sources / evidence:</a:t>
            </a:r>
          </a:p>
          <a:p>
            <a:r>
              <a:t>https://github.com/KellamA/Squatch-Sports-Team-11-Capstone-Project/pull/26</a:t>
            </a:r>
          </a:p>
          <a:p>
            <a:r>
              <a:t>https://github.com/KellamA/Squatch-Sports-Team-11-Capstone-Project/issues/30</a:t>
            </a:r>
          </a:p>
          <a:p>
            <a:r>
              <a:t>https://github.com/KellamA/Squatch-Sports-Team-11-Capstone-Project/issues/31</a:t>
            </a:r>
          </a:p>
          <a:p>
            <a:r>
              <a:t>https://github.com/KellamA/Squatch-Sports-Team-11-Capstone-Project/blob/melvin-sprint5-docs/Sprints/Sprint_5/Sprint_Report/Sprint5_Report.md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95 seconds</a:t>
            </a:r>
          </a:p>
          <a:p/>
          <a:p>
            <a:r>
              <a:t>The Android port includes the match engine, durable repository, friends, match setup, the live court, records, undo, save and pause/resume. Wear OS supports your plays and the opponent’s plays, plus Undo and Save. Commands are saved before sending and removed only after acknowledgement; the phone saves the processed IDs with the match so retries cannot add points twice. Demonstrate Dashboard → 1v1 → Add Friend → Play → Start, then score from the watch, undo a play and save. The screenshots are genuine current emulator captures from a temporary demo game. The Android implementation is merged into GitHub main through PR 38 (merge commit c4b0c76), and issue 32 is closed. This is not a claim that every screen on every watch has been validated.</a:t>
            </a:r>
          </a:p>
          <a:p/>
          <a:p>
            <a:r>
              <a:t>Sources / evidence:</a:t>
            </a:r>
          </a:p>
          <a:p>
            <a:r>
              <a:t>https://github.com/KellamA/Squatch-Sports-Team-11-Capstone-Project/issues/32</a:t>
            </a:r>
          </a:p>
          <a:p>
            <a:r>
              <a:t>android/shared/src/main/java/com/squatchsports/training/shared/MatchEngine.kt</a:t>
            </a:r>
          </a:p>
          <a:p>
            <a:r>
              <a:t>android/shared/src/main/java/com/squatchsports/training/shared/OneOnOneRepository.kt</a:t>
            </a:r>
          </a:p>
          <a:p>
            <a:r>
              <a:t>android/README.md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60 seconds</a:t>
            </a:r>
          </a:p>
          <a:p/>
          <a:p>
            <a:r>
              <a:t>Android cannot use Apple’s MultipeerConnectivity. I implemented Android-to-Android play with Google Nearby Connections and explicit code confirmation on both phones. The connecting phone is the host. Guest phone and watch commands are queued durably and ordered at that host; confirmed snapshots update the other phone and both watches. Tests simulate duplicates, dropped replies, reconnects and process restarts. Demo only what is verified: show the Nearby Players screen and permission explanation, then use physical phones for an actual discovery/connection demo only after testing it. Cross-platform iPhone-to-Android games require an iOS transport change or shared backend. This sprint does not provide that interoperability.</a:t>
            </a:r>
          </a:p>
          <a:p/>
          <a:p>
            <a:r>
              <a:t>Sources / evidence:</a:t>
            </a:r>
          </a:p>
          <a:p>
            <a:r>
              <a:t>android/shared/src/main/java/com/squatchsports/training/shared/NearbyMatchCoordinator.kt</a:t>
            </a:r>
          </a:p>
          <a:p>
            <a:r>
              <a:t>android/app/src/main/java/com/squatchsports/training/nearby/NearbyMatchService.kt</a:t>
            </a:r>
          </a:p>
          <a:p>
            <a:r>
              <a:t>android/README.md#nearby-1v1-two-android-phones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50 seconds</a:t>
            </a:r>
          </a:p>
          <a:p/>
          <a:p>
            <a:r>
              <a:t>The requested Gradle command succeeds for both debug APKs and Android unit tests. A forced rerun avoids relying only on up-to-date tasks. The XML results contain 121 passing JVM tests across shared and app modules with zero failures/errors. The additional emulator runs contain nine phone and four Wear OS UI tests, all passing. The screenshot is an evidence page generated from the captured Gradle output and test XML, not a fabricated terminal screen. Kaleb’s nearby iPhone feature is now team-confirmed tested and complete; the Android verification did not rerun Swift tests or produce new Apple test counts. The Android code is merged in PR 38. Android Nearby radio validation, latency measurements and client distribution remain separate from these automated results.</a:t>
            </a:r>
          </a:p>
          <a:p/>
          <a:p>
            <a:r>
              <a:t>Sources / evidence:</a:t>
            </a:r>
          </a:p>
          <a:p>
            <a:r>
              <a:t>Sprints/Sprint_5/Testing/Android_Verification.md</a:t>
            </a:r>
          </a:p>
          <a:p>
            <a:r>
              <a:t>Sprints/Sprint_5/Testing/Android_Build_Test_Results.txt</a:t>
            </a:r>
          </a:p>
          <a:p>
            <a:r>
              <a:t>Sprints/Sprint_5/Testing/Android_Test_Results.json</a:t>
            </a:r>
          </a:p>
          <a:p>
            <a:r>
              <a:t>https://github.com/KellamA/Squatch-Sports-Team-11-Capstone-Project/blob/melvin-sprint5-docs/Sprints/Sprint_5/Sprint_Report/Sprint5_Report.md</a:t>
            </a:r>
          </a:p>
          <a:p>
            <a:r>
              <a:t>https://github.com/KellamA/Squatch-Sports-Team-11-Capstone-Project/issues/33</a:t>
            </a:r>
          </a:p>
          <a:p>
            <a:r>
              <a:t>https://github.com/KellamA/Squatch-Sports-Team-11-Capstone-Project/issues/34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Melvin</a:t>
            </a:r>
          </a:p>
          <a:p>
            <a:r>
              <a:t>Target time: 35 seconds</a:t>
            </a:r>
          </a:p>
          <a:p/>
          <a:p>
            <a:r>
              <a:t>Melvin owns 18 labeled points across parity, iPhone 1v1 and Apple Watch scoring. Kaleb’s five-point nearby feature is complete, with testing confirmed by Kellam. Kellam’s eight-point Android port is now merged through PR 38, which closed issue 32. These merged/closed statuses have been verified on GitHub. The team confirmation of Kaleb’s testing is distinguished from Android test evidence collected here; no additional Swift test counts are claimed.</a:t>
            </a:r>
          </a:p>
          <a:p/>
          <a:p>
            <a:r>
              <a:t>Sources / evidence:</a:t>
            </a:r>
          </a:p>
          <a:p>
            <a:r>
              <a:t>https://github.com/KellamA/Squatch-Sports-Team-11-Capstone-Project/issues/27</a:t>
            </a:r>
          </a:p>
          <a:p>
            <a:r>
              <a:t>https://github.com/KellamA/Squatch-Sports-Team-11-Capstone-Project/issues/28</a:t>
            </a:r>
          </a:p>
          <a:p>
            <a:r>
              <a:t>https://github.com/KellamA/Squatch-Sports-Team-11-Capstone-Project/issues/29</a:t>
            </a:r>
          </a:p>
          <a:p>
            <a:r>
              <a:t>https://github.com/KellamA/Squatch-Sports-Team-11-Capstone-Project/issues/30</a:t>
            </a:r>
          </a:p>
          <a:p>
            <a:r>
              <a:t>https://github.com/KellamA/Squatch-Sports-Team-11-Capstone-Project/issues/32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Melvin</a:t>
            </a:r>
          </a:p>
          <a:p>
            <a:r>
              <a:t>Target time: 30 seconds</a:t>
            </a:r>
          </a:p>
          <a:p/>
          <a:p>
            <a:r>
              <a:t>Kaleb’s nearby feature is considered complete based on Kellam’s confirmation. GitHub ticket 31 remains open and was not automatically closed by the Android merge, so the table distinguishes team completion from its current ticket state. Remaining team work includes Android hardware evidence, user feedback, client deployment and the video package. Sprint 6 includes possession restrictions, Apple Watch workout keep-alive and duplicate-file cleanup. Apple Watch issue 19 and platform-specific polish remain tracked.</a:t>
            </a:r>
          </a:p>
          <a:p/>
          <a:p>
            <a:r>
              <a:t>Sources / evidence:</a:t>
            </a:r>
          </a:p>
          <a:p>
            <a:r>
              <a:t>https://github.com/KellamA/Squatch-Sports-Team-11-Capstone-Project/issues/31</a:t>
            </a:r>
          </a:p>
          <a:p>
            <a:r>
              <a:t>https://github.com/KellamA/Squatch-Sports-Team-11-Capstone-Project/issues/33</a:t>
            </a:r>
          </a:p>
          <a:p>
            <a:r>
              <a:t>https://github.com/KellamA/Squatch-Sports-Team-11-Capstone-Project/issues/34</a:t>
            </a:r>
          </a:p>
          <a:p>
            <a:r>
              <a:t>https://github.com/KellamA/Squatch-Sports-Team-11-Capstone-Project/issues/35</a:t>
            </a:r>
          </a:p>
          <a:p>
            <a:r>
              <a:t>https://github.com/KellamA/Squatch-Sports-Team-11-Capstone-Project/issues/25</a:t>
            </a:r>
          </a:p>
          <a:p>
            <a:r>
              <a:t>https://github.com/KellamA/Squatch-Sports-Team-11-Capstone-Project/issues/36</a:t>
            </a:r>
          </a:p>
          <a:p>
            <a:r>
              <a:t>https://github.com/KellamA/Squatch-Sports-Team-11-Capstone-Project/issues/37</a:t>
            </a:r>
          </a:p>
          <a:p>
            <a:r>
              <a:t>https://github.com/KellamA/Squatch-Sports-Team-11-Capstone-Project/issues/19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Kaleb</a:t>
            </a:r>
          </a:p>
          <a:p>
            <a:r>
              <a:t>Target time: 35 seconds</a:t>
            </a:r>
          </a:p>
          <a:p/>
          <a:p>
            <a:r>
              <a:t>The September 30 meeting set the goals: gamification parity and a new 1v1 mode, built on the Apple platforms first and then ported to Android. At the October 14 design review, the team emphasized keeping the current court design, prioritizing watch input, and connecting each player’s own phone. Online accounts were left for later. The October 28 meeting was cancelled, so it must not be presented as a completed meeting. The minutes are provided on Melvin’s documentation branch.</a:t>
            </a:r>
          </a:p>
          <a:p/>
          <a:p>
            <a:r>
              <a:t>Sources / evidence:</a:t>
            </a:r>
          </a:p>
          <a:p>
            <a:r>
              <a:t>https://github.com/KellamA/Squatch-Sports-Team-11-Capstone-Project/blob/melvin-sprint5-docs/Sprints/Sprint_5/MoM/MoM_2026-09-30.md</a:t>
            </a:r>
          </a:p>
          <a:p>
            <a:r>
              <a:t>https://github.com/KellamA/Squatch-Sports-Team-11-Capstone-Project/blob/melvin-sprint5-docs/Sprints/Sprint_5/MoM/MoM_2026-10-14.md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Kaleb</a:t>
            </a:r>
          </a:p>
          <a:p>
            <a:r>
              <a:t>Target time: 25 seconds</a:t>
            </a:r>
          </a:p>
          <a:p/>
          <a:p>
            <a:r>
              <a:t>Melvin prepared the report and meeting minutes on commit 86171e9 of melvin-sprint5-docs. This revised presentation updates that draft with the Android merge in PR 38 and Kellam’s confirmation that Kaleb’s nearby feature is tested and complete. Reconcile any older pending/local-only wording in the report with these statuses. The recording plan and per-slide notes are ready; the actual video URL and player-feedback evidence still depend on the team producing them. This presentation has not been recorded, uploaded as a video or submitted.</a:t>
            </a:r>
          </a:p>
          <a:p/>
          <a:p>
            <a:r>
              <a:t>Sources / evidence:</a:t>
            </a:r>
          </a:p>
          <a:p>
            <a:r>
              <a:t>https://github.com/KellamA/Squatch-Sports-Team-11-Capstone-Project/blob/melvin-sprint5-docs/Sprints/Sprint_5/Sprint_Report/Sprint5_Report.md</a:t>
            </a:r>
          </a:p>
          <a:p>
            <a:r>
              <a:t>https://github.com/KellamA/Squatch-Sports-Team-11-Capstone-Project/tree/melvin-sprint5-docs/Sprints/Sprint_5/MoM</a:t>
            </a:r>
          </a:p>
          <a:p>
            <a:r>
              <a:t>Sprints/Sprint_5/PPT/README.md</a:t>
            </a:r>
          </a:p>
          <a:p>
            <a:r>
              <a:t>https://github.com/KellamA/Squatch-Sports-Team-11-Capstone-Project/issues/35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Melvin</a:t>
            </a:r>
          </a:p>
          <a:p>
            <a:r>
              <a:t>Target time: 40 seconds</a:t>
            </a:r>
          </a:p>
          <a:p/>
          <a:p>
            <a:r>
              <a:t>AI coding tools helped port features, draft automated tests, diagnose SDK/compiler errors and create this presentation/evidence package. The team chose the rules, design and acceptance criteria. Automated Android checks and paired-emulator smoke provide evidence for the port; they do not prove Android physical radio behavior. Kaleb’s iPhone testing is reported as complete based on Kellam’s team confirmation, rather than being mislabeled as a new assistant-run Swift test session. The team remains accountable for final content, hardware acceptance and release approval.</a:t>
            </a:r>
          </a:p>
          <a:p/>
          <a:p>
            <a:r>
              <a:t>Sources / evidence:</a:t>
            </a:r>
          </a:p>
          <a:p>
            <a:r>
              <a:t>https://github.com/KellamA/Squatch-Sports-Team-11-Capstone-Project/blob/melvin-sprint5-docs/Sprints/Sprint_5/Sprint_Report/Sprint5_Report.md</a:t>
            </a:r>
          </a:p>
          <a:p>
            <a:r>
              <a:t>Sprints/Sprint_5/Testing/Android_Verification.md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Team</a:t>
            </a:r>
          </a:p>
          <a:p>
            <a:r>
              <a:t>Target time: 45 seconds</a:t>
            </a:r>
          </a:p>
          <a:p/>
          <a:p>
            <a:r>
              <a:t>The main achievement is a complete path from training and gamification into 1v1 competition on phones and watches. Android’s nearby coordinator handles duplicate commands, out-of-order snapshots, reconnects and process restarts. We also encountered an SDK release compiled with newer Kotlin metadata, so the Android project pins a compatible Nearby version instead of bypassing compiler checks. Round watches need careful layout testing; the match controls use paging and scrolling, but this is not a claim that every screen has been polished on every device. Kaleb’s nearby feature is team-confirmed complete. Android physical Nearby testing, client deployment and collected user feedback remain the unfinished validation tasks.</a:t>
            </a:r>
          </a:p>
          <a:p/>
          <a:p>
            <a:r>
              <a:t>Sources / evidence:</a:t>
            </a:r>
          </a:p>
          <a:p>
            <a:r>
              <a:t>https://github.com/KellamA/Squatch-Sports-Team-11-Capstone-Project/blob/melvin-sprint5-docs/Sprints/Sprint_5/Sprint_Report/Sprint5_Report.md</a:t>
            </a:r>
          </a:p>
          <a:p>
            <a:r>
              <a:t>android/gradle/libs.versions.toml</a:t>
            </a:r>
          </a:p>
          <a:p>
            <a:r>
              <a:t>android/README.md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40 seconds</a:t>
            </a:r>
          </a:p>
          <a:p/>
          <a:p>
            <a:r>
              <a:t>The Android port is already merged and issue 32 is closed; Kaleb’s nearby feature is considered tested and complete as confirmed by Kellam. Before submission, finalize the report wording, record the demo and add the real unlisted URL. Next, validate Android Nearby on physical phones/watches, collect latency and user feedback, and prepare client distribution. Sprint 6 focuses on possession restrictions, Apple Watch workout keep-alive, cleanup, regression and handoff. Android-to-iPhone interoperability is separate future work.</a:t>
            </a:r>
          </a:p>
          <a:p/>
          <a:p>
            <a:r>
              <a:t>Sources / evidence:</a:t>
            </a:r>
          </a:p>
          <a:p>
            <a:r>
              <a:t>https://github.com/KellamA/Squatch-Sports-Team-11-Capstone-Project/issues/32</a:t>
            </a:r>
          </a:p>
          <a:p>
            <a:r>
              <a:t>https://github.com/KellamA/Squatch-Sports-Team-11-Capstone-Project/issues/31</a:t>
            </a:r>
          </a:p>
          <a:p>
            <a:r>
              <a:t>https://github.com/KellamA/Squatch-Sports-Team-11-Capstone-Project/issues/33</a:t>
            </a:r>
          </a:p>
          <a:p>
            <a:r>
              <a:t>https://github.com/KellamA/Squatch-Sports-Team-11-Capstone-Project/issues/34</a:t>
            </a:r>
          </a:p>
          <a:p>
            <a:r>
              <a:t>https://github.com/KellamA/Squatch-Sports-Team-11-Capstone-Project/issues/25</a:t>
            </a:r>
          </a:p>
          <a:p>
            <a:r>
              <a:t>https://github.com/KellamA/Squatch-Sports-Team-11-Capstone-Project/issues/36</a:t>
            </a:r>
          </a:p>
          <a:p>
            <a:r>
              <a:t>https://github.com/KellamA/Squatch-Sports-Team-11-Capstone-Project/issues/37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time: 20 seconds</a:t>
            </a:r>
          </a:p>
          <a:p/>
          <a:p>
            <a:r>
              <a:t>To recap: Sprint 5 aligns major training and gamification features, adds 1v1 on phones and watches, and implements nearby games separately for Apple and Android. The Android port is merged in PR 38 and its automated checks pass. Kaleb’s nearby feature is team-confirmed tested and complete. Android physical Nearby acceptance and client rollout remain open. Thank you to Mike and Preston at Squatch Sports and to everyone reviewing the project. We welcome questions and feedback.</a:t>
            </a:r>
          </a:p>
          <a:p/>
          <a:p>
            <a:r>
              <a:t>Sources / evidence:</a:t>
            </a:r>
          </a:p>
          <a:p>
            <a:r>
              <a:t>https://github.com/KellamA/Squatch-Sports-Team-11-Capstone-Project/blob/melvin-sprint5-docs/Sprints/Sprint_5/Sprint_Report/Sprint5_Report.md</a:t>
            </a:r>
          </a:p>
          <a:p>
            <a:r>
              <a:t>https://github.com/KellamA/Squatch-Sports-Team-11-Capstone-Project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91D"/>
        </a:solidFill>
        <a:effectLst/>
      </p:bgPr>
    </p:bg>
    <p:spTree>
      <p:nvGrpSpPr>
        <p:cNvPr id="1" name=""/>
        <p:cNvGrpSpPr/>
        <p:nvPr/>
      </p:nvGrpSpPr>
      <p:grpSpPr/>
      <p:sp>
        <p:nvSpPr>
          <p:cNvPr id="2" name="Rounded Rectangle 1"/>
          <p:cNvSpPr/>
          <p:nvPr/>
        </p:nvSpPr>
        <p:spPr>
          <a:xfrm>
            <a:off x="731520" y="822960"/>
            <a:ext cx="6537960" cy="109728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quatch_sports_logo.png"/>
          <p:cNvPicPr>
            <a:picLocks noChangeAspect="1"/>
          </p:cNvPicPr>
          <p:nvPr/>
        </p:nvPicPr>
        <p:blipFill>
          <a:blip r:embed="rId2"/>
          <a:stretch>
            <a:fillRect/>
          </a:stretch>
        </p:blipFill>
        <p:spPr>
          <a:xfrm>
            <a:off x="1557072" y="960120"/>
            <a:ext cx="4886855" cy="822960"/>
          </a:xfrm>
          <a:prstGeom prst="rect">
            <a:avLst/>
          </a:prstGeom>
        </p:spPr>
      </p:pic>
      <p:sp>
        <p:nvSpPr>
          <p:cNvPr id="4" name="TextBox 3"/>
          <p:cNvSpPr txBox="1"/>
          <p:nvPr/>
        </p:nvSpPr>
        <p:spPr>
          <a:xfrm>
            <a:off x="731520" y="2212848"/>
            <a:ext cx="6858000" cy="320040"/>
          </a:xfrm>
          <a:prstGeom prst="rect">
            <a:avLst/>
          </a:prstGeom>
          <a:noFill/>
        </p:spPr>
        <p:txBody>
          <a:bodyPr wrap="square" lIns="0" rIns="0" tIns="0" bIns="0">
            <a:noAutofit/>
          </a:bodyPr>
          <a:lstStyle/>
          <a:p>
            <a:pPr>
              <a:lnSpc>
                <a:spcPct val="112000"/>
              </a:lnSpc>
              <a:spcBef>
                <a:spcPts val="0"/>
              </a:spcBef>
              <a:spcAft>
                <a:spcPts val="600"/>
              </a:spcAft>
            </a:pPr>
            <a:r>
              <a:rPr sz="1400" b="1">
                <a:solidFill>
                  <a:srgbClr val="FF8A00"/>
                </a:solidFill>
                <a:latin typeface="Arial"/>
              </a:rPr>
              <a:t>CPTS 423 · TEAM 11</a:t>
            </a:r>
          </a:p>
        </p:txBody>
      </p:sp>
      <p:sp>
        <p:nvSpPr>
          <p:cNvPr id="5" name="TextBox 4"/>
          <p:cNvSpPr txBox="1"/>
          <p:nvPr/>
        </p:nvSpPr>
        <p:spPr>
          <a:xfrm>
            <a:off x="731520" y="2697480"/>
            <a:ext cx="6949440" cy="841248"/>
          </a:xfrm>
          <a:prstGeom prst="rect">
            <a:avLst/>
          </a:prstGeom>
          <a:noFill/>
        </p:spPr>
        <p:txBody>
          <a:bodyPr wrap="square" lIns="0" rIns="0" tIns="0" bIns="0">
            <a:noAutofit/>
          </a:bodyPr>
          <a:lstStyle/>
          <a:p>
            <a:pPr>
              <a:lnSpc>
                <a:spcPct val="112000"/>
              </a:lnSpc>
              <a:spcBef>
                <a:spcPts val="0"/>
              </a:spcBef>
              <a:spcAft>
                <a:spcPts val="600"/>
              </a:spcAft>
            </a:pPr>
            <a:r>
              <a:rPr sz="5400" b="1">
                <a:solidFill>
                  <a:srgbClr val="FFFFFF"/>
                </a:solidFill>
                <a:latin typeface="Arial"/>
              </a:rPr>
              <a:t>Sprint 5 Review</a:t>
            </a:r>
          </a:p>
        </p:txBody>
      </p:sp>
      <p:sp>
        <p:nvSpPr>
          <p:cNvPr id="6" name="TextBox 5"/>
          <p:cNvSpPr txBox="1"/>
          <p:nvPr/>
        </p:nvSpPr>
        <p:spPr>
          <a:xfrm>
            <a:off x="731520" y="3685032"/>
            <a:ext cx="6720840" cy="914400"/>
          </a:xfrm>
          <a:prstGeom prst="rect">
            <a:avLst/>
          </a:prstGeom>
          <a:noFill/>
        </p:spPr>
        <p:txBody>
          <a:bodyPr wrap="square" lIns="0" rIns="0" tIns="0" bIns="0">
            <a:noAutofit/>
          </a:bodyPr>
          <a:lstStyle/>
          <a:p>
            <a:pPr>
              <a:lnSpc>
                <a:spcPct val="112000"/>
              </a:lnSpc>
              <a:spcBef>
                <a:spcPts val="0"/>
              </a:spcBef>
              <a:spcAft>
                <a:spcPts val="600"/>
              </a:spcAft>
            </a:pPr>
            <a:r>
              <a:rPr sz="2400" b="0">
                <a:solidFill>
                  <a:srgbClr val="C9CED6"/>
                </a:solidFill>
                <a:latin typeface="Arial"/>
              </a:rPr>
              <a:t>1v1 matches, nearby play</a:t>
            </a:r>
          </a:p>
          <a:p>
            <a:pPr>
              <a:lnSpc>
                <a:spcPct val="112000"/>
              </a:lnSpc>
              <a:spcBef>
                <a:spcPts val="0"/>
              </a:spcBef>
              <a:spcAft>
                <a:spcPts val="600"/>
              </a:spcAft>
            </a:pPr>
            <a:r>
              <a:rPr sz="2400" b="0">
                <a:solidFill>
                  <a:srgbClr val="C9CED6"/>
                </a:solidFill>
                <a:latin typeface="Arial"/>
              </a:rPr>
              <a:t>and platform feature alignment</a:t>
            </a:r>
          </a:p>
        </p:txBody>
      </p:sp>
      <p:sp>
        <p:nvSpPr>
          <p:cNvPr id="7" name="TextBox 6"/>
          <p:cNvSpPr txBox="1"/>
          <p:nvPr/>
        </p:nvSpPr>
        <p:spPr>
          <a:xfrm>
            <a:off x="731520" y="5029200"/>
            <a:ext cx="6995160" cy="365760"/>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FFFFFF"/>
                </a:solidFill>
                <a:latin typeface="Arial"/>
              </a:rPr>
              <a:t>Kellam Adams  ·  Melvin Sanare  ·  Kaleb Kebede</a:t>
            </a:r>
          </a:p>
        </p:txBody>
      </p:sp>
      <p:sp>
        <p:nvSpPr>
          <p:cNvPr id="8" name="TextBox 7"/>
          <p:cNvSpPr txBox="1"/>
          <p:nvPr/>
        </p:nvSpPr>
        <p:spPr>
          <a:xfrm>
            <a:off x="731520" y="5522976"/>
            <a:ext cx="6675120" cy="320040"/>
          </a:xfrm>
          <a:prstGeom prst="rect">
            <a:avLst/>
          </a:prstGeom>
          <a:noFill/>
        </p:spPr>
        <p:txBody>
          <a:bodyPr wrap="square" lIns="0" rIns="0" tIns="0" bIns="0">
            <a:noAutofit/>
          </a:bodyPr>
          <a:lstStyle/>
          <a:p>
            <a:pPr>
              <a:lnSpc>
                <a:spcPct val="112000"/>
              </a:lnSpc>
              <a:spcBef>
                <a:spcPts val="0"/>
              </a:spcBef>
              <a:spcAft>
                <a:spcPts val="600"/>
              </a:spcAft>
            </a:pPr>
            <a:r>
              <a:rPr sz="1400" b="0">
                <a:solidFill>
                  <a:srgbClr val="9AA3AF"/>
                </a:solidFill>
                <a:latin typeface="Arial"/>
              </a:rPr>
              <a:t>Sprint 5: October 1–31, 2026</a:t>
            </a:r>
          </a:p>
        </p:txBody>
      </p:sp>
      <p:sp>
        <p:nvSpPr>
          <p:cNvPr id="9" name="Rounded Rectangle 8"/>
          <p:cNvSpPr/>
          <p:nvPr/>
        </p:nvSpPr>
        <p:spPr>
          <a:xfrm>
            <a:off x="8092440" y="1554480"/>
            <a:ext cx="3474720" cy="34747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quatch_app_icon.png"/>
          <p:cNvPicPr>
            <a:picLocks noChangeAspect="1"/>
          </p:cNvPicPr>
          <p:nvPr/>
        </p:nvPicPr>
        <p:blipFill>
          <a:blip r:embed="rId3"/>
          <a:stretch>
            <a:fillRect/>
          </a:stretch>
        </p:blipFill>
        <p:spPr>
          <a:xfrm>
            <a:off x="8275320" y="1737360"/>
            <a:ext cx="3108960" cy="3108960"/>
          </a:xfrm>
          <a:prstGeom prst="rect">
            <a:avLst/>
          </a:prstGeom>
        </p:spPr>
      </p:pic>
      <p:sp>
        <p:nvSpPr>
          <p:cNvPr id="11" name="TextBox 10"/>
          <p:cNvSpPr txBox="1"/>
          <p:nvPr/>
        </p:nvSpPr>
        <p:spPr>
          <a:xfrm>
            <a:off x="7882127" y="5349240"/>
            <a:ext cx="3822191" cy="502920"/>
          </a:xfrm>
          <a:prstGeom prst="rect">
            <a:avLst/>
          </a:prstGeom>
          <a:noFill/>
        </p:spPr>
        <p:txBody>
          <a:bodyPr wrap="square" lIns="0" rIns="0" tIns="0" bIns="0">
            <a:noAutofit/>
          </a:bodyPr>
          <a:lstStyle/>
          <a:p>
            <a:pPr algn="ctr">
              <a:lnSpc>
                <a:spcPct val="112000"/>
              </a:lnSpc>
              <a:spcBef>
                <a:spcPts val="0"/>
              </a:spcBef>
              <a:spcAft>
                <a:spcPts val="600"/>
              </a:spcAft>
            </a:pPr>
            <a:r>
              <a:rPr sz="1300" b="0">
                <a:solidFill>
                  <a:srgbClr val="C9CED6"/>
                </a:solidFill>
                <a:latin typeface="Arial"/>
              </a:rPr>
              <a:t>Phones · Watches · Friendly competition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INTRODUCTION</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Project and team</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02</a:t>
            </a:r>
          </a:p>
        </p:txBody>
      </p:sp>
      <p:sp>
        <p:nvSpPr>
          <p:cNvPr id="6" name="TextBox 5"/>
          <p:cNvSpPr txBox="1"/>
          <p:nvPr/>
        </p:nvSpPr>
        <p:spPr>
          <a:xfrm>
            <a:off x="548640" y="1691640"/>
            <a:ext cx="5166360" cy="1600200"/>
          </a:xfrm>
          <a:prstGeom prst="rect">
            <a:avLst/>
          </a:prstGeom>
          <a:noFill/>
        </p:spPr>
        <p:txBody>
          <a:bodyPr wrap="square" lIns="0" rIns="0" tIns="0" bIns="0">
            <a:noAutofit/>
          </a:bodyPr>
          <a:lstStyle/>
          <a:p>
            <a:pPr>
              <a:lnSpc>
                <a:spcPct val="112000"/>
              </a:lnSpc>
              <a:spcBef>
                <a:spcPts val="0"/>
              </a:spcBef>
              <a:spcAft>
                <a:spcPts val="600"/>
              </a:spcAft>
            </a:pPr>
            <a:r>
              <a:rPr sz="2000" b="0">
                <a:solidFill>
                  <a:srgbClr val="1F2328"/>
                </a:solidFill>
                <a:latin typeface="Arial"/>
              </a:rPr>
              <a:t>Pick a basketball drill on the phone. Log makes, misses and swishes from the wrist. Save workouts and stay motivated with streaks, goals and levels.</a:t>
            </a:r>
          </a:p>
        </p:txBody>
      </p:sp>
      <p:sp>
        <p:nvSpPr>
          <p:cNvPr id="7" name="TextBox 6"/>
          <p:cNvSpPr txBox="1"/>
          <p:nvPr/>
        </p:nvSpPr>
        <p:spPr>
          <a:xfrm>
            <a:off x="548640" y="3703320"/>
            <a:ext cx="5166360" cy="1188720"/>
          </a:xfrm>
          <a:prstGeom prst="rect">
            <a:avLst/>
          </a:prstGeom>
          <a:noFill/>
        </p:spPr>
        <p:txBody>
          <a:bodyPr wrap="square" lIns="0" rIns="0" tIns="0" bIns="0">
            <a:noAutofit/>
          </a:bodyPr>
          <a:lstStyle/>
          <a:p>
            <a:pPr>
              <a:lnSpc>
                <a:spcPct val="112000"/>
              </a:lnSpc>
              <a:spcBef>
                <a:spcPts val="0"/>
              </a:spcBef>
              <a:spcAft>
                <a:spcPts val="600"/>
              </a:spcAft>
            </a:pPr>
            <a:r>
              <a:rPr sz="2000" b="0">
                <a:solidFill>
                  <a:srgbClr val="1F2328"/>
                </a:solidFill>
                <a:latin typeface="Arial"/>
              </a:rPr>
              <a:t>Sprint 5 expands training into friendly competition: keep one shared match in sync across players and their watches.</a:t>
            </a:r>
          </a:p>
        </p:txBody>
      </p:sp>
      <p:sp>
        <p:nvSpPr>
          <p:cNvPr id="8" name="Rounded Rectangle 7"/>
          <p:cNvSpPr/>
          <p:nvPr/>
        </p:nvSpPr>
        <p:spPr>
          <a:xfrm>
            <a:off x="548640" y="5166360"/>
            <a:ext cx="5166360" cy="777240"/>
          </a:xfrm>
          <a:prstGeom prst="roundRect">
            <a:avLst>
              <a:gd name="adj" fmla="val 10000"/>
            </a:avLst>
          </a:prstGeom>
          <a:solidFill>
            <a:srgbClr val="161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404104"/>
            <a:ext cx="4709160" cy="347472"/>
          </a:xfrm>
          <a:prstGeom prst="rect">
            <a:avLst/>
          </a:prstGeom>
          <a:noFill/>
        </p:spPr>
        <p:txBody>
          <a:bodyPr wrap="square" lIns="0" rIns="0" tIns="0" bIns="0">
            <a:noAutofit/>
          </a:bodyPr>
          <a:lstStyle/>
          <a:p>
            <a:pPr>
              <a:lnSpc>
                <a:spcPct val="112000"/>
              </a:lnSpc>
              <a:spcBef>
                <a:spcPts val="0"/>
              </a:spcBef>
              <a:spcAft>
                <a:spcPts val="600"/>
              </a:spcAft>
            </a:pPr>
            <a:r>
              <a:rPr sz="1800" b="1">
                <a:solidFill>
                  <a:srgbClr val="FFFFFF"/>
                </a:solidFill>
                <a:latin typeface="Arial"/>
              </a:rPr>
              <a:t>Client goal: “hide the broccoli.”</a:t>
            </a:r>
          </a:p>
        </p:txBody>
      </p:sp>
      <p:sp>
        <p:nvSpPr>
          <p:cNvPr id="10" name="Rounded Rectangle 9"/>
          <p:cNvSpPr/>
          <p:nvPr/>
        </p:nvSpPr>
        <p:spPr>
          <a:xfrm>
            <a:off x="6126480" y="1627632"/>
            <a:ext cx="5486400" cy="129844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792224"/>
            <a:ext cx="4983480" cy="347472"/>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1F2328"/>
                </a:solidFill>
                <a:latin typeface="Arial"/>
              </a:rPr>
              <a:t>Kellam Adams</a:t>
            </a:r>
          </a:p>
        </p:txBody>
      </p:sp>
      <p:sp>
        <p:nvSpPr>
          <p:cNvPr id="12" name="TextBox 11"/>
          <p:cNvSpPr txBox="1"/>
          <p:nvPr/>
        </p:nvSpPr>
        <p:spPr>
          <a:xfrm>
            <a:off x="6382512" y="2231136"/>
            <a:ext cx="4983480" cy="54864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Android/Wear OS 1v1 + nearby ports; test evidence and presentation</a:t>
            </a:r>
          </a:p>
        </p:txBody>
      </p:sp>
      <p:sp>
        <p:nvSpPr>
          <p:cNvPr id="13" name="Rounded Rectangle 12"/>
          <p:cNvSpPr/>
          <p:nvPr/>
        </p:nvSpPr>
        <p:spPr>
          <a:xfrm>
            <a:off x="6126480" y="3127248"/>
            <a:ext cx="5486400" cy="129844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3291840"/>
            <a:ext cx="4983480" cy="347472"/>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1F2328"/>
                </a:solidFill>
                <a:latin typeface="Arial"/>
              </a:rPr>
              <a:t>Melvin Sanare</a:t>
            </a:r>
          </a:p>
        </p:txBody>
      </p:sp>
      <p:sp>
        <p:nvSpPr>
          <p:cNvPr id="15" name="TextBox 14"/>
          <p:cNvSpPr txBox="1"/>
          <p:nvPr/>
        </p:nvSpPr>
        <p:spPr>
          <a:xfrm>
            <a:off x="6382512" y="3730752"/>
            <a:ext cx="4983480" cy="54864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Gamification parity; iPhone/Apple Watch 1v1; tests and documentation</a:t>
            </a:r>
          </a:p>
        </p:txBody>
      </p:sp>
      <p:sp>
        <p:nvSpPr>
          <p:cNvPr id="16" name="Rounded Rectangle 15"/>
          <p:cNvSpPr/>
          <p:nvPr/>
        </p:nvSpPr>
        <p:spPr>
          <a:xfrm>
            <a:off x="6126480" y="4626864"/>
            <a:ext cx="5486400" cy="129844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4791455"/>
            <a:ext cx="4983480" cy="347472"/>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1F2328"/>
                </a:solidFill>
                <a:latin typeface="Arial"/>
              </a:rPr>
              <a:t>Kaleb Kebede</a:t>
            </a:r>
          </a:p>
        </p:txBody>
      </p:sp>
      <p:sp>
        <p:nvSpPr>
          <p:cNvPr id="18" name="TextBox 17"/>
          <p:cNvSpPr txBox="1"/>
          <p:nvPr/>
        </p:nvSpPr>
        <p:spPr>
          <a:xfrm>
            <a:off x="6382512" y="5230368"/>
            <a:ext cx="4983480" cy="54864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Nearby iPhone-to-iPhone play; shared match IDs and remote events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SPRINT OBJECTIVES</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Align platforms, then add head-to-head play</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03</a:t>
            </a:r>
          </a:p>
        </p:txBody>
      </p:sp>
      <p:sp>
        <p:nvSpPr>
          <p:cNvPr id="6" name="Rounded Rectangle 5"/>
          <p:cNvSpPr/>
          <p:nvPr/>
        </p:nvSpPr>
        <p:spPr>
          <a:xfrm>
            <a:off x="548640" y="1645920"/>
            <a:ext cx="5394960" cy="196596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65376"/>
            <a:ext cx="822960" cy="548640"/>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FF8A00"/>
                </a:solidFill>
                <a:latin typeface="Arial"/>
              </a:rPr>
              <a:t>01</a:t>
            </a:r>
          </a:p>
        </p:txBody>
      </p:sp>
      <p:sp>
        <p:nvSpPr>
          <p:cNvPr id="8" name="TextBox 7"/>
          <p:cNvSpPr txBox="1"/>
          <p:nvPr/>
        </p:nvSpPr>
        <p:spPr>
          <a:xfrm>
            <a:off x="1783080" y="1847088"/>
            <a:ext cx="3858768" cy="448056"/>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1F2328"/>
                </a:solidFill>
                <a:latin typeface="Arial"/>
              </a:rPr>
              <a:t>Gamification parity</a:t>
            </a:r>
          </a:p>
        </p:txBody>
      </p:sp>
      <p:sp>
        <p:nvSpPr>
          <p:cNvPr id="9" name="TextBox 8"/>
          <p:cNvSpPr txBox="1"/>
          <p:nvPr/>
        </p:nvSpPr>
        <p:spPr>
          <a:xfrm>
            <a:off x="1783080" y="2386584"/>
            <a:ext cx="3858768" cy="59436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Streaks, goals, celebrations, XP and levels on both ecosystems.</a:t>
            </a:r>
          </a:p>
        </p:txBody>
      </p:sp>
      <p:sp>
        <p:nvSpPr>
          <p:cNvPr id="10" name="TextBox 9"/>
          <p:cNvSpPr txBox="1"/>
          <p:nvPr/>
        </p:nvSpPr>
        <p:spPr>
          <a:xfrm>
            <a:off x="804672" y="3145536"/>
            <a:ext cx="2560320" cy="274320"/>
          </a:xfrm>
          <a:prstGeom prst="rect">
            <a:avLst/>
          </a:prstGeom>
          <a:noFill/>
        </p:spPr>
        <p:txBody>
          <a:bodyPr wrap="square" lIns="0" rIns="0" tIns="0" bIns="0">
            <a:noAutofit/>
          </a:bodyPr>
          <a:lstStyle/>
          <a:p>
            <a:pPr>
              <a:lnSpc>
                <a:spcPct val="112000"/>
              </a:lnSpc>
              <a:spcBef>
                <a:spcPts val="0"/>
              </a:spcBef>
              <a:spcAft>
                <a:spcPts val="600"/>
              </a:spcAft>
            </a:pPr>
            <a:r>
              <a:rPr sz="1300" b="1">
                <a:solidFill>
                  <a:srgbClr val="1F2328"/>
                </a:solidFill>
                <a:latin typeface="Arial"/>
              </a:rPr>
              <a:t>Melvin</a:t>
            </a:r>
          </a:p>
        </p:txBody>
      </p:sp>
      <p:sp>
        <p:nvSpPr>
          <p:cNvPr id="11" name="Rounded Rectangle 10"/>
          <p:cNvSpPr/>
          <p:nvPr/>
        </p:nvSpPr>
        <p:spPr>
          <a:xfrm>
            <a:off x="3538728" y="3118104"/>
            <a:ext cx="2121408" cy="338328"/>
          </a:xfrm>
          <a:prstGeom prst="roundRect">
            <a:avLst>
              <a:gd name="adj" fmla="val 10000"/>
            </a:avLst>
          </a:prstGeom>
          <a:solidFill>
            <a:srgbClr val="2F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3182112"/>
            <a:ext cx="2011679" cy="219456"/>
          </a:xfrm>
          <a:prstGeom prst="rect">
            <a:avLst/>
          </a:prstGeom>
          <a:noFill/>
        </p:spPr>
        <p:txBody>
          <a:bodyPr wrap="square" lIns="0" rIns="0" tIns="0" bIns="0">
            <a:noAutofit/>
          </a:bodyPr>
          <a:lstStyle/>
          <a:p>
            <a:pPr algn="ctr">
              <a:lnSpc>
                <a:spcPct val="112000"/>
              </a:lnSpc>
              <a:spcBef>
                <a:spcPts val="0"/>
              </a:spcBef>
              <a:spcAft>
                <a:spcPts val="600"/>
              </a:spcAft>
            </a:pPr>
            <a:r>
              <a:rPr sz="1050" b="1">
                <a:solidFill>
                  <a:srgbClr val="FFFFFF"/>
                </a:solidFill>
                <a:latin typeface="Arial"/>
              </a:rPr>
              <a:t>MERGED</a:t>
            </a:r>
          </a:p>
        </p:txBody>
      </p:sp>
      <p:sp>
        <p:nvSpPr>
          <p:cNvPr id="13" name="Rounded Rectangle 12"/>
          <p:cNvSpPr/>
          <p:nvPr/>
        </p:nvSpPr>
        <p:spPr>
          <a:xfrm>
            <a:off x="6217920" y="1645920"/>
            <a:ext cx="5394960" cy="196596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65376"/>
            <a:ext cx="822960" cy="548640"/>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FF8A00"/>
                </a:solidFill>
                <a:latin typeface="Arial"/>
              </a:rPr>
              <a:t>02</a:t>
            </a:r>
          </a:p>
        </p:txBody>
      </p:sp>
      <p:sp>
        <p:nvSpPr>
          <p:cNvPr id="15" name="TextBox 14"/>
          <p:cNvSpPr txBox="1"/>
          <p:nvPr/>
        </p:nvSpPr>
        <p:spPr>
          <a:xfrm>
            <a:off x="7452360" y="1847088"/>
            <a:ext cx="3858768" cy="448056"/>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1F2328"/>
                </a:solidFill>
                <a:latin typeface="Arial"/>
              </a:rPr>
              <a:t>iPhone + Apple Watch 1v1</a:t>
            </a:r>
          </a:p>
        </p:txBody>
      </p:sp>
      <p:sp>
        <p:nvSpPr>
          <p:cNvPr id="16" name="TextBox 15"/>
          <p:cNvSpPr txBox="1"/>
          <p:nvPr/>
        </p:nvSpPr>
        <p:spPr>
          <a:xfrm>
            <a:off x="7452360" y="2386584"/>
            <a:ext cx="3858768" cy="59436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Friends, street rules, scorekeeping, undo and saved records.</a:t>
            </a:r>
          </a:p>
        </p:txBody>
      </p:sp>
      <p:sp>
        <p:nvSpPr>
          <p:cNvPr id="17" name="TextBox 16"/>
          <p:cNvSpPr txBox="1"/>
          <p:nvPr/>
        </p:nvSpPr>
        <p:spPr>
          <a:xfrm>
            <a:off x="6473952" y="3145536"/>
            <a:ext cx="2560320" cy="274320"/>
          </a:xfrm>
          <a:prstGeom prst="rect">
            <a:avLst/>
          </a:prstGeom>
          <a:noFill/>
        </p:spPr>
        <p:txBody>
          <a:bodyPr wrap="square" lIns="0" rIns="0" tIns="0" bIns="0">
            <a:noAutofit/>
          </a:bodyPr>
          <a:lstStyle/>
          <a:p>
            <a:pPr>
              <a:lnSpc>
                <a:spcPct val="112000"/>
              </a:lnSpc>
              <a:spcBef>
                <a:spcPts val="0"/>
              </a:spcBef>
              <a:spcAft>
                <a:spcPts val="600"/>
              </a:spcAft>
            </a:pPr>
            <a:r>
              <a:rPr sz="1300" b="1">
                <a:solidFill>
                  <a:srgbClr val="1F2328"/>
                </a:solidFill>
                <a:latin typeface="Arial"/>
              </a:rPr>
              <a:t>Melvin</a:t>
            </a:r>
          </a:p>
        </p:txBody>
      </p:sp>
      <p:sp>
        <p:nvSpPr>
          <p:cNvPr id="18" name="Rounded Rectangle 17"/>
          <p:cNvSpPr/>
          <p:nvPr/>
        </p:nvSpPr>
        <p:spPr>
          <a:xfrm>
            <a:off x="9208008" y="3118104"/>
            <a:ext cx="2121408" cy="338328"/>
          </a:xfrm>
          <a:prstGeom prst="roundRect">
            <a:avLst>
              <a:gd name="adj" fmla="val 10000"/>
            </a:avLst>
          </a:prstGeom>
          <a:solidFill>
            <a:srgbClr val="2F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872" y="3182112"/>
            <a:ext cx="2011679" cy="219456"/>
          </a:xfrm>
          <a:prstGeom prst="rect">
            <a:avLst/>
          </a:prstGeom>
          <a:noFill/>
        </p:spPr>
        <p:txBody>
          <a:bodyPr wrap="square" lIns="0" rIns="0" tIns="0" bIns="0">
            <a:noAutofit/>
          </a:bodyPr>
          <a:lstStyle/>
          <a:p>
            <a:pPr algn="ctr">
              <a:lnSpc>
                <a:spcPct val="112000"/>
              </a:lnSpc>
              <a:spcBef>
                <a:spcPts val="0"/>
              </a:spcBef>
              <a:spcAft>
                <a:spcPts val="600"/>
              </a:spcAft>
            </a:pPr>
            <a:r>
              <a:rPr sz="1050" b="1">
                <a:solidFill>
                  <a:srgbClr val="FFFFFF"/>
                </a:solidFill>
                <a:latin typeface="Arial"/>
              </a:rPr>
              <a:t>MERGED</a:t>
            </a:r>
          </a:p>
        </p:txBody>
      </p:sp>
      <p:sp>
        <p:nvSpPr>
          <p:cNvPr id="20" name="Rounded Rectangle 19"/>
          <p:cNvSpPr/>
          <p:nvPr/>
        </p:nvSpPr>
        <p:spPr>
          <a:xfrm>
            <a:off x="548640" y="3858768"/>
            <a:ext cx="5394960" cy="196596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4078224"/>
            <a:ext cx="822960" cy="548640"/>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FF8A00"/>
                </a:solidFill>
                <a:latin typeface="Arial"/>
              </a:rPr>
              <a:t>03</a:t>
            </a:r>
          </a:p>
        </p:txBody>
      </p:sp>
      <p:sp>
        <p:nvSpPr>
          <p:cNvPr id="22" name="TextBox 21"/>
          <p:cNvSpPr txBox="1"/>
          <p:nvPr/>
        </p:nvSpPr>
        <p:spPr>
          <a:xfrm>
            <a:off x="1783080" y="4059935"/>
            <a:ext cx="3858768" cy="448056"/>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1F2328"/>
                </a:solidFill>
                <a:latin typeface="Arial"/>
              </a:rPr>
              <a:t>Nearby iPhone games</a:t>
            </a:r>
          </a:p>
        </p:txBody>
      </p:sp>
      <p:sp>
        <p:nvSpPr>
          <p:cNvPr id="23" name="TextBox 22"/>
          <p:cNvSpPr txBox="1"/>
          <p:nvPr/>
        </p:nvSpPr>
        <p:spPr>
          <a:xfrm>
            <a:off x="1783080" y="4599431"/>
            <a:ext cx="3858768" cy="59436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Two iPhones share a match; plays and paired watches stay in sync.</a:t>
            </a:r>
          </a:p>
        </p:txBody>
      </p:sp>
      <p:sp>
        <p:nvSpPr>
          <p:cNvPr id="24" name="TextBox 23"/>
          <p:cNvSpPr txBox="1"/>
          <p:nvPr/>
        </p:nvSpPr>
        <p:spPr>
          <a:xfrm>
            <a:off x="804672" y="5358383"/>
            <a:ext cx="2560320" cy="274320"/>
          </a:xfrm>
          <a:prstGeom prst="rect">
            <a:avLst/>
          </a:prstGeom>
          <a:noFill/>
        </p:spPr>
        <p:txBody>
          <a:bodyPr wrap="square" lIns="0" rIns="0" tIns="0" bIns="0">
            <a:noAutofit/>
          </a:bodyPr>
          <a:lstStyle/>
          <a:p>
            <a:pPr>
              <a:lnSpc>
                <a:spcPct val="112000"/>
              </a:lnSpc>
              <a:spcBef>
                <a:spcPts val="0"/>
              </a:spcBef>
              <a:spcAft>
                <a:spcPts val="600"/>
              </a:spcAft>
            </a:pPr>
            <a:r>
              <a:rPr sz="1300" b="1">
                <a:solidFill>
                  <a:srgbClr val="1F2328"/>
                </a:solidFill>
                <a:latin typeface="Arial"/>
              </a:rPr>
              <a:t>Kaleb</a:t>
            </a:r>
          </a:p>
        </p:txBody>
      </p:sp>
      <p:sp>
        <p:nvSpPr>
          <p:cNvPr id="25" name="Rounded Rectangle 24"/>
          <p:cNvSpPr/>
          <p:nvPr/>
        </p:nvSpPr>
        <p:spPr>
          <a:xfrm>
            <a:off x="3538728" y="5330952"/>
            <a:ext cx="2121408" cy="338328"/>
          </a:xfrm>
          <a:prstGeom prst="roundRect">
            <a:avLst>
              <a:gd name="adj" fmla="val 10000"/>
            </a:avLst>
          </a:prstGeom>
          <a:solidFill>
            <a:srgbClr val="2F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93592" y="5394960"/>
            <a:ext cx="2011679" cy="219456"/>
          </a:xfrm>
          <a:prstGeom prst="rect">
            <a:avLst/>
          </a:prstGeom>
          <a:noFill/>
        </p:spPr>
        <p:txBody>
          <a:bodyPr wrap="square" lIns="0" rIns="0" tIns="0" bIns="0">
            <a:noAutofit/>
          </a:bodyPr>
          <a:lstStyle/>
          <a:p>
            <a:pPr algn="ctr">
              <a:lnSpc>
                <a:spcPct val="112000"/>
              </a:lnSpc>
              <a:spcBef>
                <a:spcPts val="0"/>
              </a:spcBef>
              <a:spcAft>
                <a:spcPts val="600"/>
              </a:spcAft>
            </a:pPr>
            <a:r>
              <a:rPr sz="1050" b="1">
                <a:solidFill>
                  <a:srgbClr val="FFFFFF"/>
                </a:solidFill>
                <a:latin typeface="Arial"/>
              </a:rPr>
              <a:t>TESTED / DONE</a:t>
            </a:r>
          </a:p>
        </p:txBody>
      </p:sp>
      <p:sp>
        <p:nvSpPr>
          <p:cNvPr id="27" name="Rounded Rectangle 26"/>
          <p:cNvSpPr/>
          <p:nvPr/>
        </p:nvSpPr>
        <p:spPr>
          <a:xfrm>
            <a:off x="6217920" y="3858768"/>
            <a:ext cx="5394960" cy="196596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4078224"/>
            <a:ext cx="822960" cy="548640"/>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FF8A00"/>
                </a:solidFill>
                <a:latin typeface="Arial"/>
              </a:rPr>
              <a:t>04</a:t>
            </a:r>
          </a:p>
        </p:txBody>
      </p:sp>
      <p:sp>
        <p:nvSpPr>
          <p:cNvPr id="29" name="TextBox 28"/>
          <p:cNvSpPr txBox="1"/>
          <p:nvPr/>
        </p:nvSpPr>
        <p:spPr>
          <a:xfrm>
            <a:off x="7452360" y="4059935"/>
            <a:ext cx="3858768" cy="448056"/>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1F2328"/>
                </a:solidFill>
                <a:latin typeface="Arial"/>
              </a:rPr>
              <a:t>Android / Wear OS 1v1</a:t>
            </a:r>
          </a:p>
        </p:txBody>
      </p:sp>
      <p:sp>
        <p:nvSpPr>
          <p:cNvPr id="30" name="TextBox 29"/>
          <p:cNvSpPr txBox="1"/>
          <p:nvPr/>
        </p:nvSpPr>
        <p:spPr>
          <a:xfrm>
            <a:off x="7452360" y="4599431"/>
            <a:ext cx="3858768" cy="59436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Kotlin rules/store, phone screens, watch controls and tests.</a:t>
            </a:r>
          </a:p>
        </p:txBody>
      </p:sp>
      <p:sp>
        <p:nvSpPr>
          <p:cNvPr id="31" name="TextBox 30"/>
          <p:cNvSpPr txBox="1"/>
          <p:nvPr/>
        </p:nvSpPr>
        <p:spPr>
          <a:xfrm>
            <a:off x="6473952" y="5358383"/>
            <a:ext cx="2560320" cy="274320"/>
          </a:xfrm>
          <a:prstGeom prst="rect">
            <a:avLst/>
          </a:prstGeom>
          <a:noFill/>
        </p:spPr>
        <p:txBody>
          <a:bodyPr wrap="square" lIns="0" rIns="0" tIns="0" bIns="0">
            <a:noAutofit/>
          </a:bodyPr>
          <a:lstStyle/>
          <a:p>
            <a:pPr>
              <a:lnSpc>
                <a:spcPct val="112000"/>
              </a:lnSpc>
              <a:spcBef>
                <a:spcPts val="0"/>
              </a:spcBef>
              <a:spcAft>
                <a:spcPts val="600"/>
              </a:spcAft>
            </a:pPr>
            <a:r>
              <a:rPr sz="1300" b="1">
                <a:solidFill>
                  <a:srgbClr val="1F2328"/>
                </a:solidFill>
                <a:latin typeface="Arial"/>
              </a:rPr>
              <a:t>Kellam</a:t>
            </a:r>
          </a:p>
        </p:txBody>
      </p:sp>
      <p:sp>
        <p:nvSpPr>
          <p:cNvPr id="32" name="Rounded Rectangle 31"/>
          <p:cNvSpPr/>
          <p:nvPr/>
        </p:nvSpPr>
        <p:spPr>
          <a:xfrm>
            <a:off x="9208008" y="5330952"/>
            <a:ext cx="2121408" cy="338328"/>
          </a:xfrm>
          <a:prstGeom prst="roundRect">
            <a:avLst>
              <a:gd name="adj" fmla="val 10000"/>
            </a:avLst>
          </a:prstGeom>
          <a:solidFill>
            <a:srgbClr val="2F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62872" y="5394960"/>
            <a:ext cx="2011679" cy="219456"/>
          </a:xfrm>
          <a:prstGeom prst="rect">
            <a:avLst/>
          </a:prstGeom>
          <a:noFill/>
        </p:spPr>
        <p:txBody>
          <a:bodyPr wrap="square" lIns="0" rIns="0" tIns="0" bIns="0">
            <a:noAutofit/>
          </a:bodyPr>
          <a:lstStyle/>
          <a:p>
            <a:pPr algn="ctr">
              <a:lnSpc>
                <a:spcPct val="112000"/>
              </a:lnSpc>
              <a:spcBef>
                <a:spcPts val="0"/>
              </a:spcBef>
              <a:spcAft>
                <a:spcPts val="600"/>
              </a:spcAft>
            </a:pPr>
            <a:r>
              <a:rPr sz="1050" b="1">
                <a:solidFill>
                  <a:srgbClr val="FFFFFF"/>
                </a:solidFill>
                <a:latin typeface="Arial"/>
              </a:rPr>
              <a:t>MERGED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FEATURES / DEMO · MELVIN</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1v1 on iPhone: street rules and a shared event log</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04</a:t>
            </a:r>
          </a:p>
        </p:txBody>
      </p:sp>
      <p:sp>
        <p:nvSpPr>
          <p:cNvPr id="6" name="Rectangle 5"/>
          <p:cNvSpPr/>
          <p:nvPr/>
        </p:nvSpPr>
        <p:spPr>
          <a:xfrm>
            <a:off x="548640" y="177393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691640"/>
            <a:ext cx="5312664" cy="932688"/>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Add friends and track overall / head-to-head win–loss records.</a:t>
            </a:r>
          </a:p>
        </p:txBody>
      </p:sp>
      <p:sp>
        <p:nvSpPr>
          <p:cNvPr id="8" name="Rectangle 7"/>
          <p:cNvSpPr/>
          <p:nvPr/>
        </p:nvSpPr>
        <p:spPr>
          <a:xfrm>
            <a:off x="548640" y="277977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697480"/>
            <a:ext cx="5312664" cy="932688"/>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Choose 1s/2s or 2s/3s, target, win by 2 and make-it-take-it.</a:t>
            </a:r>
          </a:p>
        </p:txBody>
      </p:sp>
      <p:sp>
        <p:nvSpPr>
          <p:cNvPr id="10" name="Rectangle 9"/>
          <p:cNvSpPr/>
          <p:nvPr/>
        </p:nvSpPr>
        <p:spPr>
          <a:xfrm>
            <a:off x="548640" y="378561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3703320"/>
            <a:ext cx="5312664" cy="932688"/>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Log points, fouls, turnovers, steals and possession.</a:t>
            </a:r>
          </a:p>
        </p:txBody>
      </p:sp>
      <p:sp>
        <p:nvSpPr>
          <p:cNvPr id="12" name="Rectangle 11"/>
          <p:cNvSpPr/>
          <p:nvPr/>
        </p:nvSpPr>
        <p:spPr>
          <a:xfrm>
            <a:off x="548640" y="479145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4709160"/>
            <a:ext cx="5312664" cy="932688"/>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Undo mistakes, pause/resume, then save the final result.</a:t>
            </a:r>
          </a:p>
        </p:txBody>
      </p:sp>
      <p:sp>
        <p:nvSpPr>
          <p:cNvPr id="14" name="Rounded Rectangle 13"/>
          <p:cNvSpPr/>
          <p:nvPr/>
        </p:nvSpPr>
        <p:spPr>
          <a:xfrm>
            <a:off x="6492240" y="1847088"/>
            <a:ext cx="2423160" cy="2468880"/>
          </a:xfrm>
          <a:prstGeom prst="roundRect">
            <a:avLst>
              <a:gd name="adj" fmla="val 10000"/>
            </a:avLst>
          </a:prstGeom>
          <a:solidFill>
            <a:srgbClr val="E8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2084831"/>
            <a:ext cx="2148840" cy="365760"/>
          </a:xfrm>
          <a:prstGeom prst="rect">
            <a:avLst/>
          </a:prstGeom>
          <a:noFill/>
        </p:spPr>
        <p:txBody>
          <a:bodyPr wrap="square" lIns="0" rIns="0" tIns="0" bIns="0">
            <a:noAutofit/>
          </a:bodyPr>
          <a:lstStyle/>
          <a:p>
            <a:pPr algn="ctr">
              <a:lnSpc>
                <a:spcPct val="112000"/>
              </a:lnSpc>
              <a:spcBef>
                <a:spcPts val="0"/>
              </a:spcBef>
              <a:spcAft>
                <a:spcPts val="600"/>
              </a:spcAft>
            </a:pPr>
            <a:r>
              <a:rPr sz="1800" b="1">
                <a:solidFill>
                  <a:srgbClr val="FFFFFF"/>
                </a:solidFill>
                <a:latin typeface="Arial"/>
              </a:rPr>
              <a:t>RED</a:t>
            </a:r>
          </a:p>
        </p:txBody>
      </p:sp>
      <p:sp>
        <p:nvSpPr>
          <p:cNvPr id="16" name="TextBox 15"/>
          <p:cNvSpPr txBox="1"/>
          <p:nvPr/>
        </p:nvSpPr>
        <p:spPr>
          <a:xfrm>
            <a:off x="6583679" y="2688336"/>
            <a:ext cx="2240280" cy="960120"/>
          </a:xfrm>
          <a:prstGeom prst="rect">
            <a:avLst/>
          </a:prstGeom>
          <a:noFill/>
        </p:spPr>
        <p:txBody>
          <a:bodyPr wrap="square" lIns="0" rIns="0" tIns="0" bIns="0">
            <a:noAutofit/>
          </a:bodyPr>
          <a:lstStyle/>
          <a:p>
            <a:pPr algn="ctr">
              <a:lnSpc>
                <a:spcPct val="112000"/>
              </a:lnSpc>
              <a:spcBef>
                <a:spcPts val="0"/>
              </a:spcBef>
              <a:spcAft>
                <a:spcPts val="600"/>
              </a:spcAft>
            </a:pPr>
            <a:r>
              <a:rPr sz="5800" b="1">
                <a:solidFill>
                  <a:srgbClr val="FFFFFF"/>
                </a:solidFill>
                <a:latin typeface="Arial"/>
              </a:rPr>
              <a:t>8</a:t>
            </a:r>
          </a:p>
        </p:txBody>
      </p:sp>
      <p:sp>
        <p:nvSpPr>
          <p:cNvPr id="17" name="TextBox 16"/>
          <p:cNvSpPr txBox="1"/>
          <p:nvPr/>
        </p:nvSpPr>
        <p:spPr>
          <a:xfrm>
            <a:off x="6583679" y="3794760"/>
            <a:ext cx="2240280" cy="265176"/>
          </a:xfrm>
          <a:prstGeom prst="rect">
            <a:avLst/>
          </a:prstGeom>
          <a:noFill/>
        </p:spPr>
        <p:txBody>
          <a:bodyPr wrap="square" lIns="0" rIns="0" tIns="0" bIns="0">
            <a:noAutofit/>
          </a:bodyPr>
          <a:lstStyle/>
          <a:p>
            <a:pPr algn="ctr">
              <a:lnSpc>
                <a:spcPct val="112000"/>
              </a:lnSpc>
              <a:spcBef>
                <a:spcPts val="0"/>
              </a:spcBef>
              <a:spcAft>
                <a:spcPts val="600"/>
              </a:spcAft>
            </a:pPr>
            <a:r>
              <a:rPr sz="1200" b="0">
                <a:solidFill>
                  <a:srgbClr val="FFFFFF"/>
                </a:solidFill>
                <a:latin typeface="Arial"/>
              </a:rPr>
              <a:t>Fouls 1 · TO 0</a:t>
            </a:r>
          </a:p>
        </p:txBody>
      </p:sp>
      <p:sp>
        <p:nvSpPr>
          <p:cNvPr id="18" name="Rounded Rectangle 17"/>
          <p:cNvSpPr/>
          <p:nvPr/>
        </p:nvSpPr>
        <p:spPr>
          <a:xfrm>
            <a:off x="9162288" y="1847088"/>
            <a:ext cx="2423160" cy="2468880"/>
          </a:xfrm>
          <a:prstGeom prst="roundRect">
            <a:avLst>
              <a:gd name="adj" fmla="val 10000"/>
            </a:avLst>
          </a:prstGeom>
          <a:solidFill>
            <a:srgbClr val="297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99448" y="2084831"/>
            <a:ext cx="2148840" cy="365760"/>
          </a:xfrm>
          <a:prstGeom prst="rect">
            <a:avLst/>
          </a:prstGeom>
          <a:noFill/>
        </p:spPr>
        <p:txBody>
          <a:bodyPr wrap="square" lIns="0" rIns="0" tIns="0" bIns="0">
            <a:noAutofit/>
          </a:bodyPr>
          <a:lstStyle/>
          <a:p>
            <a:pPr algn="ctr">
              <a:lnSpc>
                <a:spcPct val="112000"/>
              </a:lnSpc>
              <a:spcBef>
                <a:spcPts val="0"/>
              </a:spcBef>
              <a:spcAft>
                <a:spcPts val="600"/>
              </a:spcAft>
            </a:pPr>
            <a:r>
              <a:rPr sz="1800" b="1">
                <a:solidFill>
                  <a:srgbClr val="FFFFFF"/>
                </a:solidFill>
                <a:latin typeface="Arial"/>
              </a:rPr>
              <a:t>BLUE</a:t>
            </a:r>
          </a:p>
        </p:txBody>
      </p:sp>
      <p:sp>
        <p:nvSpPr>
          <p:cNvPr id="20" name="TextBox 19"/>
          <p:cNvSpPr txBox="1"/>
          <p:nvPr/>
        </p:nvSpPr>
        <p:spPr>
          <a:xfrm>
            <a:off x="9253728" y="2688336"/>
            <a:ext cx="2240280" cy="960120"/>
          </a:xfrm>
          <a:prstGeom prst="rect">
            <a:avLst/>
          </a:prstGeom>
          <a:noFill/>
        </p:spPr>
        <p:txBody>
          <a:bodyPr wrap="square" lIns="0" rIns="0" tIns="0" bIns="0">
            <a:noAutofit/>
          </a:bodyPr>
          <a:lstStyle/>
          <a:p>
            <a:pPr algn="ctr">
              <a:lnSpc>
                <a:spcPct val="112000"/>
              </a:lnSpc>
              <a:spcBef>
                <a:spcPts val="0"/>
              </a:spcBef>
              <a:spcAft>
                <a:spcPts val="600"/>
              </a:spcAft>
            </a:pPr>
            <a:r>
              <a:rPr sz="5800" b="1">
                <a:solidFill>
                  <a:srgbClr val="FFFFFF"/>
                </a:solidFill>
                <a:latin typeface="Arial"/>
              </a:rPr>
              <a:t>6</a:t>
            </a:r>
          </a:p>
        </p:txBody>
      </p:sp>
      <p:sp>
        <p:nvSpPr>
          <p:cNvPr id="21" name="TextBox 20"/>
          <p:cNvSpPr txBox="1"/>
          <p:nvPr/>
        </p:nvSpPr>
        <p:spPr>
          <a:xfrm>
            <a:off x="9253728" y="3794760"/>
            <a:ext cx="2240280" cy="265176"/>
          </a:xfrm>
          <a:prstGeom prst="rect">
            <a:avLst/>
          </a:prstGeom>
          <a:noFill/>
        </p:spPr>
        <p:txBody>
          <a:bodyPr wrap="square" lIns="0" rIns="0" tIns="0" bIns="0">
            <a:noAutofit/>
          </a:bodyPr>
          <a:lstStyle/>
          <a:p>
            <a:pPr algn="ctr">
              <a:lnSpc>
                <a:spcPct val="112000"/>
              </a:lnSpc>
              <a:spcBef>
                <a:spcPts val="0"/>
              </a:spcBef>
              <a:spcAft>
                <a:spcPts val="600"/>
              </a:spcAft>
            </a:pPr>
            <a:r>
              <a:rPr sz="1200" b="0">
                <a:solidFill>
                  <a:srgbClr val="FFFFFF"/>
                </a:solidFill>
                <a:latin typeface="Arial"/>
              </a:rPr>
              <a:t>Fouls 1 · TO 0</a:t>
            </a:r>
          </a:p>
        </p:txBody>
      </p:sp>
      <p:sp>
        <p:nvSpPr>
          <p:cNvPr id="22" name="TextBox 21"/>
          <p:cNvSpPr txBox="1"/>
          <p:nvPr/>
        </p:nvSpPr>
        <p:spPr>
          <a:xfrm>
            <a:off x="6492240" y="4517136"/>
            <a:ext cx="5120640" cy="27432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ILLUSTRATIVE SCOREBOARD — NOT A DEVICE CAPTURE</a:t>
            </a:r>
          </a:p>
        </p:txBody>
      </p:sp>
      <p:sp>
        <p:nvSpPr>
          <p:cNvPr id="23" name="Rounded Rectangle 22"/>
          <p:cNvSpPr/>
          <p:nvPr/>
        </p:nvSpPr>
        <p:spPr>
          <a:xfrm>
            <a:off x="6492240" y="5010912"/>
            <a:ext cx="5093208" cy="9144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5184648"/>
            <a:ext cx="4617720" cy="612648"/>
          </a:xfrm>
          <a:prstGeom prst="rect">
            <a:avLst/>
          </a:prstGeom>
          <a:noFill/>
        </p:spPr>
        <p:txBody>
          <a:bodyPr wrap="square" lIns="0" rIns="0" tIns="0" bIns="0">
            <a:noAutofit/>
          </a:bodyPr>
          <a:lstStyle/>
          <a:p>
            <a:pPr>
              <a:lnSpc>
                <a:spcPct val="112000"/>
              </a:lnSpc>
              <a:spcBef>
                <a:spcPts val="0"/>
              </a:spcBef>
              <a:spcAft>
                <a:spcPts val="600"/>
              </a:spcAft>
            </a:pPr>
            <a:r>
              <a:rPr sz="1700" b="1">
                <a:solidFill>
                  <a:srgbClr val="1F2328"/>
                </a:solidFill>
                <a:latin typeface="Arial"/>
              </a:rPr>
              <a:t>Events → rules → scoreboard</a:t>
            </a:r>
          </a:p>
          <a:p>
            <a:pPr>
              <a:lnSpc>
                <a:spcPct val="112000"/>
              </a:lnSpc>
              <a:spcBef>
                <a:spcPts val="0"/>
              </a:spcBef>
              <a:spcAft>
                <a:spcPts val="600"/>
              </a:spcAft>
            </a:pPr>
            <a:r>
              <a:rPr sz="1700" b="1">
                <a:solidFill>
                  <a:srgbClr val="1F2328"/>
                </a:solidFill>
                <a:latin typeface="Arial"/>
              </a:rPr>
              <a:t>Undo removes the last event.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FEATURES / DEMO · MELVIN</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Watch scorekeeping + gamification on both platforms</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05</a:t>
            </a:r>
          </a:p>
        </p:txBody>
      </p:sp>
      <p:sp>
        <p:nvSpPr>
          <p:cNvPr id="6" name="Rounded Rectangle 5"/>
          <p:cNvSpPr/>
          <p:nvPr/>
        </p:nvSpPr>
        <p:spPr>
          <a:xfrm>
            <a:off x="548640" y="1645920"/>
            <a:ext cx="3566160" cy="16002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828800"/>
            <a:ext cx="31272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Streaks</a:t>
            </a:r>
          </a:p>
        </p:txBody>
      </p:sp>
      <p:sp>
        <p:nvSpPr>
          <p:cNvPr id="8" name="TextBox 7"/>
          <p:cNvSpPr txBox="1"/>
          <p:nvPr/>
        </p:nvSpPr>
        <p:spPr>
          <a:xfrm>
            <a:off x="768096" y="2450592"/>
            <a:ext cx="3127248" cy="6858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Rest-day rules, milestones and best streak.</a:t>
            </a:r>
          </a:p>
        </p:txBody>
      </p:sp>
      <p:sp>
        <p:nvSpPr>
          <p:cNvPr id="9" name="Rounded Rectangle 8"/>
          <p:cNvSpPr/>
          <p:nvPr/>
        </p:nvSpPr>
        <p:spPr>
          <a:xfrm>
            <a:off x="4343400" y="1645920"/>
            <a:ext cx="3566160" cy="16002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2856" y="1828800"/>
            <a:ext cx="31272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Goals</a:t>
            </a:r>
          </a:p>
        </p:txBody>
      </p:sp>
      <p:sp>
        <p:nvSpPr>
          <p:cNvPr id="11" name="TextBox 10"/>
          <p:cNvSpPr txBox="1"/>
          <p:nvPr/>
        </p:nvSpPr>
        <p:spPr>
          <a:xfrm>
            <a:off x="4562856" y="2450592"/>
            <a:ext cx="3127248" cy="6858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Editable targets, rings and completion popups.</a:t>
            </a:r>
          </a:p>
        </p:txBody>
      </p:sp>
      <p:sp>
        <p:nvSpPr>
          <p:cNvPr id="12" name="Rounded Rectangle 11"/>
          <p:cNvSpPr/>
          <p:nvPr/>
        </p:nvSpPr>
        <p:spPr>
          <a:xfrm>
            <a:off x="8138160" y="1645920"/>
            <a:ext cx="3566160" cy="16002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57616" y="1828800"/>
            <a:ext cx="31272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XP + levels</a:t>
            </a:r>
          </a:p>
        </p:txBody>
      </p:sp>
      <p:sp>
        <p:nvSpPr>
          <p:cNvPr id="14" name="TextBox 13"/>
          <p:cNvSpPr txBox="1"/>
          <p:nvPr/>
        </p:nvSpPr>
        <p:spPr>
          <a:xfrm>
            <a:off x="8357616" y="2450592"/>
            <a:ext cx="3127248" cy="6858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Same workout, make, swish and accuracy rewards.</a:t>
            </a:r>
          </a:p>
        </p:txBody>
      </p:sp>
      <p:sp>
        <p:nvSpPr>
          <p:cNvPr id="15" name="Rounded Rectangle 14"/>
          <p:cNvSpPr/>
          <p:nvPr/>
        </p:nvSpPr>
        <p:spPr>
          <a:xfrm>
            <a:off x="548640" y="3639312"/>
            <a:ext cx="11155680" cy="1417320"/>
          </a:xfrm>
          <a:prstGeom prst="roundRect">
            <a:avLst>
              <a:gd name="adj" fmla="val 10000"/>
            </a:avLst>
          </a:prstGeom>
          <a:solidFill>
            <a:srgbClr val="161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3867912"/>
            <a:ext cx="2057400" cy="411480"/>
          </a:xfrm>
          <a:prstGeom prst="rect">
            <a:avLst/>
          </a:prstGeom>
          <a:noFill/>
        </p:spPr>
        <p:txBody>
          <a:bodyPr wrap="square" lIns="0" rIns="0" tIns="0" bIns="0">
            <a:noAutofit/>
          </a:bodyPr>
          <a:lstStyle/>
          <a:p>
            <a:pPr>
              <a:lnSpc>
                <a:spcPct val="112000"/>
              </a:lnSpc>
              <a:spcBef>
                <a:spcPts val="0"/>
              </a:spcBef>
              <a:spcAft>
                <a:spcPts val="600"/>
              </a:spcAft>
            </a:pPr>
            <a:r>
              <a:rPr sz="2200" b="1">
                <a:solidFill>
                  <a:srgbClr val="FFFFFF"/>
                </a:solidFill>
                <a:latin typeface="Arial"/>
              </a:rPr>
              <a:t>WATCH</a:t>
            </a:r>
          </a:p>
        </p:txBody>
      </p:sp>
      <p:sp>
        <p:nvSpPr>
          <p:cNvPr id="17" name="TextBox 16"/>
          <p:cNvSpPr txBox="1"/>
          <p:nvPr/>
        </p:nvSpPr>
        <p:spPr>
          <a:xfrm>
            <a:off x="2770632" y="3950208"/>
            <a:ext cx="2441448" cy="36576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Play command →</a:t>
            </a:r>
          </a:p>
        </p:txBody>
      </p:sp>
      <p:sp>
        <p:nvSpPr>
          <p:cNvPr id="18" name="TextBox 17"/>
          <p:cNvSpPr txBox="1"/>
          <p:nvPr/>
        </p:nvSpPr>
        <p:spPr>
          <a:xfrm>
            <a:off x="5193792" y="3867912"/>
            <a:ext cx="2761488" cy="411480"/>
          </a:xfrm>
          <a:prstGeom prst="rect">
            <a:avLst/>
          </a:prstGeom>
          <a:noFill/>
        </p:spPr>
        <p:txBody>
          <a:bodyPr wrap="square" lIns="0" rIns="0" tIns="0" bIns="0">
            <a:noAutofit/>
          </a:bodyPr>
          <a:lstStyle/>
          <a:p>
            <a:pPr>
              <a:lnSpc>
                <a:spcPct val="112000"/>
              </a:lnSpc>
              <a:spcBef>
                <a:spcPts val="0"/>
              </a:spcBef>
              <a:spcAft>
                <a:spcPts val="600"/>
              </a:spcAft>
            </a:pPr>
            <a:r>
              <a:rPr sz="2200" b="1">
                <a:solidFill>
                  <a:srgbClr val="FFFFFF"/>
                </a:solidFill>
                <a:latin typeface="Arial"/>
              </a:rPr>
              <a:t>PHONE RULES</a:t>
            </a:r>
          </a:p>
        </p:txBody>
      </p:sp>
      <p:sp>
        <p:nvSpPr>
          <p:cNvPr id="19" name="TextBox 18"/>
          <p:cNvSpPr txBox="1"/>
          <p:nvPr/>
        </p:nvSpPr>
        <p:spPr>
          <a:xfrm>
            <a:off x="7936992" y="3941063"/>
            <a:ext cx="3429000" cy="502920"/>
          </a:xfrm>
          <a:prstGeom prst="rect">
            <a:avLst/>
          </a:prstGeom>
          <a:noFill/>
        </p:spPr>
        <p:txBody>
          <a:bodyPr wrap="square" lIns="0" rIns="0" tIns="0" bIns="0">
            <a:noAutofit/>
          </a:bodyPr>
          <a:lstStyle/>
          <a:p>
            <a:pPr>
              <a:lnSpc>
                <a:spcPct val="112000"/>
              </a:lnSpc>
              <a:spcBef>
                <a:spcPts val="0"/>
              </a:spcBef>
              <a:spcAft>
                <a:spcPts val="600"/>
              </a:spcAft>
            </a:pPr>
            <a:r>
              <a:rPr sz="1800" b="1">
                <a:solidFill>
                  <a:srgbClr val="FF8A00"/>
                </a:solidFill>
                <a:latin typeface="Arial"/>
              </a:rPr>
              <a:t>← Scoreboard snapshot</a:t>
            </a:r>
          </a:p>
        </p:txBody>
      </p:sp>
      <p:sp>
        <p:nvSpPr>
          <p:cNvPr id="20" name="TextBox 19"/>
          <p:cNvSpPr txBox="1"/>
          <p:nvPr/>
        </p:nvSpPr>
        <p:spPr>
          <a:xfrm>
            <a:off x="548640" y="5458968"/>
            <a:ext cx="10972800" cy="548640"/>
          </a:xfrm>
          <a:prstGeom prst="rect">
            <a:avLst/>
          </a:prstGeom>
          <a:noFill/>
        </p:spPr>
        <p:txBody>
          <a:bodyPr wrap="square" lIns="0" rIns="0" tIns="0" bIns="0">
            <a:noAutofit/>
          </a:bodyPr>
          <a:lstStyle/>
          <a:p>
            <a:pPr>
              <a:lnSpc>
                <a:spcPct val="112000"/>
              </a:lnSpc>
              <a:spcBef>
                <a:spcPts val="0"/>
              </a:spcBef>
              <a:spcAft>
                <a:spcPts val="600"/>
              </a:spcAft>
            </a:pPr>
            <a:r>
              <a:rPr sz="2000" b="0">
                <a:solidFill>
                  <a:srgbClr val="1F2328"/>
                </a:solidFill>
                <a:latin typeface="Arial"/>
              </a:rPr>
              <a:t>Big scoring buttons · own/opponent pages · Miss / Foul / TO · Undo · Save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FEATURES / DEMO · KALEB</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Nearby iPhones: one match on two phones</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06</a:t>
            </a:r>
          </a:p>
        </p:txBody>
      </p:sp>
      <p:sp>
        <p:nvSpPr>
          <p:cNvPr id="6" name="Rounded Rectangle 5"/>
          <p:cNvSpPr/>
          <p:nvPr/>
        </p:nvSpPr>
        <p:spPr>
          <a:xfrm>
            <a:off x="548640" y="1764792"/>
            <a:ext cx="3703320" cy="253288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947672"/>
            <a:ext cx="326440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2978F5"/>
                </a:solidFill>
                <a:latin typeface="Arial"/>
              </a:rPr>
              <a:t>iPHONE A</a:t>
            </a:r>
          </a:p>
        </p:txBody>
      </p:sp>
      <p:sp>
        <p:nvSpPr>
          <p:cNvPr id="8" name="TextBox 7"/>
          <p:cNvSpPr txBox="1"/>
          <p:nvPr/>
        </p:nvSpPr>
        <p:spPr>
          <a:xfrm>
            <a:off x="768096" y="2569464"/>
            <a:ext cx="3264408" cy="1618488"/>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Shared match ID</a:t>
            </a:r>
          </a:p>
          <a:p>
            <a:pPr>
              <a:lnSpc>
                <a:spcPct val="112000"/>
              </a:lnSpc>
              <a:spcBef>
                <a:spcPts val="0"/>
              </a:spcBef>
              <a:spcAft>
                <a:spcPts val="600"/>
              </a:spcAft>
            </a:pPr>
            <a:r>
              <a:rPr sz="1700" b="0">
                <a:solidFill>
                  <a:srgbClr val="5B6573"/>
                </a:solidFill>
                <a:latin typeface="Arial"/>
              </a:rPr>
              <a:t>Host color + rules</a:t>
            </a:r>
          </a:p>
          <a:p>
            <a:pPr>
              <a:lnSpc>
                <a:spcPct val="112000"/>
              </a:lnSpc>
              <a:spcBef>
                <a:spcPts val="0"/>
              </a:spcBef>
              <a:spcAft>
                <a:spcPts val="600"/>
              </a:spcAft>
            </a:pPr>
            <a:r>
              <a:rPr sz="1700" b="0">
                <a:solidFill>
                  <a:srgbClr val="5B6573"/>
                </a:solidFill>
                <a:latin typeface="Arial"/>
              </a:rPr>
              <a:t>Local plays and watch input</a:t>
            </a:r>
          </a:p>
        </p:txBody>
      </p:sp>
      <p:sp>
        <p:nvSpPr>
          <p:cNvPr id="9" name="Rounded Rectangle 8"/>
          <p:cNvSpPr/>
          <p:nvPr/>
        </p:nvSpPr>
        <p:spPr>
          <a:xfrm>
            <a:off x="7973568" y="1764792"/>
            <a:ext cx="3703320" cy="253288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93024" y="1947672"/>
            <a:ext cx="326440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D34242"/>
                </a:solidFill>
                <a:latin typeface="Arial"/>
              </a:rPr>
              <a:t>iPHONE B</a:t>
            </a:r>
          </a:p>
        </p:txBody>
      </p:sp>
      <p:sp>
        <p:nvSpPr>
          <p:cNvPr id="11" name="TextBox 10"/>
          <p:cNvSpPr txBox="1"/>
          <p:nvPr/>
        </p:nvSpPr>
        <p:spPr>
          <a:xfrm>
            <a:off x="8193024" y="2569464"/>
            <a:ext cx="3264408" cy="1618488"/>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Same match ID</a:t>
            </a:r>
          </a:p>
          <a:p>
            <a:pPr>
              <a:lnSpc>
                <a:spcPct val="112000"/>
              </a:lnSpc>
              <a:spcBef>
                <a:spcPts val="0"/>
              </a:spcBef>
              <a:spcAft>
                <a:spcPts val="600"/>
              </a:spcAft>
            </a:pPr>
            <a:r>
              <a:rPr sz="1700" b="0">
                <a:solidFill>
                  <a:srgbClr val="5B6573"/>
                </a:solidFill>
                <a:latin typeface="Arial"/>
              </a:rPr>
              <a:t>Opposite player side</a:t>
            </a:r>
          </a:p>
          <a:p>
            <a:pPr>
              <a:lnSpc>
                <a:spcPct val="112000"/>
              </a:lnSpc>
              <a:spcBef>
                <a:spcPts val="0"/>
              </a:spcBef>
              <a:spcAft>
                <a:spcPts val="600"/>
              </a:spcAft>
            </a:pPr>
            <a:r>
              <a:rPr sz="1700" b="0">
                <a:solidFill>
                  <a:srgbClr val="5B6573"/>
                </a:solidFill>
                <a:latin typeface="Arial"/>
              </a:rPr>
              <a:t>Remote events are not echoed</a:t>
            </a:r>
          </a:p>
        </p:txBody>
      </p:sp>
      <p:sp>
        <p:nvSpPr>
          <p:cNvPr id="12" name="TextBox 11"/>
          <p:cNvSpPr txBox="1"/>
          <p:nvPr/>
        </p:nvSpPr>
        <p:spPr>
          <a:xfrm>
            <a:off x="4489704" y="2331720"/>
            <a:ext cx="3246120" cy="1051560"/>
          </a:xfrm>
          <a:prstGeom prst="rect">
            <a:avLst/>
          </a:prstGeom>
          <a:noFill/>
        </p:spPr>
        <p:txBody>
          <a:bodyPr wrap="square" lIns="0" rIns="0" tIns="0" bIns="0">
            <a:noAutofit/>
          </a:bodyPr>
          <a:lstStyle/>
          <a:p>
            <a:pPr algn="ctr">
              <a:lnSpc>
                <a:spcPct val="112000"/>
              </a:lnSpc>
              <a:spcBef>
                <a:spcPts val="0"/>
              </a:spcBef>
              <a:spcAft>
                <a:spcPts val="600"/>
              </a:spcAft>
            </a:pPr>
            <a:r>
              <a:rPr sz="2500" b="1">
                <a:solidFill>
                  <a:srgbClr val="FF8A00"/>
                </a:solidFill>
                <a:latin typeface="Arial"/>
              </a:rPr>
              <a:t>Multipeer</a:t>
            </a:r>
          </a:p>
          <a:p>
            <a:pPr algn="ctr">
              <a:lnSpc>
                <a:spcPct val="112000"/>
              </a:lnSpc>
              <a:spcBef>
                <a:spcPts val="0"/>
              </a:spcBef>
              <a:spcAft>
                <a:spcPts val="600"/>
              </a:spcAft>
            </a:pPr>
            <a:r>
              <a:rPr sz="2500" b="1">
                <a:solidFill>
                  <a:srgbClr val="FF8A00"/>
                </a:solidFill>
                <a:latin typeface="Arial"/>
              </a:rPr>
              <a:t>Connectivity</a:t>
            </a:r>
          </a:p>
        </p:txBody>
      </p:sp>
      <p:sp>
        <p:nvSpPr>
          <p:cNvPr id="13" name="TextBox 12"/>
          <p:cNvSpPr txBox="1"/>
          <p:nvPr/>
        </p:nvSpPr>
        <p:spPr>
          <a:xfrm>
            <a:off x="5047488" y="3447288"/>
            <a:ext cx="2194560" cy="612648"/>
          </a:xfrm>
          <a:prstGeom prst="rect">
            <a:avLst/>
          </a:prstGeom>
          <a:noFill/>
        </p:spPr>
        <p:txBody>
          <a:bodyPr wrap="square" lIns="0" rIns="0" tIns="0" bIns="0">
            <a:noAutofit/>
          </a:bodyPr>
          <a:lstStyle/>
          <a:p>
            <a:pPr algn="ctr">
              <a:lnSpc>
                <a:spcPct val="112000"/>
              </a:lnSpc>
              <a:spcBef>
                <a:spcPts val="0"/>
              </a:spcBef>
              <a:spcAft>
                <a:spcPts val="600"/>
              </a:spcAft>
            </a:pPr>
            <a:r>
              <a:rPr sz="3600" b="1">
                <a:solidFill>
                  <a:srgbClr val="1F2328"/>
                </a:solidFill>
                <a:latin typeface="Arial"/>
              </a:rPr>
              <a:t>↔</a:t>
            </a:r>
          </a:p>
        </p:txBody>
      </p:sp>
      <p:sp>
        <p:nvSpPr>
          <p:cNvPr id="14" name="Rounded Rectangle 13"/>
          <p:cNvSpPr/>
          <p:nvPr/>
        </p:nvSpPr>
        <p:spPr>
          <a:xfrm>
            <a:off x="548640" y="4718304"/>
            <a:ext cx="11128248" cy="1133856"/>
          </a:xfrm>
          <a:prstGeom prst="roundRect">
            <a:avLst>
              <a:gd name="adj" fmla="val 10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910328"/>
            <a:ext cx="10607040" cy="320040"/>
          </a:xfrm>
          <a:prstGeom prst="rect">
            <a:avLst/>
          </a:prstGeom>
          <a:noFill/>
        </p:spPr>
        <p:txBody>
          <a:bodyPr wrap="square" lIns="0" rIns="0" tIns="0" bIns="0">
            <a:noAutofit/>
          </a:bodyPr>
          <a:lstStyle/>
          <a:p>
            <a:pPr>
              <a:lnSpc>
                <a:spcPct val="112000"/>
              </a:lnSpc>
              <a:spcBef>
                <a:spcPts val="0"/>
              </a:spcBef>
              <a:spcAft>
                <a:spcPts val="600"/>
              </a:spcAft>
            </a:pPr>
            <a:r>
              <a:rPr sz="1500" b="1">
                <a:solidFill>
                  <a:srgbClr val="2FA85A"/>
                </a:solidFill>
                <a:latin typeface="Arial"/>
              </a:rPr>
              <a:t>TESTED AND COMPLETE · TEAM CONFIRMED</a:t>
            </a:r>
          </a:p>
        </p:txBody>
      </p:sp>
      <p:sp>
        <p:nvSpPr>
          <p:cNvPr id="16" name="TextBox 15"/>
          <p:cNvSpPr txBox="1"/>
          <p:nvPr/>
        </p:nvSpPr>
        <p:spPr>
          <a:xfrm>
            <a:off x="804672" y="5385816"/>
            <a:ext cx="10607040" cy="384048"/>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1F2328"/>
                </a:solidFill>
                <a:latin typeface="Arial"/>
              </a:rPr>
              <a:t>Shared matches, play sync, Undo, finish/cancel and paired-watch updates are tested.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FEATURES / DEMO · KELLAM</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Android + Wear OS: the 1v1 port is implemented</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07</a:t>
            </a:r>
          </a:p>
        </p:txBody>
      </p:sp>
      <p:sp>
        <p:nvSpPr>
          <p:cNvPr id="6" name="Rectangle 5"/>
          <p:cNvSpPr/>
          <p:nvPr/>
        </p:nvSpPr>
        <p:spPr>
          <a:xfrm>
            <a:off x="548640" y="177393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691640"/>
            <a:ext cx="5266944" cy="914400"/>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Rules and persistence live in the Kotlin shared module.</a:t>
            </a:r>
          </a:p>
        </p:txBody>
      </p:sp>
      <p:sp>
        <p:nvSpPr>
          <p:cNvPr id="8" name="Rectangle 7"/>
          <p:cNvSpPr/>
          <p:nvPr/>
        </p:nvSpPr>
        <p:spPr>
          <a:xfrm>
            <a:off x="548640" y="2761488"/>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679192"/>
            <a:ext cx="5266944" cy="914400"/>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Friends, setup, Red/Blue court, records and pause/resume.</a:t>
            </a:r>
          </a:p>
        </p:txBody>
      </p:sp>
      <p:sp>
        <p:nvSpPr>
          <p:cNvPr id="10" name="Rectangle 9"/>
          <p:cNvSpPr/>
          <p:nvPr/>
        </p:nvSpPr>
        <p:spPr>
          <a:xfrm>
            <a:off x="548640" y="3749039"/>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3666744"/>
            <a:ext cx="5266944" cy="914400"/>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Wear OS has both players’ controls, undo and save.</a:t>
            </a:r>
          </a:p>
        </p:txBody>
      </p:sp>
      <p:sp>
        <p:nvSpPr>
          <p:cNvPr id="12" name="Rectangle 11"/>
          <p:cNvSpPr/>
          <p:nvPr/>
        </p:nvSpPr>
        <p:spPr>
          <a:xfrm>
            <a:off x="548640" y="4736592"/>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4654296"/>
            <a:ext cx="5266944" cy="914400"/>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1F2328"/>
                </a:solidFill>
                <a:latin typeface="Arial"/>
              </a:rPr>
              <a:t>Durable watch commands and persisted IDs prevent duplicate scoring.</a:t>
            </a:r>
          </a:p>
        </p:txBody>
      </p:sp>
      <p:sp>
        <p:nvSpPr>
          <p:cNvPr id="14" name="Rounded Rectangle 13"/>
          <p:cNvSpPr/>
          <p:nvPr/>
        </p:nvSpPr>
        <p:spPr>
          <a:xfrm>
            <a:off x="548640" y="5879592"/>
            <a:ext cx="5440680" cy="338328"/>
          </a:xfrm>
          <a:prstGeom prst="roundRect">
            <a:avLst>
              <a:gd name="adj" fmla="val 10000"/>
            </a:avLst>
          </a:prstGeom>
          <a:solidFill>
            <a:srgbClr val="2F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3" y="5943600"/>
            <a:ext cx="5330952" cy="219456"/>
          </a:xfrm>
          <a:prstGeom prst="rect">
            <a:avLst/>
          </a:prstGeom>
          <a:noFill/>
        </p:spPr>
        <p:txBody>
          <a:bodyPr wrap="square" lIns="0" rIns="0" tIns="0" bIns="0">
            <a:noAutofit/>
          </a:bodyPr>
          <a:lstStyle/>
          <a:p>
            <a:pPr algn="ctr">
              <a:lnSpc>
                <a:spcPct val="112000"/>
              </a:lnSpc>
              <a:spcBef>
                <a:spcPts val="0"/>
              </a:spcBef>
              <a:spcAft>
                <a:spcPts val="600"/>
              </a:spcAft>
            </a:pPr>
            <a:r>
              <a:rPr sz="1050" b="1">
                <a:solidFill>
                  <a:srgbClr val="FFFFFF"/>
                </a:solidFill>
                <a:latin typeface="Arial"/>
              </a:rPr>
              <a:t>MERGED</a:t>
            </a:r>
          </a:p>
        </p:txBody>
      </p:sp>
      <p:pic>
        <p:nvPicPr>
          <p:cNvPr id="16" name="Picture 15" descr="phone_1v1.png"/>
          <p:cNvPicPr>
            <a:picLocks noChangeAspect="1"/>
          </p:cNvPicPr>
          <p:nvPr/>
        </p:nvPicPr>
        <p:blipFill>
          <a:blip r:embed="rId2"/>
          <a:stretch>
            <a:fillRect/>
          </a:stretch>
        </p:blipFill>
        <p:spPr>
          <a:xfrm>
            <a:off x="6841769" y="1536191"/>
            <a:ext cx="2135581" cy="4745736"/>
          </a:xfrm>
          <a:prstGeom prst="rect">
            <a:avLst/>
          </a:prstGeom>
        </p:spPr>
      </p:pic>
      <p:pic>
        <p:nvPicPr>
          <p:cNvPr id="17" name="Picture 16" descr="wear_1v1.png"/>
          <p:cNvPicPr>
            <a:picLocks noChangeAspect="1"/>
          </p:cNvPicPr>
          <p:nvPr/>
        </p:nvPicPr>
        <p:blipFill>
          <a:blip r:embed="rId3"/>
          <a:stretch>
            <a:fillRect/>
          </a:stretch>
        </p:blipFill>
        <p:spPr>
          <a:xfrm>
            <a:off x="9537192" y="1664208"/>
            <a:ext cx="2057400" cy="2057400"/>
          </a:xfrm>
          <a:prstGeom prst="rect">
            <a:avLst/>
          </a:prstGeom>
        </p:spPr>
      </p:pic>
      <p:sp>
        <p:nvSpPr>
          <p:cNvPr id="18" name="TextBox 17"/>
          <p:cNvSpPr txBox="1"/>
          <p:nvPr/>
        </p:nvSpPr>
        <p:spPr>
          <a:xfrm>
            <a:off x="9464040" y="3749039"/>
            <a:ext cx="2240280" cy="292608"/>
          </a:xfrm>
          <a:prstGeom prst="rect">
            <a:avLst/>
          </a:prstGeom>
          <a:noFill/>
        </p:spPr>
        <p:txBody>
          <a:bodyPr wrap="square" lIns="0" rIns="0" tIns="0" bIns="0">
            <a:noAutofit/>
          </a:bodyPr>
          <a:lstStyle/>
          <a:p>
            <a:pPr algn="ctr">
              <a:lnSpc>
                <a:spcPct val="112000"/>
              </a:lnSpc>
              <a:spcBef>
                <a:spcPts val="0"/>
              </a:spcBef>
              <a:spcAft>
                <a:spcPts val="600"/>
              </a:spcAft>
            </a:pPr>
            <a:r>
              <a:rPr sz="1150" b="0">
                <a:solidFill>
                  <a:srgbClr val="5B6573"/>
                </a:solidFill>
                <a:latin typeface="Arial"/>
              </a:rPr>
              <a:t>Score / main controls</a:t>
            </a:r>
          </a:p>
        </p:txBody>
      </p:sp>
      <p:pic>
        <p:nvPicPr>
          <p:cNvPr id="19" name="Picture 18" descr="wear_controls.png"/>
          <p:cNvPicPr>
            <a:picLocks noChangeAspect="1"/>
          </p:cNvPicPr>
          <p:nvPr/>
        </p:nvPicPr>
        <p:blipFill>
          <a:blip r:embed="rId4"/>
          <a:stretch>
            <a:fillRect/>
          </a:stretch>
        </p:blipFill>
        <p:spPr>
          <a:xfrm>
            <a:off x="9537192" y="4133087"/>
            <a:ext cx="2057400" cy="2057400"/>
          </a:xfrm>
          <a:prstGeom prst="rect">
            <a:avLst/>
          </a:prstGeom>
        </p:spPr>
      </p:pic>
      <p:sp>
        <p:nvSpPr>
          <p:cNvPr id="20" name="TextBox 19"/>
          <p:cNvSpPr txBox="1"/>
          <p:nvPr/>
        </p:nvSpPr>
        <p:spPr>
          <a:xfrm>
            <a:off x="9372600" y="6236208"/>
            <a:ext cx="2423160" cy="210312"/>
          </a:xfrm>
          <a:prstGeom prst="rect">
            <a:avLst/>
          </a:prstGeom>
          <a:noFill/>
        </p:spPr>
        <p:txBody>
          <a:bodyPr wrap="square" lIns="0" rIns="0" tIns="0" bIns="0">
            <a:noAutofit/>
          </a:bodyPr>
          <a:lstStyle/>
          <a:p>
            <a:pPr algn="ctr">
              <a:lnSpc>
                <a:spcPct val="112000"/>
              </a:lnSpc>
              <a:spcBef>
                <a:spcPts val="0"/>
              </a:spcBef>
              <a:spcAft>
                <a:spcPts val="600"/>
              </a:spcAft>
            </a:pPr>
            <a:r>
              <a:rPr sz="1050" b="0">
                <a:solidFill>
                  <a:srgbClr val="5B6573"/>
                </a:solidFill>
                <a:latin typeface="Arial"/>
              </a:rPr>
              <a:t>More controls after scrolling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FEATURES / DEMO · KELLAM</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Nearby Android games: ordered plays and recovery</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08</a:t>
            </a:r>
          </a:p>
        </p:txBody>
      </p:sp>
      <p:pic>
        <p:nvPicPr>
          <p:cNvPr id="6" name="Picture 5" descr="phone_nearby.png"/>
          <p:cNvPicPr>
            <a:picLocks noChangeAspect="1"/>
          </p:cNvPicPr>
          <p:nvPr/>
        </p:nvPicPr>
        <p:blipFill>
          <a:blip r:embed="rId2"/>
          <a:stretch>
            <a:fillRect/>
          </a:stretch>
        </p:blipFill>
        <p:spPr>
          <a:xfrm>
            <a:off x="764667" y="1600200"/>
            <a:ext cx="2036826" cy="4526280"/>
          </a:xfrm>
          <a:prstGeom prst="rect">
            <a:avLst/>
          </a:prstGeom>
        </p:spPr>
      </p:pic>
      <p:sp>
        <p:nvSpPr>
          <p:cNvPr id="7" name="Rounded Rectangle 6"/>
          <p:cNvSpPr/>
          <p:nvPr/>
        </p:nvSpPr>
        <p:spPr>
          <a:xfrm>
            <a:off x="3383280" y="1737360"/>
            <a:ext cx="3886200" cy="20574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2736" y="1920240"/>
            <a:ext cx="344728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2978F5"/>
                </a:solidFill>
                <a:latin typeface="Arial"/>
              </a:rPr>
              <a:t>HOST</a:t>
            </a:r>
          </a:p>
        </p:txBody>
      </p:sp>
      <p:sp>
        <p:nvSpPr>
          <p:cNvPr id="9" name="TextBox 8"/>
          <p:cNvSpPr txBox="1"/>
          <p:nvPr/>
        </p:nvSpPr>
        <p:spPr>
          <a:xfrm>
            <a:off x="3602736" y="2542032"/>
            <a:ext cx="3447288" cy="11430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Applies rules in one order.</a:t>
            </a:r>
          </a:p>
          <a:p>
            <a:pPr>
              <a:lnSpc>
                <a:spcPct val="112000"/>
              </a:lnSpc>
              <a:spcBef>
                <a:spcPts val="0"/>
              </a:spcBef>
              <a:spcAft>
                <a:spcPts val="600"/>
              </a:spcAft>
            </a:pPr>
            <a:r>
              <a:rPr sz="1700" b="0">
                <a:solidFill>
                  <a:srgbClr val="5B6573"/>
                </a:solidFill>
                <a:latin typeface="Arial"/>
              </a:rPr>
              <a:t>Saves plays + processed IDs.</a:t>
            </a:r>
          </a:p>
          <a:p>
            <a:pPr>
              <a:lnSpc>
                <a:spcPct val="112000"/>
              </a:lnSpc>
              <a:spcBef>
                <a:spcPts val="0"/>
              </a:spcBef>
              <a:spcAft>
                <a:spcPts val="600"/>
              </a:spcAft>
            </a:pPr>
            <a:r>
              <a:rPr sz="1700" b="0">
                <a:solidFill>
                  <a:srgbClr val="5B6573"/>
                </a:solidFill>
                <a:latin typeface="Arial"/>
              </a:rPr>
              <a:t>Publishes the confirmed event log.</a:t>
            </a:r>
          </a:p>
        </p:txBody>
      </p:sp>
      <p:sp>
        <p:nvSpPr>
          <p:cNvPr id="10" name="Rounded Rectangle 9"/>
          <p:cNvSpPr/>
          <p:nvPr/>
        </p:nvSpPr>
        <p:spPr>
          <a:xfrm>
            <a:off x="7498079" y="1737360"/>
            <a:ext cx="4160520" cy="20574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7536" y="1920240"/>
            <a:ext cx="372160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D34242"/>
                </a:solidFill>
                <a:latin typeface="Arial"/>
              </a:rPr>
              <a:t>GUEST</a:t>
            </a:r>
          </a:p>
        </p:txBody>
      </p:sp>
      <p:sp>
        <p:nvSpPr>
          <p:cNvPr id="12" name="TextBox 11"/>
          <p:cNvSpPr txBox="1"/>
          <p:nvPr/>
        </p:nvSpPr>
        <p:spPr>
          <a:xfrm>
            <a:off x="7717536" y="2542032"/>
            <a:ext cx="3721608" cy="11430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Queues phone/watch commands.</a:t>
            </a:r>
          </a:p>
          <a:p>
            <a:pPr>
              <a:lnSpc>
                <a:spcPct val="112000"/>
              </a:lnSpc>
              <a:spcBef>
                <a:spcPts val="0"/>
              </a:spcBef>
              <a:spcAft>
                <a:spcPts val="600"/>
              </a:spcAft>
            </a:pPr>
            <a:r>
              <a:rPr sz="1700" b="0">
                <a:solidFill>
                  <a:srgbClr val="5B6573"/>
                </a:solidFill>
                <a:latin typeface="Arial"/>
              </a:rPr>
              <a:t>Waits for host acknowledgement.</a:t>
            </a:r>
          </a:p>
          <a:p>
            <a:pPr>
              <a:lnSpc>
                <a:spcPct val="112000"/>
              </a:lnSpc>
              <a:spcBef>
                <a:spcPts val="0"/>
              </a:spcBef>
              <a:spcAft>
                <a:spcPts val="600"/>
              </a:spcAft>
            </a:pPr>
            <a:r>
              <a:rPr sz="1700" b="0">
                <a:solidFill>
                  <a:srgbClr val="5B6573"/>
                </a:solidFill>
                <a:latin typeface="Arial"/>
              </a:rPr>
              <a:t>Recovers after reconnect/restart.</a:t>
            </a:r>
          </a:p>
        </p:txBody>
      </p:sp>
      <p:sp>
        <p:nvSpPr>
          <p:cNvPr id="13" name="TextBox 12"/>
          <p:cNvSpPr txBox="1"/>
          <p:nvPr/>
        </p:nvSpPr>
        <p:spPr>
          <a:xfrm>
            <a:off x="3383280" y="4206240"/>
            <a:ext cx="8257031" cy="749808"/>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1F2328"/>
                </a:solidFill>
                <a:latin typeface="Arial"/>
              </a:rPr>
              <a:t>Google Nearby Connections · encrypted link · compare the code on both phones</a:t>
            </a:r>
          </a:p>
        </p:txBody>
      </p:sp>
      <p:sp>
        <p:nvSpPr>
          <p:cNvPr id="14" name="Rounded Rectangle 13"/>
          <p:cNvSpPr/>
          <p:nvPr/>
        </p:nvSpPr>
        <p:spPr>
          <a:xfrm>
            <a:off x="3383280" y="5193792"/>
            <a:ext cx="8275320" cy="822960"/>
          </a:xfrm>
          <a:prstGeom prst="roundRect">
            <a:avLst>
              <a:gd name="adj" fmla="val 10000"/>
            </a:avLst>
          </a:prstGeom>
          <a:solidFill>
            <a:srgbClr val="FFF4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1880" y="5413248"/>
            <a:ext cx="7818120" cy="457200"/>
          </a:xfrm>
          <a:prstGeom prst="rect">
            <a:avLst/>
          </a:prstGeom>
          <a:noFill/>
        </p:spPr>
        <p:txBody>
          <a:bodyPr wrap="square" lIns="0" rIns="0" tIns="0" bIns="0">
            <a:noAutofit/>
          </a:bodyPr>
          <a:lstStyle/>
          <a:p>
            <a:pPr>
              <a:lnSpc>
                <a:spcPct val="112000"/>
              </a:lnSpc>
              <a:spcBef>
                <a:spcPts val="0"/>
              </a:spcBef>
              <a:spcAft>
                <a:spcPts val="600"/>
              </a:spcAft>
            </a:pPr>
            <a:r>
              <a:rPr sz="1800" b="1">
                <a:solidFill>
                  <a:srgbClr val="9A5900"/>
                </a:solidFill>
                <a:latin typeface="Arial"/>
              </a:rPr>
              <a:t>Android ↔ Android only. No Android ↔ iPhone multiplayer yet.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DEPLOYMENT &amp; TESTING</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Builds and tests pass; hardware rollout is next</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09</a:t>
            </a:r>
          </a:p>
        </p:txBody>
      </p:sp>
      <p:sp>
        <p:nvSpPr>
          <p:cNvPr id="6" name="Rounded Rectangle 5"/>
          <p:cNvSpPr/>
          <p:nvPr/>
        </p:nvSpPr>
        <p:spPr>
          <a:xfrm>
            <a:off x="548640" y="1664208"/>
            <a:ext cx="3337560" cy="132588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1828800"/>
            <a:ext cx="2862072" cy="612648"/>
          </a:xfrm>
          <a:prstGeom prst="rect">
            <a:avLst/>
          </a:prstGeom>
          <a:noFill/>
        </p:spPr>
        <p:txBody>
          <a:bodyPr wrap="square" lIns="0" rIns="0" tIns="0" bIns="0">
            <a:noAutofit/>
          </a:bodyPr>
          <a:lstStyle/>
          <a:p>
            <a:pPr>
              <a:lnSpc>
                <a:spcPct val="112000"/>
              </a:lnSpc>
              <a:spcBef>
                <a:spcPts val="0"/>
              </a:spcBef>
              <a:spcAft>
                <a:spcPts val="600"/>
              </a:spcAft>
            </a:pPr>
            <a:r>
              <a:rPr sz="4200" b="1">
                <a:solidFill>
                  <a:srgbClr val="FF8A00"/>
                </a:solidFill>
                <a:latin typeface="Arial"/>
              </a:rPr>
              <a:t>121 / 121</a:t>
            </a:r>
          </a:p>
        </p:txBody>
      </p:sp>
      <p:sp>
        <p:nvSpPr>
          <p:cNvPr id="8" name="TextBox 7"/>
          <p:cNvSpPr txBox="1"/>
          <p:nvPr/>
        </p:nvSpPr>
        <p:spPr>
          <a:xfrm>
            <a:off x="786384" y="2587752"/>
            <a:ext cx="2862072" cy="274320"/>
          </a:xfrm>
          <a:prstGeom prst="rect">
            <a:avLst/>
          </a:prstGeom>
          <a:noFill/>
        </p:spPr>
        <p:txBody>
          <a:bodyPr wrap="square" lIns="0" rIns="0" tIns="0" bIns="0">
            <a:noAutofit/>
          </a:bodyPr>
          <a:lstStyle/>
          <a:p>
            <a:pPr>
              <a:lnSpc>
                <a:spcPct val="112000"/>
              </a:lnSpc>
              <a:spcBef>
                <a:spcPts val="0"/>
              </a:spcBef>
              <a:spcAft>
                <a:spcPts val="600"/>
              </a:spcAft>
            </a:pPr>
            <a:r>
              <a:rPr sz="1600" b="0">
                <a:solidFill>
                  <a:srgbClr val="5B6573"/>
                </a:solidFill>
                <a:latin typeface="Arial"/>
              </a:rPr>
              <a:t>Android JVM unit tests</a:t>
            </a:r>
          </a:p>
        </p:txBody>
      </p:sp>
      <p:sp>
        <p:nvSpPr>
          <p:cNvPr id="9" name="Rounded Rectangle 8"/>
          <p:cNvSpPr/>
          <p:nvPr/>
        </p:nvSpPr>
        <p:spPr>
          <a:xfrm>
            <a:off x="548640" y="3200400"/>
            <a:ext cx="3337560" cy="123444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3337560"/>
            <a:ext cx="2862072" cy="612648"/>
          </a:xfrm>
          <a:prstGeom prst="rect">
            <a:avLst/>
          </a:prstGeom>
          <a:noFill/>
        </p:spPr>
        <p:txBody>
          <a:bodyPr wrap="square" lIns="0" rIns="0" tIns="0" bIns="0">
            <a:noAutofit/>
          </a:bodyPr>
          <a:lstStyle/>
          <a:p>
            <a:pPr>
              <a:lnSpc>
                <a:spcPct val="112000"/>
              </a:lnSpc>
              <a:spcBef>
                <a:spcPts val="0"/>
              </a:spcBef>
              <a:spcAft>
                <a:spcPts val="600"/>
              </a:spcAft>
            </a:pPr>
            <a:r>
              <a:rPr sz="4000" b="1">
                <a:solidFill>
                  <a:srgbClr val="2FA85A"/>
                </a:solidFill>
                <a:latin typeface="Arial"/>
              </a:rPr>
              <a:t>13 / 13</a:t>
            </a:r>
          </a:p>
        </p:txBody>
      </p:sp>
      <p:sp>
        <p:nvSpPr>
          <p:cNvPr id="11" name="TextBox 10"/>
          <p:cNvSpPr txBox="1"/>
          <p:nvPr/>
        </p:nvSpPr>
        <p:spPr>
          <a:xfrm>
            <a:off x="786384" y="4069080"/>
            <a:ext cx="2862072" cy="274320"/>
          </a:xfrm>
          <a:prstGeom prst="rect">
            <a:avLst/>
          </a:prstGeom>
          <a:noFill/>
        </p:spPr>
        <p:txBody>
          <a:bodyPr wrap="square" lIns="0" rIns="0" tIns="0" bIns="0">
            <a:noAutofit/>
          </a:bodyPr>
          <a:lstStyle/>
          <a:p>
            <a:pPr>
              <a:lnSpc>
                <a:spcPct val="112000"/>
              </a:lnSpc>
              <a:spcBef>
                <a:spcPts val="0"/>
              </a:spcBef>
              <a:spcAft>
                <a:spcPts val="600"/>
              </a:spcAft>
            </a:pPr>
            <a:r>
              <a:rPr sz="1500" b="0">
                <a:solidFill>
                  <a:srgbClr val="5B6573"/>
                </a:solidFill>
                <a:latin typeface="Arial"/>
              </a:rPr>
              <a:t>9 phone + 4 watch UI tests</a:t>
            </a:r>
          </a:p>
        </p:txBody>
      </p:sp>
      <p:sp>
        <p:nvSpPr>
          <p:cNvPr id="12" name="TextBox 11"/>
          <p:cNvSpPr txBox="1"/>
          <p:nvPr/>
        </p:nvSpPr>
        <p:spPr>
          <a:xfrm>
            <a:off x="548640" y="4846320"/>
            <a:ext cx="3337560" cy="1207008"/>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1F2328"/>
                </a:solidFill>
                <a:latin typeface="Arial"/>
              </a:rPr>
              <a:t>Debug APKs build for both modules.</a:t>
            </a:r>
          </a:p>
          <a:p>
            <a:pPr>
              <a:lnSpc>
                <a:spcPct val="112000"/>
              </a:lnSpc>
              <a:spcBef>
                <a:spcPts val="0"/>
              </a:spcBef>
              <a:spcAft>
                <a:spcPts val="600"/>
              </a:spcAft>
            </a:pPr>
            <a:r>
              <a:rPr sz="1700" b="0">
                <a:solidFill>
                  <a:srgbClr val="1F2328"/>
                </a:solidFill>
                <a:latin typeface="Arial"/>
              </a:rPr>
              <a:t>Physical multi-device play and TestFlight / Play internal testing are not yet verified.</a:t>
            </a:r>
          </a:p>
        </p:txBody>
      </p:sp>
      <p:pic>
        <p:nvPicPr>
          <p:cNvPr id="13" name="Picture 12" descr="Android_Test_Results.png"/>
          <p:cNvPicPr>
            <a:picLocks noChangeAspect="1"/>
          </p:cNvPicPr>
          <p:nvPr/>
        </p:nvPicPr>
        <p:blipFill>
          <a:blip r:embed="rId2"/>
          <a:stretch>
            <a:fillRect/>
          </a:stretch>
        </p:blipFill>
        <p:spPr>
          <a:xfrm>
            <a:off x="5018044" y="1572768"/>
            <a:ext cx="5828751" cy="455371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KANBAN</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Core features: ownership, points and current status</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10</a:t>
            </a:r>
          </a:p>
        </p:txBody>
      </p:sp>
      <p:graphicFrame>
        <p:nvGraphicFramePr>
          <p:cNvPr id="6" name="Table 5"/>
          <p:cNvGraphicFramePr>
            <a:graphicFrameLocks noGrp="1"/>
          </p:cNvGraphicFramePr>
          <p:nvPr/>
        </p:nvGraphicFramePr>
        <p:xfrm>
          <a:off x="548640" y="1664208"/>
          <a:ext cx="11082528" cy="4005072"/>
        </p:xfrm>
        <a:graphic>
          <a:graphicData uri="http://schemas.openxmlformats.org/drawingml/2006/table">
            <a:tbl>
              <a:tblPr firstRow="1" bandRow="1">
                <a:tableStyleId>{5C22544A-7EE6-4342-B048-85BDC9FD1C3A}</a:tableStyleId>
              </a:tblPr>
              <a:tblGrid>
                <a:gridCol w="685800"/>
                <a:gridCol w="3767328"/>
                <a:gridCol w="1371600"/>
                <a:gridCol w="548640"/>
                <a:gridCol w="4709160"/>
              </a:tblGrid>
              <a:tr h="667512">
                <a:tc>
                  <a:txBody>
                    <a:bodyPr/>
                    <a:lstStyle/>
                    <a:p>
                      <a:pPr>
                        <a:lnSpc>
                          <a:spcPct val="104000"/>
                        </a:lnSpc>
                        <a:spcAft>
                          <a:spcPts val="0"/>
                        </a:spcAft>
                      </a:pPr>
                      <a:r>
                        <a:rPr sz="1600" b="1">
                          <a:solidFill>
                            <a:srgbClr val="FFFFFF"/>
                          </a:solidFill>
                          <a:latin typeface="Arial"/>
                        </a:rPr>
                        <a:t>#</a:t>
                      </a:r>
                    </a:p>
                  </a:txBody>
                  <a:tcPr marL="91440" marR="73152" marT="64008" marB="36576" anchor="ctr">
                    <a:solidFill>
                      <a:srgbClr val="16191D"/>
                    </a:solidFill>
                  </a:tcPr>
                </a:tc>
                <a:tc>
                  <a:txBody>
                    <a:bodyPr/>
                    <a:lstStyle/>
                    <a:p>
                      <a:pPr>
                        <a:lnSpc>
                          <a:spcPct val="104000"/>
                        </a:lnSpc>
                        <a:spcAft>
                          <a:spcPts val="0"/>
                        </a:spcAft>
                      </a:pPr>
                      <a:r>
                        <a:rPr sz="1600" b="1">
                          <a:solidFill>
                            <a:srgbClr val="FFFFFF"/>
                          </a:solidFill>
                          <a:latin typeface="Arial"/>
                        </a:rPr>
                        <a:t>Work</a:t>
                      </a:r>
                    </a:p>
                  </a:txBody>
                  <a:tcPr marL="91440" marR="73152" marT="64008" marB="36576" anchor="ctr">
                    <a:solidFill>
                      <a:srgbClr val="16191D"/>
                    </a:solidFill>
                  </a:tcPr>
                </a:tc>
                <a:tc>
                  <a:txBody>
                    <a:bodyPr/>
                    <a:lstStyle/>
                    <a:p>
                      <a:pPr>
                        <a:lnSpc>
                          <a:spcPct val="104000"/>
                        </a:lnSpc>
                        <a:spcAft>
                          <a:spcPts val="0"/>
                        </a:spcAft>
                      </a:pPr>
                      <a:r>
                        <a:rPr sz="1600" b="1">
                          <a:solidFill>
                            <a:srgbClr val="FFFFFF"/>
                          </a:solidFill>
                          <a:latin typeface="Arial"/>
                        </a:rPr>
                        <a:t>Owner</a:t>
                      </a:r>
                    </a:p>
                  </a:txBody>
                  <a:tcPr marL="91440" marR="73152" marT="64008" marB="36576" anchor="ctr">
                    <a:solidFill>
                      <a:srgbClr val="16191D"/>
                    </a:solidFill>
                  </a:tcPr>
                </a:tc>
                <a:tc>
                  <a:txBody>
                    <a:bodyPr/>
                    <a:lstStyle/>
                    <a:p>
                      <a:pPr>
                        <a:lnSpc>
                          <a:spcPct val="104000"/>
                        </a:lnSpc>
                        <a:spcAft>
                          <a:spcPts val="0"/>
                        </a:spcAft>
                      </a:pPr>
                      <a:r>
                        <a:rPr sz="1600" b="1">
                          <a:solidFill>
                            <a:srgbClr val="FFFFFF"/>
                          </a:solidFill>
                          <a:latin typeface="Arial"/>
                        </a:rPr>
                        <a:t>Pts</a:t>
                      </a:r>
                    </a:p>
                  </a:txBody>
                  <a:tcPr marL="91440" marR="73152" marT="64008" marB="36576" anchor="ctr">
                    <a:solidFill>
                      <a:srgbClr val="16191D"/>
                    </a:solidFill>
                  </a:tcPr>
                </a:tc>
                <a:tc>
                  <a:txBody>
                    <a:bodyPr/>
                    <a:lstStyle/>
                    <a:p>
                      <a:pPr>
                        <a:lnSpc>
                          <a:spcPct val="104000"/>
                        </a:lnSpc>
                        <a:spcAft>
                          <a:spcPts val="0"/>
                        </a:spcAft>
                      </a:pPr>
                      <a:r>
                        <a:rPr sz="1600" b="1">
                          <a:solidFill>
                            <a:srgbClr val="FFFFFF"/>
                          </a:solidFill>
                          <a:latin typeface="Arial"/>
                        </a:rPr>
                        <a:t>GitHub / delivery status</a:t>
                      </a:r>
                    </a:p>
                  </a:txBody>
                  <a:tcPr marL="91440" marR="73152" marT="64008" marB="36576" anchor="ctr">
                    <a:solidFill>
                      <a:srgbClr val="16191D"/>
                    </a:solidFill>
                  </a:tcPr>
                </a:tc>
              </a:tr>
              <a:tr h="667512">
                <a:tc>
                  <a:txBody>
                    <a:bodyPr/>
                    <a:lstStyle/>
                    <a:p>
                      <a:pPr>
                        <a:lnSpc>
                          <a:spcPct val="104000"/>
                        </a:lnSpc>
                        <a:spcAft>
                          <a:spcPts val="0"/>
                        </a:spcAft>
                      </a:pPr>
                      <a:r>
                        <a:rPr sz="1600" b="0">
                          <a:solidFill>
                            <a:srgbClr val="1F2328"/>
                          </a:solidFill>
                          <a:latin typeface="Arial"/>
                        </a:rPr>
                        <a:t>#27</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Gamification parity</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Melvin</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5</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Closed · merged in #23</a:t>
                      </a:r>
                    </a:p>
                  </a:txBody>
                  <a:tcPr marL="91440" marR="73152" marT="64008" marB="36576" anchor="ctr">
                    <a:solidFill>
                      <a:srgbClr val="F3F4F6"/>
                    </a:solidFill>
                  </a:tcPr>
                </a:tc>
              </a:tr>
              <a:tr h="667512">
                <a:tc>
                  <a:txBody>
                    <a:bodyPr/>
                    <a:lstStyle/>
                    <a:p>
                      <a:pPr>
                        <a:lnSpc>
                          <a:spcPct val="104000"/>
                        </a:lnSpc>
                        <a:spcAft>
                          <a:spcPts val="0"/>
                        </a:spcAft>
                      </a:pPr>
                      <a:r>
                        <a:rPr sz="1600" b="0">
                          <a:solidFill>
                            <a:srgbClr val="1F2328"/>
                          </a:solidFill>
                          <a:latin typeface="Arial"/>
                        </a:rPr>
                        <a:t>#28</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iPhone 1v1 match mode</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Melvin</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8</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Closed · merged in #24</a:t>
                      </a:r>
                    </a:p>
                  </a:txBody>
                  <a:tcPr marL="91440" marR="73152" marT="64008" marB="36576" anchor="ctr">
                    <a:solidFill>
                      <a:srgbClr val="FFFFFF"/>
                    </a:solidFill>
                  </a:tcPr>
                </a:tc>
              </a:tr>
              <a:tr h="667512">
                <a:tc>
                  <a:txBody>
                    <a:bodyPr/>
                    <a:lstStyle/>
                    <a:p>
                      <a:pPr>
                        <a:lnSpc>
                          <a:spcPct val="104000"/>
                        </a:lnSpc>
                        <a:spcAft>
                          <a:spcPts val="0"/>
                        </a:spcAft>
                      </a:pPr>
                      <a:r>
                        <a:rPr sz="1600" b="0">
                          <a:solidFill>
                            <a:srgbClr val="1F2328"/>
                          </a:solidFill>
                          <a:latin typeface="Arial"/>
                        </a:rPr>
                        <a:t>#29</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Apple Watch 1v1 scoring</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Melvin</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5</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Closed · merged in #24</a:t>
                      </a:r>
                    </a:p>
                  </a:txBody>
                  <a:tcPr marL="91440" marR="73152" marT="64008" marB="36576" anchor="ctr">
                    <a:solidFill>
                      <a:srgbClr val="F3F4F6"/>
                    </a:solidFill>
                  </a:tcPr>
                </a:tc>
              </a:tr>
              <a:tr h="667512">
                <a:tc>
                  <a:txBody>
                    <a:bodyPr/>
                    <a:lstStyle/>
                    <a:p>
                      <a:pPr>
                        <a:lnSpc>
                          <a:spcPct val="104000"/>
                        </a:lnSpc>
                        <a:spcAft>
                          <a:spcPts val="0"/>
                        </a:spcAft>
                      </a:pPr>
                      <a:r>
                        <a:rPr sz="1600" b="0">
                          <a:solidFill>
                            <a:srgbClr val="1F2328"/>
                          </a:solidFill>
                          <a:latin typeface="Arial"/>
                        </a:rPr>
                        <a:t>#30</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Nearby iPhone games</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Kaleb</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5</a:t>
                      </a:r>
                    </a:p>
                  </a:txBody>
                  <a:tcPr marL="91440" marR="73152" marT="64008" marB="36576" anchor="ctr">
                    <a:solidFill>
                      <a:srgbClr val="FFFFFF"/>
                    </a:solidFill>
                  </a:tcPr>
                </a:tc>
                <a:tc>
                  <a:txBody>
                    <a:bodyPr/>
                    <a:lstStyle/>
                    <a:p>
                      <a:pPr>
                        <a:lnSpc>
                          <a:spcPct val="104000"/>
                        </a:lnSpc>
                        <a:spcAft>
                          <a:spcPts val="0"/>
                        </a:spcAft>
                      </a:pPr>
                      <a:r>
                        <a:rPr sz="1600" b="0">
                          <a:solidFill>
                            <a:srgbClr val="1F2328"/>
                          </a:solidFill>
                          <a:latin typeface="Arial"/>
                        </a:rPr>
                        <a:t>Closed · team testing complete</a:t>
                      </a:r>
                    </a:p>
                  </a:txBody>
                  <a:tcPr marL="91440" marR="73152" marT="64008" marB="36576" anchor="ctr">
                    <a:solidFill>
                      <a:srgbClr val="FFFFFF"/>
                    </a:solidFill>
                  </a:tcPr>
                </a:tc>
              </a:tr>
              <a:tr h="667512">
                <a:tc>
                  <a:txBody>
                    <a:bodyPr/>
                    <a:lstStyle/>
                    <a:p>
                      <a:pPr>
                        <a:lnSpc>
                          <a:spcPct val="104000"/>
                        </a:lnSpc>
                        <a:spcAft>
                          <a:spcPts val="0"/>
                        </a:spcAft>
                      </a:pPr>
                      <a:r>
                        <a:rPr sz="1600" b="0">
                          <a:solidFill>
                            <a:srgbClr val="1F2328"/>
                          </a:solidFill>
                          <a:latin typeface="Arial"/>
                        </a:rPr>
                        <a:t>#32</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Android / Wear OS 1v1</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Kellam</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8</a:t>
                      </a:r>
                    </a:p>
                  </a:txBody>
                  <a:tcPr marL="91440" marR="73152" marT="64008" marB="36576" anchor="ctr">
                    <a:solidFill>
                      <a:srgbClr val="F3F4F6"/>
                    </a:solidFill>
                  </a:tcPr>
                </a:tc>
                <a:tc>
                  <a:txBody>
                    <a:bodyPr/>
                    <a:lstStyle/>
                    <a:p>
                      <a:pPr>
                        <a:lnSpc>
                          <a:spcPct val="104000"/>
                        </a:lnSpc>
                        <a:spcAft>
                          <a:spcPts val="0"/>
                        </a:spcAft>
                      </a:pPr>
                      <a:r>
                        <a:rPr sz="1600" b="0">
                          <a:solidFill>
                            <a:srgbClr val="1F2328"/>
                          </a:solidFill>
                          <a:latin typeface="Arial"/>
                        </a:rPr>
                        <a:t>Closed · merged in #38</a:t>
                      </a:r>
                    </a:p>
                  </a:txBody>
                  <a:tcPr marL="91440" marR="73152" marT="64008" marB="36576" anchor="ctr">
                    <a:solidFill>
                      <a:srgbClr val="F3F4F6"/>
                    </a:solidFill>
                  </a:tcPr>
                </a:tc>
              </a:tr>
            </a:tbl>
          </a:graphicData>
        </a:graphic>
      </p:graphicFrame>
      <p:sp>
        <p:nvSpPr>
          <p:cNvPr id="7" name="Rounded Rectangle 6"/>
          <p:cNvSpPr/>
          <p:nvPr/>
        </p:nvSpPr>
        <p:spPr>
          <a:xfrm>
            <a:off x="548640" y="5952744"/>
            <a:ext cx="11082528" cy="347472"/>
          </a:xfrm>
          <a:prstGeom prst="roundRect">
            <a:avLst>
              <a:gd name="adj" fmla="val 10000"/>
            </a:avLst>
          </a:prstGeom>
          <a:solidFill>
            <a:srgbClr val="EA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6016752"/>
            <a:ext cx="10789920" cy="219456"/>
          </a:xfrm>
          <a:prstGeom prst="rect">
            <a:avLst/>
          </a:prstGeom>
          <a:noFill/>
        </p:spPr>
        <p:txBody>
          <a:bodyPr wrap="square" lIns="0" rIns="0" tIns="0" bIns="0">
            <a:noAutofit/>
          </a:bodyPr>
          <a:lstStyle/>
          <a:p>
            <a:pPr>
              <a:lnSpc>
                <a:spcPct val="112000"/>
              </a:lnSpc>
              <a:spcBef>
                <a:spcPts val="0"/>
              </a:spcBef>
              <a:spcAft>
                <a:spcPts val="600"/>
              </a:spcAft>
            </a:pPr>
            <a:r>
              <a:rPr sz="1240" b="0">
                <a:solidFill>
                  <a:srgbClr val="2FA85A"/>
                </a:solidFill>
                <a:latin typeface="Arial"/>
              </a:rPr>
              <a:t>Android/Wear OS is merged in #38 and #32 is closed. Kaleb’s nearby feature is team-confirmed tested and done.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KANBAN</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Follow-up tracking and the Sprint 6 backlog</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11</a:t>
            </a:r>
          </a:p>
        </p:txBody>
      </p:sp>
      <p:graphicFrame>
        <p:nvGraphicFramePr>
          <p:cNvPr id="6" name="Table 5"/>
          <p:cNvGraphicFramePr>
            <a:graphicFrameLocks noGrp="1"/>
          </p:cNvGraphicFramePr>
          <p:nvPr/>
        </p:nvGraphicFramePr>
        <p:xfrm>
          <a:off x="548640" y="1664208"/>
          <a:ext cx="11082528" cy="4242816"/>
        </p:xfrm>
        <a:graphic>
          <a:graphicData uri="http://schemas.openxmlformats.org/drawingml/2006/table">
            <a:tbl>
              <a:tblPr firstRow="1" bandRow="1">
                <a:tableStyleId>{5C22544A-7EE6-4342-B048-85BDC9FD1C3A}</a:tableStyleId>
              </a:tblPr>
              <a:tblGrid>
                <a:gridCol w="685800"/>
                <a:gridCol w="4251960"/>
                <a:gridCol w="1554480"/>
                <a:gridCol w="548640"/>
                <a:gridCol w="4041648"/>
              </a:tblGrid>
              <a:tr h="530352">
                <a:tc>
                  <a:txBody>
                    <a:bodyPr/>
                    <a:lstStyle/>
                    <a:p>
                      <a:pPr>
                        <a:lnSpc>
                          <a:spcPct val="104000"/>
                        </a:lnSpc>
                        <a:spcAft>
                          <a:spcPts val="0"/>
                        </a:spcAft>
                      </a:pPr>
                      <a:r>
                        <a:rPr sz="1450" b="1">
                          <a:solidFill>
                            <a:srgbClr val="FFFFFF"/>
                          </a:solidFill>
                          <a:latin typeface="Arial"/>
                        </a:rPr>
                        <a:t>#</a:t>
                      </a:r>
                    </a:p>
                  </a:txBody>
                  <a:tcPr marL="91440" marR="73152" marT="64008" marB="36576" anchor="ctr">
                    <a:solidFill>
                      <a:srgbClr val="16191D"/>
                    </a:solidFill>
                  </a:tcPr>
                </a:tc>
                <a:tc>
                  <a:txBody>
                    <a:bodyPr/>
                    <a:lstStyle/>
                    <a:p>
                      <a:pPr>
                        <a:lnSpc>
                          <a:spcPct val="104000"/>
                        </a:lnSpc>
                        <a:spcAft>
                          <a:spcPts val="0"/>
                        </a:spcAft>
                      </a:pPr>
                      <a:r>
                        <a:rPr sz="1450" b="1">
                          <a:solidFill>
                            <a:srgbClr val="FFFFFF"/>
                          </a:solidFill>
                          <a:latin typeface="Arial"/>
                        </a:rPr>
                        <a:t>Work</a:t>
                      </a:r>
                    </a:p>
                  </a:txBody>
                  <a:tcPr marL="91440" marR="73152" marT="64008" marB="36576" anchor="ctr">
                    <a:solidFill>
                      <a:srgbClr val="16191D"/>
                    </a:solidFill>
                  </a:tcPr>
                </a:tc>
                <a:tc>
                  <a:txBody>
                    <a:bodyPr/>
                    <a:lstStyle/>
                    <a:p>
                      <a:pPr>
                        <a:lnSpc>
                          <a:spcPct val="104000"/>
                        </a:lnSpc>
                        <a:spcAft>
                          <a:spcPts val="0"/>
                        </a:spcAft>
                      </a:pPr>
                      <a:r>
                        <a:rPr sz="1450" b="1">
                          <a:solidFill>
                            <a:srgbClr val="FFFFFF"/>
                          </a:solidFill>
                          <a:latin typeface="Arial"/>
                        </a:rPr>
                        <a:t>Owner</a:t>
                      </a:r>
                    </a:p>
                  </a:txBody>
                  <a:tcPr marL="91440" marR="73152" marT="64008" marB="36576" anchor="ctr">
                    <a:solidFill>
                      <a:srgbClr val="16191D"/>
                    </a:solidFill>
                  </a:tcPr>
                </a:tc>
                <a:tc>
                  <a:txBody>
                    <a:bodyPr/>
                    <a:lstStyle/>
                    <a:p>
                      <a:pPr>
                        <a:lnSpc>
                          <a:spcPct val="104000"/>
                        </a:lnSpc>
                        <a:spcAft>
                          <a:spcPts val="0"/>
                        </a:spcAft>
                      </a:pPr>
                      <a:r>
                        <a:rPr sz="1450" b="1">
                          <a:solidFill>
                            <a:srgbClr val="FFFFFF"/>
                          </a:solidFill>
                          <a:latin typeface="Arial"/>
                        </a:rPr>
                        <a:t>Pts</a:t>
                      </a:r>
                    </a:p>
                  </a:txBody>
                  <a:tcPr marL="91440" marR="73152" marT="64008" marB="36576" anchor="ctr">
                    <a:solidFill>
                      <a:srgbClr val="16191D"/>
                    </a:solidFill>
                  </a:tcPr>
                </a:tc>
                <a:tc>
                  <a:txBody>
                    <a:bodyPr/>
                    <a:lstStyle/>
                    <a:p>
                      <a:pPr>
                        <a:lnSpc>
                          <a:spcPct val="104000"/>
                        </a:lnSpc>
                        <a:spcAft>
                          <a:spcPts val="0"/>
                        </a:spcAft>
                      </a:pPr>
                      <a:r>
                        <a:rPr sz="1450" b="1">
                          <a:solidFill>
                            <a:srgbClr val="FFFFFF"/>
                          </a:solidFill>
                          <a:latin typeface="Arial"/>
                        </a:rPr>
                        <a:t>Milestone / status</a:t>
                      </a:r>
                    </a:p>
                  </a:txBody>
                  <a:tcPr marL="91440" marR="73152" marT="64008" marB="36576" anchor="ctr">
                    <a:solidFill>
                      <a:srgbClr val="16191D"/>
                    </a:solidFill>
                  </a:tcPr>
                </a:tc>
              </a:tr>
              <a:tr h="530352">
                <a:tc>
                  <a:txBody>
                    <a:bodyPr/>
                    <a:lstStyle/>
                    <a:p>
                      <a:pPr>
                        <a:lnSpc>
                          <a:spcPct val="104000"/>
                        </a:lnSpc>
                        <a:spcAft>
                          <a:spcPts val="0"/>
                        </a:spcAft>
                      </a:pPr>
                      <a:r>
                        <a:rPr sz="1450" b="0">
                          <a:solidFill>
                            <a:srgbClr val="1F2328"/>
                          </a:solidFill>
                          <a:latin typeface="Arial"/>
                        </a:rPr>
                        <a:t>#31</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iOS nearby follow-up ticket</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Kaleb</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2</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Feature complete; ticket open*</a:t>
                      </a:r>
                    </a:p>
                  </a:txBody>
                  <a:tcPr marL="91440" marR="73152" marT="64008" marB="36576" anchor="ctr">
                    <a:solidFill>
                      <a:srgbClr val="F3F4F6"/>
                    </a:solidFill>
                  </a:tcPr>
                </a:tc>
              </a:tr>
              <a:tr h="530352">
                <a:tc>
                  <a:txBody>
                    <a:bodyPr/>
                    <a:lstStyle/>
                    <a:p>
                      <a:pPr>
                        <a:lnSpc>
                          <a:spcPct val="104000"/>
                        </a:lnSpc>
                        <a:spcAft>
                          <a:spcPts val="0"/>
                        </a:spcAft>
                      </a:pPr>
                      <a:r>
                        <a:rPr sz="1450" b="0">
                          <a:solidFill>
                            <a:srgbClr val="1F2328"/>
                          </a:solidFill>
                          <a:latin typeface="Arial"/>
                        </a:rPr>
                        <a:t>#33</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System, integration + user testing</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Team</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3</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Sprint 5 · open</a:t>
                      </a:r>
                    </a:p>
                  </a:txBody>
                  <a:tcPr marL="91440" marR="73152" marT="64008" marB="36576" anchor="ctr">
                    <a:solidFill>
                      <a:srgbClr val="FFFFFF"/>
                    </a:solidFill>
                  </a:tcPr>
                </a:tc>
              </a:tr>
              <a:tr h="530352">
                <a:tc>
                  <a:txBody>
                    <a:bodyPr/>
                    <a:lstStyle/>
                    <a:p>
                      <a:pPr>
                        <a:lnSpc>
                          <a:spcPct val="104000"/>
                        </a:lnSpc>
                        <a:spcAft>
                          <a:spcPts val="0"/>
                        </a:spcAft>
                      </a:pPr>
                      <a:r>
                        <a:rPr sz="1450" b="0">
                          <a:solidFill>
                            <a:srgbClr val="1F2328"/>
                          </a:solidFill>
                          <a:latin typeface="Arial"/>
                        </a:rPr>
                        <a:t>#34</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Devices + TestFlight / Play access</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Team</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3</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Sprint 5 · open</a:t>
                      </a:r>
                    </a:p>
                  </a:txBody>
                  <a:tcPr marL="91440" marR="73152" marT="64008" marB="36576" anchor="ctr">
                    <a:solidFill>
                      <a:srgbClr val="F3F4F6"/>
                    </a:solidFill>
                  </a:tcPr>
                </a:tc>
              </a:tr>
              <a:tr h="530352">
                <a:tc>
                  <a:txBody>
                    <a:bodyPr/>
                    <a:lstStyle/>
                    <a:p>
                      <a:pPr>
                        <a:lnSpc>
                          <a:spcPct val="104000"/>
                        </a:lnSpc>
                        <a:spcAft>
                          <a:spcPts val="0"/>
                        </a:spcAft>
                      </a:pPr>
                      <a:r>
                        <a:rPr sz="1450" b="0">
                          <a:solidFill>
                            <a:srgbClr val="1F2328"/>
                          </a:solidFill>
                          <a:latin typeface="Arial"/>
                        </a:rPr>
                        <a:t>#35</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Report, MoMs, slides + demo link</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Melvin / team</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2</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Sprint 5 · open</a:t>
                      </a:r>
                    </a:p>
                  </a:txBody>
                  <a:tcPr marL="91440" marR="73152" marT="64008" marB="36576" anchor="ctr">
                    <a:solidFill>
                      <a:srgbClr val="FFFFFF"/>
                    </a:solidFill>
                  </a:tcPr>
                </a:tc>
              </a:tr>
              <a:tr h="530352">
                <a:tc>
                  <a:txBody>
                    <a:bodyPr/>
                    <a:lstStyle/>
                    <a:p>
                      <a:pPr>
                        <a:lnSpc>
                          <a:spcPct val="104000"/>
                        </a:lnSpc>
                        <a:spcAft>
                          <a:spcPts val="0"/>
                        </a:spcAft>
                      </a:pPr>
                      <a:r>
                        <a:rPr sz="1450" b="0">
                          <a:solidFill>
                            <a:srgbClr val="1F2328"/>
                          </a:solidFill>
                          <a:latin typeface="Arial"/>
                        </a:rPr>
                        <a:t>#25</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Player / possession restrictions</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Kaleb</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3</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Sprint 6 · open</a:t>
                      </a:r>
                    </a:p>
                  </a:txBody>
                  <a:tcPr marL="91440" marR="73152" marT="64008" marB="36576" anchor="ctr">
                    <a:solidFill>
                      <a:srgbClr val="F3F4F6"/>
                    </a:solidFill>
                  </a:tcPr>
                </a:tc>
              </a:tr>
              <a:tr h="530352">
                <a:tc>
                  <a:txBody>
                    <a:bodyPr/>
                    <a:lstStyle/>
                    <a:p>
                      <a:pPr>
                        <a:lnSpc>
                          <a:spcPct val="104000"/>
                        </a:lnSpc>
                        <a:spcAft>
                          <a:spcPts val="0"/>
                        </a:spcAft>
                      </a:pPr>
                      <a:r>
                        <a:rPr sz="1450" b="0">
                          <a:solidFill>
                            <a:srgbClr val="1F2328"/>
                          </a:solidFill>
                          <a:latin typeface="Arial"/>
                        </a:rPr>
                        <a:t>#36</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Apple Watch workout keep-alive</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Unassigned</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3</a:t>
                      </a:r>
                    </a:p>
                  </a:txBody>
                  <a:tcPr marL="91440" marR="73152" marT="64008" marB="36576" anchor="ctr">
                    <a:solidFill>
                      <a:srgbClr val="FFFFFF"/>
                    </a:solidFill>
                  </a:tcPr>
                </a:tc>
                <a:tc>
                  <a:txBody>
                    <a:bodyPr/>
                    <a:lstStyle/>
                    <a:p>
                      <a:pPr>
                        <a:lnSpc>
                          <a:spcPct val="104000"/>
                        </a:lnSpc>
                        <a:spcAft>
                          <a:spcPts val="0"/>
                        </a:spcAft>
                      </a:pPr>
                      <a:r>
                        <a:rPr sz="1450" b="0">
                          <a:solidFill>
                            <a:srgbClr val="1F2328"/>
                          </a:solidFill>
                          <a:latin typeface="Arial"/>
                        </a:rPr>
                        <a:t>Sprint 6 · open</a:t>
                      </a:r>
                    </a:p>
                  </a:txBody>
                  <a:tcPr marL="91440" marR="73152" marT="64008" marB="36576" anchor="ctr">
                    <a:solidFill>
                      <a:srgbClr val="FFFFFF"/>
                    </a:solidFill>
                  </a:tcPr>
                </a:tc>
              </a:tr>
              <a:tr h="530352">
                <a:tc>
                  <a:txBody>
                    <a:bodyPr/>
                    <a:lstStyle/>
                    <a:p>
                      <a:pPr>
                        <a:lnSpc>
                          <a:spcPct val="104000"/>
                        </a:lnSpc>
                        <a:spcAft>
                          <a:spcPts val="0"/>
                        </a:spcAft>
                      </a:pPr>
                      <a:r>
                        <a:rPr sz="1450" b="0">
                          <a:solidFill>
                            <a:srgbClr val="1F2328"/>
                          </a:solidFill>
                          <a:latin typeface="Arial"/>
                        </a:rPr>
                        <a:t>#37</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Remove iCloud “ 2” duplicate files</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Unassigned</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1</a:t>
                      </a:r>
                    </a:p>
                  </a:txBody>
                  <a:tcPr marL="91440" marR="73152" marT="64008" marB="36576" anchor="ctr">
                    <a:solidFill>
                      <a:srgbClr val="F3F4F6"/>
                    </a:solidFill>
                  </a:tcPr>
                </a:tc>
                <a:tc>
                  <a:txBody>
                    <a:bodyPr/>
                    <a:lstStyle/>
                    <a:p>
                      <a:pPr>
                        <a:lnSpc>
                          <a:spcPct val="104000"/>
                        </a:lnSpc>
                        <a:spcAft>
                          <a:spcPts val="0"/>
                        </a:spcAft>
                      </a:pPr>
                      <a:r>
                        <a:rPr sz="1450" b="0">
                          <a:solidFill>
                            <a:srgbClr val="1F2328"/>
                          </a:solidFill>
                          <a:latin typeface="Arial"/>
                        </a:rPr>
                        <a:t>Sprint 6 · open</a:t>
                      </a:r>
                    </a:p>
                  </a:txBody>
                  <a:tcPr marL="91440" marR="73152" marT="64008" marB="36576" anchor="ctr">
                    <a:solidFill>
                      <a:srgbClr val="F3F4F6"/>
                    </a:solidFill>
                  </a:tcPr>
                </a:tc>
              </a:tr>
            </a:tbl>
          </a:graphicData>
        </a:graphic>
      </p:graphicFrame>
      <p:sp>
        <p:nvSpPr>
          <p:cNvPr id="7" name="TextBox 6"/>
          <p:cNvSpPr txBox="1"/>
          <p:nvPr/>
        </p:nvSpPr>
        <p:spPr>
          <a:xfrm>
            <a:off x="548640" y="6144768"/>
            <a:ext cx="11045952" cy="246888"/>
          </a:xfrm>
          <a:prstGeom prst="rect">
            <a:avLst/>
          </a:prstGeom>
          <a:noFill/>
        </p:spPr>
        <p:txBody>
          <a:bodyPr wrap="square" lIns="0" rIns="0" tIns="0" bIns="0">
            <a:noAutofit/>
          </a:bodyPr>
          <a:lstStyle/>
          <a:p>
            <a:pPr>
              <a:lnSpc>
                <a:spcPct val="112000"/>
              </a:lnSpc>
              <a:spcBef>
                <a:spcPts val="0"/>
              </a:spcBef>
              <a:spcAft>
                <a:spcPts val="600"/>
              </a:spcAft>
            </a:pPr>
            <a:r>
              <a:rPr sz="1200" b="0">
                <a:solidFill>
                  <a:srgbClr val="5B6573"/>
                </a:solidFill>
                <a:latin typeface="Arial"/>
              </a:rPr>
              <a:t>*Kaleb’s feature is team-confirmed done; ticket #31 is still open. Apple Watch issue #19 and platform polish remain tracked.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CLIENT MEETINGS</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Two documented meetings shaped Sprint 5</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12</a:t>
            </a:r>
          </a:p>
        </p:txBody>
      </p:sp>
      <p:sp>
        <p:nvSpPr>
          <p:cNvPr id="6" name="Rounded Rectangle 5"/>
          <p:cNvSpPr/>
          <p:nvPr/>
        </p:nvSpPr>
        <p:spPr>
          <a:xfrm>
            <a:off x="548640" y="1664208"/>
            <a:ext cx="5394960" cy="340156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847088"/>
            <a:ext cx="49560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SEPTEMBER 30</a:t>
            </a:r>
          </a:p>
        </p:txBody>
      </p:sp>
      <p:sp>
        <p:nvSpPr>
          <p:cNvPr id="8" name="TextBox 7"/>
          <p:cNvSpPr txBox="1"/>
          <p:nvPr/>
        </p:nvSpPr>
        <p:spPr>
          <a:xfrm>
            <a:off x="768096" y="2468880"/>
            <a:ext cx="4956048" cy="2487168"/>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Sprint 4 demo and planning</a:t>
            </a:r>
          </a:p>
          <a:p>
            <a:pPr>
              <a:lnSpc>
                <a:spcPct val="112000"/>
              </a:lnSpc>
              <a:spcBef>
                <a:spcPts val="0"/>
              </a:spcBef>
              <a:spcAft>
                <a:spcPts val="600"/>
              </a:spcAft>
            </a:pPr>
            <a:r>
              <a:rPr sz="1700" b="0">
                <a:solidFill>
                  <a:srgbClr val="5B6573"/>
                </a:solidFill>
                <a:latin typeface="Arial"/>
              </a:rPr>
              <a:t/>
            </a:r>
          </a:p>
          <a:p>
            <a:pPr>
              <a:lnSpc>
                <a:spcPct val="112000"/>
              </a:lnSpc>
              <a:spcBef>
                <a:spcPts val="0"/>
              </a:spcBef>
              <a:spcAft>
                <a:spcPts val="600"/>
              </a:spcAft>
            </a:pPr>
            <a:r>
              <a:rPr sz="1700" b="0">
                <a:solidFill>
                  <a:srgbClr val="5B6573"/>
                </a:solidFill>
                <a:latin typeface="Arial"/>
              </a:rPr>
              <a:t>Close the gamification gap.</a:t>
            </a:r>
          </a:p>
          <a:p>
            <a:pPr>
              <a:lnSpc>
                <a:spcPct val="112000"/>
              </a:lnSpc>
              <a:spcBef>
                <a:spcPts val="0"/>
              </a:spcBef>
              <a:spcAft>
                <a:spcPts val="600"/>
              </a:spcAft>
            </a:pPr>
            <a:r>
              <a:rPr sz="1700" b="0">
                <a:solidFill>
                  <a:srgbClr val="5B6573"/>
                </a:solidFill>
                <a:latin typeface="Arial"/>
              </a:rPr>
              <a:t>Build 1v1 on iOS/watchOS first.</a:t>
            </a:r>
          </a:p>
          <a:p>
            <a:pPr>
              <a:lnSpc>
                <a:spcPct val="112000"/>
              </a:lnSpc>
              <a:spcBef>
                <a:spcPts val="0"/>
              </a:spcBef>
              <a:spcAft>
                <a:spcPts val="600"/>
              </a:spcAft>
            </a:pPr>
            <a:r>
              <a:rPr sz="1700" b="0">
                <a:solidFill>
                  <a:srgbClr val="5B6573"/>
                </a:solidFill>
                <a:latin typeface="Arial"/>
              </a:rPr>
              <a:t>Then port it to Android/Wear OS.</a:t>
            </a:r>
          </a:p>
        </p:txBody>
      </p:sp>
      <p:sp>
        <p:nvSpPr>
          <p:cNvPr id="9" name="Rounded Rectangle 8"/>
          <p:cNvSpPr/>
          <p:nvPr/>
        </p:nvSpPr>
        <p:spPr>
          <a:xfrm>
            <a:off x="6217920" y="1664208"/>
            <a:ext cx="5394960" cy="340156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7376" y="1847088"/>
            <a:ext cx="49560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OCTOBER 14</a:t>
            </a:r>
          </a:p>
        </p:txBody>
      </p:sp>
      <p:sp>
        <p:nvSpPr>
          <p:cNvPr id="11" name="TextBox 10"/>
          <p:cNvSpPr txBox="1"/>
          <p:nvPr/>
        </p:nvSpPr>
        <p:spPr>
          <a:xfrm>
            <a:off x="6437376" y="2468880"/>
            <a:ext cx="4956048" cy="2487168"/>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Progress and 1v1 design review</a:t>
            </a:r>
          </a:p>
          <a:p>
            <a:pPr>
              <a:lnSpc>
                <a:spcPct val="112000"/>
              </a:lnSpc>
              <a:spcBef>
                <a:spcPts val="0"/>
              </a:spcBef>
              <a:spcAft>
                <a:spcPts val="600"/>
              </a:spcAft>
            </a:pPr>
            <a:r>
              <a:rPr sz="1700" b="0">
                <a:solidFill>
                  <a:srgbClr val="5B6573"/>
                </a:solidFill>
                <a:latin typeface="Arial"/>
              </a:rPr>
              <a:t/>
            </a:r>
          </a:p>
          <a:p>
            <a:pPr>
              <a:lnSpc>
                <a:spcPct val="112000"/>
              </a:lnSpc>
              <a:spcBef>
                <a:spcPts val="0"/>
              </a:spcBef>
              <a:spcAft>
                <a:spcPts val="600"/>
              </a:spcAft>
            </a:pPr>
            <a:r>
              <a:rPr sz="1700" b="0">
                <a:solidFill>
                  <a:srgbClr val="5B6573"/>
                </a:solidFill>
                <a:latin typeface="Arial"/>
              </a:rPr>
              <a:t>Keep the existing court design.</a:t>
            </a:r>
          </a:p>
          <a:p>
            <a:pPr>
              <a:lnSpc>
                <a:spcPct val="112000"/>
              </a:lnSpc>
              <a:spcBef>
                <a:spcPts val="0"/>
              </a:spcBef>
              <a:spcAft>
                <a:spcPts val="600"/>
              </a:spcAft>
            </a:pPr>
            <a:r>
              <a:rPr sz="1700" b="0">
                <a:solidFill>
                  <a:srgbClr val="5B6573"/>
                </a:solidFill>
                <a:latin typeface="Arial"/>
              </a:rPr>
              <a:t>Prioritize wrist-based scoring.</a:t>
            </a:r>
          </a:p>
          <a:p>
            <a:pPr>
              <a:lnSpc>
                <a:spcPct val="112000"/>
              </a:lnSpc>
              <a:spcBef>
                <a:spcPts val="0"/>
              </a:spcBef>
              <a:spcAft>
                <a:spcPts val="600"/>
              </a:spcAft>
            </a:pPr>
            <a:r>
              <a:rPr sz="1700" b="0">
                <a:solidFill>
                  <a:srgbClr val="5B6573"/>
                </a:solidFill>
                <a:latin typeface="Arial"/>
              </a:rPr>
              <a:t>Let players use their own phones.</a:t>
            </a:r>
          </a:p>
        </p:txBody>
      </p:sp>
      <p:sp>
        <p:nvSpPr>
          <p:cNvPr id="12" name="Rounded Rectangle 11"/>
          <p:cNvSpPr/>
          <p:nvPr/>
        </p:nvSpPr>
        <p:spPr>
          <a:xfrm>
            <a:off x="548640" y="5440680"/>
            <a:ext cx="11064240" cy="704088"/>
          </a:xfrm>
          <a:prstGeom prst="roundRect">
            <a:avLst>
              <a:gd name="adj" fmla="val 10000"/>
            </a:avLst>
          </a:prstGeom>
          <a:solidFill>
            <a:srgbClr val="FFF4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5632704"/>
            <a:ext cx="10561320" cy="384048"/>
          </a:xfrm>
          <a:prstGeom prst="rect">
            <a:avLst/>
          </a:prstGeom>
          <a:noFill/>
        </p:spPr>
        <p:txBody>
          <a:bodyPr wrap="square" lIns="0" rIns="0" tIns="0" bIns="0">
            <a:noAutofit/>
          </a:bodyPr>
          <a:lstStyle/>
          <a:p>
            <a:pPr>
              <a:lnSpc>
                <a:spcPct val="112000"/>
              </a:lnSpc>
              <a:spcBef>
                <a:spcPts val="0"/>
              </a:spcBef>
              <a:spcAft>
                <a:spcPts val="600"/>
              </a:spcAft>
            </a:pPr>
            <a:r>
              <a:rPr sz="1800" b="1">
                <a:solidFill>
                  <a:srgbClr val="9A5900"/>
                </a:solidFill>
                <a:latin typeface="Arial"/>
              </a:rPr>
              <a:t>October 28 was cancelled — it is not counted as a held client meeting.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REPORT &amp; DOCUMENTATION</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Evidence is organized for review and recording</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13</a:t>
            </a:r>
          </a:p>
        </p:txBody>
      </p:sp>
      <p:sp>
        <p:nvSpPr>
          <p:cNvPr id="6" name="Rectangle 5"/>
          <p:cNvSpPr/>
          <p:nvPr/>
        </p:nvSpPr>
        <p:spPr>
          <a:xfrm>
            <a:off x="548640" y="177393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691640"/>
            <a:ext cx="6729983" cy="978407"/>
          </a:xfrm>
          <a:prstGeom prst="rect">
            <a:avLst/>
          </a:prstGeom>
          <a:noFill/>
        </p:spPr>
        <p:txBody>
          <a:bodyPr wrap="square" lIns="0" rIns="0" tIns="0" bIns="0">
            <a:noAutofit/>
          </a:bodyPr>
          <a:lstStyle/>
          <a:p>
            <a:pPr>
              <a:lnSpc>
                <a:spcPct val="112000"/>
              </a:lnSpc>
              <a:spcBef>
                <a:spcPts val="0"/>
              </a:spcBef>
              <a:spcAft>
                <a:spcPts val="600"/>
              </a:spcAft>
            </a:pPr>
            <a:r>
              <a:rPr sz="1900" b="0">
                <a:solidFill>
                  <a:srgbClr val="1F2328"/>
                </a:solidFill>
                <a:latin typeface="Arial"/>
              </a:rPr>
              <a:t>Sprint report draft and two meeting minutes are on melvin-sprint5-docs.</a:t>
            </a:r>
          </a:p>
        </p:txBody>
      </p:sp>
      <p:sp>
        <p:nvSpPr>
          <p:cNvPr id="8" name="Rectangle 7"/>
          <p:cNvSpPr/>
          <p:nvPr/>
        </p:nvSpPr>
        <p:spPr>
          <a:xfrm>
            <a:off x="548640" y="282549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743200"/>
            <a:ext cx="6729983" cy="978407"/>
          </a:xfrm>
          <a:prstGeom prst="rect">
            <a:avLst/>
          </a:prstGeom>
          <a:noFill/>
        </p:spPr>
        <p:txBody>
          <a:bodyPr wrap="square" lIns="0" rIns="0" tIns="0" bIns="0">
            <a:noAutofit/>
          </a:bodyPr>
          <a:lstStyle/>
          <a:p>
            <a:pPr>
              <a:lnSpc>
                <a:spcPct val="112000"/>
              </a:lnSpc>
              <a:spcBef>
                <a:spcPts val="0"/>
              </a:spcBef>
              <a:spcAft>
                <a:spcPts val="600"/>
              </a:spcAft>
            </a:pPr>
            <a:r>
              <a:rPr sz="1900" b="0">
                <a:solidFill>
                  <a:srgbClr val="1F2328"/>
                </a:solidFill>
                <a:latin typeface="Arial"/>
              </a:rPr>
              <a:t>Android test screenshot, raw logs and JSON summary are saved with Sprint 5.</a:t>
            </a:r>
          </a:p>
        </p:txBody>
      </p:sp>
      <p:sp>
        <p:nvSpPr>
          <p:cNvPr id="10" name="Rectangle 9"/>
          <p:cNvSpPr/>
          <p:nvPr/>
        </p:nvSpPr>
        <p:spPr>
          <a:xfrm>
            <a:off x="548640" y="387705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3794760"/>
            <a:ext cx="6729983" cy="978407"/>
          </a:xfrm>
          <a:prstGeom prst="rect">
            <a:avLst/>
          </a:prstGeom>
          <a:noFill/>
        </p:spPr>
        <p:txBody>
          <a:bodyPr wrap="square" lIns="0" rIns="0" tIns="0" bIns="0">
            <a:noAutofit/>
          </a:bodyPr>
          <a:lstStyle/>
          <a:p>
            <a:pPr>
              <a:lnSpc>
                <a:spcPct val="112000"/>
              </a:lnSpc>
              <a:spcBef>
                <a:spcPts val="0"/>
              </a:spcBef>
              <a:spcAft>
                <a:spcPts val="600"/>
              </a:spcAft>
            </a:pPr>
            <a:r>
              <a:rPr sz="1900" b="0">
                <a:solidFill>
                  <a:srgbClr val="1F2328"/>
                </a:solidFill>
                <a:latin typeface="Arial"/>
              </a:rPr>
              <a:t>This deck includes speaker notes and follows the required video-template order.</a:t>
            </a:r>
          </a:p>
        </p:txBody>
      </p:sp>
      <p:sp>
        <p:nvSpPr>
          <p:cNvPr id="12" name="Rectangle 11"/>
          <p:cNvSpPr/>
          <p:nvPr/>
        </p:nvSpPr>
        <p:spPr>
          <a:xfrm>
            <a:off x="548640" y="4928616"/>
            <a:ext cx="91440" cy="91440"/>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4846320"/>
            <a:ext cx="6729983" cy="978407"/>
          </a:xfrm>
          <a:prstGeom prst="rect">
            <a:avLst/>
          </a:prstGeom>
          <a:noFill/>
        </p:spPr>
        <p:txBody>
          <a:bodyPr wrap="square" lIns="0" rIns="0" tIns="0" bIns="0">
            <a:noAutofit/>
          </a:bodyPr>
          <a:lstStyle/>
          <a:p>
            <a:pPr>
              <a:lnSpc>
                <a:spcPct val="112000"/>
              </a:lnSpc>
              <a:spcBef>
                <a:spcPts val="0"/>
              </a:spcBef>
              <a:spcAft>
                <a:spcPts val="600"/>
              </a:spcAft>
            </a:pPr>
            <a:r>
              <a:rPr sz="1900" b="0">
                <a:solidFill>
                  <a:srgbClr val="1F2328"/>
                </a:solidFill>
                <a:latin typeface="Arial"/>
              </a:rPr>
              <a:t>Before submission: finalize report wording and add the actual recorded video link.</a:t>
            </a:r>
          </a:p>
        </p:txBody>
      </p:sp>
      <p:sp>
        <p:nvSpPr>
          <p:cNvPr id="14" name="Rounded Rectangle 13"/>
          <p:cNvSpPr/>
          <p:nvPr/>
        </p:nvSpPr>
        <p:spPr>
          <a:xfrm>
            <a:off x="7973568" y="1691640"/>
            <a:ext cx="3611880" cy="4142232"/>
          </a:xfrm>
          <a:prstGeom prst="roundRect">
            <a:avLst>
              <a:gd name="adj" fmla="val 10000"/>
            </a:avLst>
          </a:prstGeom>
          <a:solidFill>
            <a:srgbClr val="161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7888" y="1938528"/>
            <a:ext cx="3063240" cy="320040"/>
          </a:xfrm>
          <a:prstGeom prst="rect">
            <a:avLst/>
          </a:prstGeom>
          <a:noFill/>
        </p:spPr>
        <p:txBody>
          <a:bodyPr wrap="square" lIns="0" rIns="0" tIns="0" bIns="0">
            <a:noAutofit/>
          </a:bodyPr>
          <a:lstStyle/>
          <a:p>
            <a:pPr>
              <a:lnSpc>
                <a:spcPct val="112000"/>
              </a:lnSpc>
              <a:spcBef>
                <a:spcPts val="0"/>
              </a:spcBef>
              <a:spcAft>
                <a:spcPts val="600"/>
              </a:spcAft>
            </a:pPr>
            <a:r>
              <a:rPr sz="1600" b="1">
                <a:solidFill>
                  <a:srgbClr val="FF8A00"/>
                </a:solidFill>
                <a:latin typeface="Arial"/>
              </a:rPr>
              <a:t>DELIVERABLES</a:t>
            </a:r>
          </a:p>
        </p:txBody>
      </p:sp>
      <p:sp>
        <p:nvSpPr>
          <p:cNvPr id="16" name="TextBox 15"/>
          <p:cNvSpPr txBox="1"/>
          <p:nvPr/>
        </p:nvSpPr>
        <p:spPr>
          <a:xfrm>
            <a:off x="8247888" y="2587752"/>
            <a:ext cx="3063240" cy="2697480"/>
          </a:xfrm>
          <a:prstGeom prst="rect">
            <a:avLst/>
          </a:prstGeom>
          <a:noFill/>
        </p:spPr>
        <p:txBody>
          <a:bodyPr wrap="square" lIns="0" rIns="0" tIns="0" bIns="0">
            <a:noAutofit/>
          </a:bodyPr>
          <a:lstStyle/>
          <a:p>
            <a:pPr>
              <a:lnSpc>
                <a:spcPct val="112000"/>
              </a:lnSpc>
              <a:spcBef>
                <a:spcPts val="0"/>
              </a:spcBef>
              <a:spcAft>
                <a:spcPts val="600"/>
              </a:spcAft>
            </a:pPr>
            <a:r>
              <a:rPr sz="1900" b="0">
                <a:solidFill>
                  <a:srgbClr val="FFFFFF"/>
                </a:solidFill>
                <a:latin typeface="Arial"/>
              </a:rPr>
              <a:t>Report</a:t>
            </a:r>
          </a:p>
          <a:p>
            <a:pPr>
              <a:lnSpc>
                <a:spcPct val="112000"/>
              </a:lnSpc>
              <a:spcBef>
                <a:spcPts val="0"/>
              </a:spcBef>
              <a:spcAft>
                <a:spcPts val="600"/>
              </a:spcAft>
            </a:pPr>
            <a:r>
              <a:rPr sz="1900" b="0">
                <a:solidFill>
                  <a:srgbClr val="FFFFFF"/>
                </a:solidFill>
                <a:latin typeface="Arial"/>
              </a:rPr>
              <a:t>Meeting minutes</a:t>
            </a:r>
          </a:p>
          <a:p>
            <a:pPr>
              <a:lnSpc>
                <a:spcPct val="112000"/>
              </a:lnSpc>
              <a:spcBef>
                <a:spcPts val="0"/>
              </a:spcBef>
              <a:spcAft>
                <a:spcPts val="600"/>
              </a:spcAft>
            </a:pPr>
            <a:r>
              <a:rPr sz="1900" b="0">
                <a:solidFill>
                  <a:srgbClr val="FFFFFF"/>
                </a:solidFill>
                <a:latin typeface="Arial"/>
              </a:rPr>
              <a:t>Build / test evidence</a:t>
            </a:r>
          </a:p>
          <a:p>
            <a:pPr>
              <a:lnSpc>
                <a:spcPct val="112000"/>
              </a:lnSpc>
              <a:spcBef>
                <a:spcPts val="0"/>
              </a:spcBef>
              <a:spcAft>
                <a:spcPts val="600"/>
              </a:spcAft>
            </a:pPr>
            <a:r>
              <a:rPr sz="1900" b="0">
                <a:solidFill>
                  <a:srgbClr val="FFFFFF"/>
                </a:solidFill>
                <a:latin typeface="Arial"/>
              </a:rPr>
              <a:t>Sprint5_Review.pptx</a:t>
            </a:r>
          </a:p>
          <a:p>
            <a:pPr>
              <a:lnSpc>
                <a:spcPct val="112000"/>
              </a:lnSpc>
              <a:spcBef>
                <a:spcPts val="0"/>
              </a:spcBef>
              <a:spcAft>
                <a:spcPts val="600"/>
              </a:spcAft>
            </a:pPr>
            <a:r>
              <a:rPr sz="1900" b="0">
                <a:solidFill>
                  <a:srgbClr val="FFFFFF"/>
                </a:solidFill>
                <a:latin typeface="Arial"/>
              </a:rPr>
              <a:t>Recording plan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RESPONSIBLE USE OF AI</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AI accelerated delivery; evidence sets the limits</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14</a:t>
            </a:r>
          </a:p>
        </p:txBody>
      </p:sp>
      <p:sp>
        <p:nvSpPr>
          <p:cNvPr id="6" name="Rounded Rectangle 5"/>
          <p:cNvSpPr/>
          <p:nvPr/>
        </p:nvSpPr>
        <p:spPr>
          <a:xfrm>
            <a:off x="548640" y="1691640"/>
            <a:ext cx="5394960" cy="18288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874520"/>
            <a:ext cx="49560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HOW WE USED IT</a:t>
            </a:r>
          </a:p>
        </p:txBody>
      </p:sp>
      <p:sp>
        <p:nvSpPr>
          <p:cNvPr id="8" name="TextBox 7"/>
          <p:cNvSpPr txBox="1"/>
          <p:nvPr/>
        </p:nvSpPr>
        <p:spPr>
          <a:xfrm>
            <a:off x="768096" y="2496312"/>
            <a:ext cx="4956048" cy="9144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Porting Swift behavior to Kotlin, drafting tests, diagnosing SDK/toolchain errors, and organizing this review.</a:t>
            </a:r>
          </a:p>
        </p:txBody>
      </p:sp>
      <p:sp>
        <p:nvSpPr>
          <p:cNvPr id="9" name="Rounded Rectangle 8"/>
          <p:cNvSpPr/>
          <p:nvPr/>
        </p:nvSpPr>
        <p:spPr>
          <a:xfrm>
            <a:off x="6217920" y="1691640"/>
            <a:ext cx="5394960" cy="18288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7376" y="1874520"/>
            <a:ext cx="49560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FF8A00"/>
                </a:solidFill>
                <a:latin typeface="Arial"/>
              </a:rPr>
              <a:t>WHAT HUMANS DECIDED</a:t>
            </a:r>
          </a:p>
        </p:txBody>
      </p:sp>
      <p:sp>
        <p:nvSpPr>
          <p:cNvPr id="11" name="TextBox 10"/>
          <p:cNvSpPr txBox="1"/>
          <p:nvPr/>
        </p:nvSpPr>
        <p:spPr>
          <a:xfrm>
            <a:off x="6437376" y="2496312"/>
            <a:ext cx="4956048" cy="9144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Gameplay rules, team ownership, what belongs on the watch, and what evidence is sufficient to claim completion.</a:t>
            </a:r>
          </a:p>
        </p:txBody>
      </p:sp>
      <p:sp>
        <p:nvSpPr>
          <p:cNvPr id="12" name="Rounded Rectangle 11"/>
          <p:cNvSpPr/>
          <p:nvPr/>
        </p:nvSpPr>
        <p:spPr>
          <a:xfrm>
            <a:off x="548640" y="3840480"/>
            <a:ext cx="5394960" cy="18288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4023360"/>
            <a:ext cx="49560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9A5900"/>
                </a:solidFill>
                <a:latin typeface="Arial"/>
              </a:rPr>
              <a:t>WHAT TESTS CANNOT PROVE</a:t>
            </a:r>
          </a:p>
        </p:txBody>
      </p:sp>
      <p:sp>
        <p:nvSpPr>
          <p:cNvPr id="14" name="TextBox 13"/>
          <p:cNvSpPr txBox="1"/>
          <p:nvPr/>
        </p:nvSpPr>
        <p:spPr>
          <a:xfrm>
            <a:off x="768096" y="4645152"/>
            <a:ext cx="4956048" cy="9144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Passing builds do not prove physical radio discovery, real-device usability, latency, or cross-platform interoperability.</a:t>
            </a:r>
          </a:p>
        </p:txBody>
      </p:sp>
      <p:sp>
        <p:nvSpPr>
          <p:cNvPr id="15" name="Rounded Rectangle 14"/>
          <p:cNvSpPr/>
          <p:nvPr/>
        </p:nvSpPr>
        <p:spPr>
          <a:xfrm>
            <a:off x="6217920" y="3840480"/>
            <a:ext cx="5394960" cy="182880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4023360"/>
            <a:ext cx="495604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2FA85A"/>
                </a:solidFill>
                <a:latin typeface="Arial"/>
              </a:rPr>
              <a:t>ACCOUNTABILITY</a:t>
            </a:r>
          </a:p>
        </p:txBody>
      </p:sp>
      <p:sp>
        <p:nvSpPr>
          <p:cNvPr id="17" name="TextBox 16"/>
          <p:cNvSpPr txBox="1"/>
          <p:nvPr/>
        </p:nvSpPr>
        <p:spPr>
          <a:xfrm>
            <a:off x="6437376" y="4645152"/>
            <a:ext cx="4956048" cy="91440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Review AI output, keep failed/unfinished work visible, and verify on hardware before release. The team owns the result.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ACHIEVEMENTS &amp; CHALLENGES</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Feature path delivered; validation stays visible</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15</a:t>
            </a:r>
          </a:p>
        </p:txBody>
      </p:sp>
      <p:sp>
        <p:nvSpPr>
          <p:cNvPr id="6" name="Rounded Rectangle 5"/>
          <p:cNvSpPr/>
          <p:nvPr/>
        </p:nvSpPr>
        <p:spPr>
          <a:xfrm>
            <a:off x="548640" y="1691640"/>
            <a:ext cx="5303520" cy="425196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874520"/>
            <a:ext cx="4864608" cy="457200"/>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2FA85A"/>
                </a:solidFill>
                <a:latin typeface="Arial"/>
              </a:rPr>
              <a:t>ACHIEVEMENTS</a:t>
            </a:r>
          </a:p>
        </p:txBody>
      </p:sp>
      <p:sp>
        <p:nvSpPr>
          <p:cNvPr id="8" name="TextBox 7"/>
          <p:cNvSpPr txBox="1"/>
          <p:nvPr/>
        </p:nvSpPr>
        <p:spPr>
          <a:xfrm>
            <a:off x="768096" y="2496312"/>
            <a:ext cx="4864608" cy="3337560"/>
          </a:xfrm>
          <a:prstGeom prst="rect">
            <a:avLst/>
          </a:prstGeom>
          <a:noFill/>
        </p:spPr>
        <p:txBody>
          <a:bodyPr wrap="square" lIns="0" rIns="0" tIns="0" bIns="0">
            <a:noAutofit/>
          </a:bodyPr>
          <a:lstStyle/>
          <a:p>
            <a:pPr>
              <a:lnSpc>
                <a:spcPct val="112000"/>
              </a:lnSpc>
              <a:spcBef>
                <a:spcPts val="0"/>
              </a:spcBef>
              <a:spcAft>
                <a:spcPts val="600"/>
              </a:spcAft>
            </a:pPr>
            <a:r>
              <a:rPr sz="1700" b="0">
                <a:solidFill>
                  <a:srgbClr val="5B6573"/>
                </a:solidFill>
                <a:latin typeface="Arial"/>
              </a:rPr>
              <a:t>Major training/gamification features aligned.</a:t>
            </a:r>
          </a:p>
          <a:p>
            <a:pPr>
              <a:lnSpc>
                <a:spcPct val="112000"/>
              </a:lnSpc>
              <a:spcBef>
                <a:spcPts val="0"/>
              </a:spcBef>
              <a:spcAft>
                <a:spcPts val="600"/>
              </a:spcAft>
            </a:pPr>
            <a:r>
              <a:rPr sz="1700" b="0">
                <a:solidFill>
                  <a:srgbClr val="5B6573"/>
                </a:solidFill>
                <a:latin typeface="Arial"/>
              </a:rPr>
              <a:t>1v1 on phones and watches.</a:t>
            </a:r>
          </a:p>
          <a:p>
            <a:pPr>
              <a:lnSpc>
                <a:spcPct val="112000"/>
              </a:lnSpc>
              <a:spcBef>
                <a:spcPts val="0"/>
              </a:spcBef>
              <a:spcAft>
                <a:spcPts val="600"/>
              </a:spcAft>
            </a:pPr>
            <a:r>
              <a:rPr sz="1700" b="0">
                <a:solidFill>
                  <a:srgbClr val="5B6573"/>
                </a:solidFill>
                <a:latin typeface="Arial"/>
              </a:rPr>
              <a:t>Nearby play implemented per platform.</a:t>
            </a:r>
          </a:p>
          <a:p>
            <a:pPr>
              <a:lnSpc>
                <a:spcPct val="112000"/>
              </a:lnSpc>
              <a:spcBef>
                <a:spcPts val="0"/>
              </a:spcBef>
              <a:spcAft>
                <a:spcPts val="600"/>
              </a:spcAft>
            </a:pPr>
            <a:r>
              <a:rPr sz="1700" b="0">
                <a:solidFill>
                  <a:srgbClr val="5B6573"/>
                </a:solidFill>
                <a:latin typeface="Arial"/>
              </a:rPr>
              <a:t>121 JVM + 13 emulator checks passing.</a:t>
            </a:r>
          </a:p>
        </p:txBody>
      </p:sp>
      <p:graphicFrame>
        <p:nvGraphicFramePr>
          <p:cNvPr id="9" name="Table 8"/>
          <p:cNvGraphicFramePr>
            <a:graphicFrameLocks noGrp="1"/>
          </p:cNvGraphicFramePr>
          <p:nvPr/>
        </p:nvGraphicFramePr>
        <p:xfrm>
          <a:off x="6144768" y="1755648"/>
          <a:ext cx="5486400" cy="4114800"/>
        </p:xfrm>
        <a:graphic>
          <a:graphicData uri="http://schemas.openxmlformats.org/drawingml/2006/table">
            <a:tbl>
              <a:tblPr firstRow="1" bandRow="1">
                <a:tableStyleId>{5C22544A-7EE6-4342-B048-85BDC9FD1C3A}</a:tableStyleId>
              </a:tblPr>
              <a:tblGrid>
                <a:gridCol w="2176272"/>
                <a:gridCol w="3310128"/>
              </a:tblGrid>
              <a:tr h="685800">
                <a:tc>
                  <a:txBody>
                    <a:bodyPr/>
                    <a:lstStyle/>
                    <a:p>
                      <a:pPr>
                        <a:lnSpc>
                          <a:spcPct val="104000"/>
                        </a:lnSpc>
                        <a:spcAft>
                          <a:spcPts val="0"/>
                        </a:spcAft>
                      </a:pPr>
                      <a:r>
                        <a:rPr sz="1400" b="1">
                          <a:solidFill>
                            <a:srgbClr val="FFFFFF"/>
                          </a:solidFill>
                          <a:latin typeface="Arial"/>
                        </a:rPr>
                        <a:t>Challenge</a:t>
                      </a:r>
                    </a:p>
                  </a:txBody>
                  <a:tcPr marL="91440" marR="73152" marT="64008" marB="36576" anchor="ctr">
                    <a:solidFill>
                      <a:srgbClr val="16191D"/>
                    </a:solidFill>
                  </a:tcPr>
                </a:tc>
                <a:tc>
                  <a:txBody>
                    <a:bodyPr/>
                    <a:lstStyle/>
                    <a:p>
                      <a:pPr>
                        <a:lnSpc>
                          <a:spcPct val="104000"/>
                        </a:lnSpc>
                        <a:spcAft>
                          <a:spcPts val="0"/>
                        </a:spcAft>
                      </a:pPr>
                      <a:r>
                        <a:rPr sz="1400" b="1">
                          <a:solidFill>
                            <a:srgbClr val="FFFFFF"/>
                          </a:solidFill>
                          <a:latin typeface="Arial"/>
                        </a:rPr>
                        <a:t>Response</a:t>
                      </a:r>
                    </a:p>
                  </a:txBody>
                  <a:tcPr marL="91440" marR="73152" marT="64008" marB="36576" anchor="ctr">
                    <a:solidFill>
                      <a:srgbClr val="16191D"/>
                    </a:solidFill>
                  </a:tcPr>
                </a:tc>
              </a:tr>
              <a:tr h="685800">
                <a:tc>
                  <a:txBody>
                    <a:bodyPr/>
                    <a:lstStyle/>
                    <a:p>
                      <a:pPr>
                        <a:lnSpc>
                          <a:spcPct val="104000"/>
                        </a:lnSpc>
                        <a:spcAft>
                          <a:spcPts val="0"/>
                        </a:spcAft>
                      </a:pPr>
                      <a:r>
                        <a:rPr sz="1400" b="0">
                          <a:solidFill>
                            <a:srgbClr val="1F2328"/>
                          </a:solidFill>
                          <a:latin typeface="Arial"/>
                        </a:rPr>
                        <a:t>Cross-platform feature drift</a:t>
                      </a:r>
                    </a:p>
                  </a:txBody>
                  <a:tcPr marL="91440" marR="73152" marT="64008" marB="36576" anchor="ctr">
                    <a:solidFill>
                      <a:srgbClr val="F3F4F6"/>
                    </a:solidFill>
                  </a:tcPr>
                </a:tc>
                <a:tc>
                  <a:txBody>
                    <a:bodyPr/>
                    <a:lstStyle/>
                    <a:p>
                      <a:pPr>
                        <a:lnSpc>
                          <a:spcPct val="104000"/>
                        </a:lnSpc>
                        <a:spcAft>
                          <a:spcPts val="0"/>
                        </a:spcAft>
                      </a:pPr>
                      <a:r>
                        <a:rPr sz="1400" b="0">
                          <a:solidFill>
                            <a:srgbClr val="1F2328"/>
                          </a:solidFill>
                          <a:latin typeface="Arial"/>
                        </a:rPr>
                        <a:t>Port rules + tests, not just screens</a:t>
                      </a:r>
                    </a:p>
                  </a:txBody>
                  <a:tcPr marL="91440" marR="73152" marT="64008" marB="36576" anchor="ctr">
                    <a:solidFill>
                      <a:srgbClr val="F3F4F6"/>
                    </a:solidFill>
                  </a:tcPr>
                </a:tc>
              </a:tr>
              <a:tr h="685800">
                <a:tc>
                  <a:txBody>
                    <a:bodyPr/>
                    <a:lstStyle/>
                    <a:p>
                      <a:pPr>
                        <a:lnSpc>
                          <a:spcPct val="104000"/>
                        </a:lnSpc>
                        <a:spcAft>
                          <a:spcPts val="0"/>
                        </a:spcAft>
                      </a:pPr>
                      <a:r>
                        <a:rPr sz="1400" b="0">
                          <a:solidFill>
                            <a:srgbClr val="1F2328"/>
                          </a:solidFill>
                          <a:latin typeface="Arial"/>
                        </a:rPr>
                        <a:t>Duplicate / out-of-order plays</a:t>
                      </a:r>
                    </a:p>
                  </a:txBody>
                  <a:tcPr marL="91440" marR="73152" marT="64008" marB="36576" anchor="ctr">
                    <a:solidFill>
                      <a:srgbClr val="FFFFFF"/>
                    </a:solidFill>
                  </a:tcPr>
                </a:tc>
                <a:tc>
                  <a:txBody>
                    <a:bodyPr/>
                    <a:lstStyle/>
                    <a:p>
                      <a:pPr>
                        <a:lnSpc>
                          <a:spcPct val="104000"/>
                        </a:lnSpc>
                        <a:spcAft>
                          <a:spcPts val="0"/>
                        </a:spcAft>
                      </a:pPr>
                      <a:r>
                        <a:rPr sz="1400" b="0">
                          <a:solidFill>
                            <a:srgbClr val="1F2328"/>
                          </a:solidFill>
                          <a:latin typeface="Arial"/>
                        </a:rPr>
                        <a:t>Host ordering, IDs and snapshots</a:t>
                      </a:r>
                    </a:p>
                  </a:txBody>
                  <a:tcPr marL="91440" marR="73152" marT="64008" marB="36576" anchor="ctr">
                    <a:solidFill>
                      <a:srgbClr val="FFFFFF"/>
                    </a:solidFill>
                  </a:tcPr>
                </a:tc>
              </a:tr>
              <a:tr h="685800">
                <a:tc>
                  <a:txBody>
                    <a:bodyPr/>
                    <a:lstStyle/>
                    <a:p>
                      <a:pPr>
                        <a:lnSpc>
                          <a:spcPct val="104000"/>
                        </a:lnSpc>
                        <a:spcAft>
                          <a:spcPts val="0"/>
                        </a:spcAft>
                      </a:pPr>
                      <a:r>
                        <a:rPr sz="1400" b="0">
                          <a:solidFill>
                            <a:srgbClr val="1F2328"/>
                          </a:solidFill>
                          <a:latin typeface="Arial"/>
                        </a:rPr>
                        <a:t>SDK/compiler mismatch</a:t>
                      </a:r>
                    </a:p>
                  </a:txBody>
                  <a:tcPr marL="91440" marR="73152" marT="64008" marB="36576" anchor="ctr">
                    <a:solidFill>
                      <a:srgbClr val="F3F4F6"/>
                    </a:solidFill>
                  </a:tcPr>
                </a:tc>
                <a:tc>
                  <a:txBody>
                    <a:bodyPr/>
                    <a:lstStyle/>
                    <a:p>
                      <a:pPr>
                        <a:lnSpc>
                          <a:spcPct val="104000"/>
                        </a:lnSpc>
                        <a:spcAft>
                          <a:spcPts val="0"/>
                        </a:spcAft>
                      </a:pPr>
                      <a:r>
                        <a:rPr sz="1400" b="0">
                          <a:solidFill>
                            <a:srgbClr val="1F2328"/>
                          </a:solidFill>
                          <a:latin typeface="Arial"/>
                        </a:rPr>
                        <a:t>Pin a compatible Nearby release</a:t>
                      </a:r>
                    </a:p>
                  </a:txBody>
                  <a:tcPr marL="91440" marR="73152" marT="64008" marB="36576" anchor="ctr">
                    <a:solidFill>
                      <a:srgbClr val="F3F4F6"/>
                    </a:solidFill>
                  </a:tcPr>
                </a:tc>
              </a:tr>
              <a:tr h="685800">
                <a:tc>
                  <a:txBody>
                    <a:bodyPr/>
                    <a:lstStyle/>
                    <a:p>
                      <a:pPr>
                        <a:lnSpc>
                          <a:spcPct val="104000"/>
                        </a:lnSpc>
                        <a:spcAft>
                          <a:spcPts val="0"/>
                        </a:spcAft>
                      </a:pPr>
                      <a:r>
                        <a:rPr sz="1400" b="0">
                          <a:solidFill>
                            <a:srgbClr val="1F2328"/>
                          </a:solidFill>
                          <a:latin typeface="Arial"/>
                        </a:rPr>
                        <a:t>Round-watch constraints</a:t>
                      </a:r>
                    </a:p>
                  </a:txBody>
                  <a:tcPr marL="91440" marR="73152" marT="64008" marB="36576" anchor="ctr">
                    <a:solidFill>
                      <a:srgbClr val="FFFFFF"/>
                    </a:solidFill>
                  </a:tcPr>
                </a:tc>
                <a:tc>
                  <a:txBody>
                    <a:bodyPr/>
                    <a:lstStyle/>
                    <a:p>
                      <a:pPr>
                        <a:lnSpc>
                          <a:spcPct val="104000"/>
                        </a:lnSpc>
                        <a:spcAft>
                          <a:spcPts val="0"/>
                        </a:spcAft>
                      </a:pPr>
                      <a:r>
                        <a:rPr sz="1400" b="0">
                          <a:solidFill>
                            <a:srgbClr val="1F2328"/>
                          </a:solidFill>
                          <a:latin typeface="Arial"/>
                        </a:rPr>
                        <a:t>Large controls, paging and scrolling</a:t>
                      </a:r>
                    </a:p>
                  </a:txBody>
                  <a:tcPr marL="91440" marR="73152" marT="64008" marB="36576" anchor="ctr">
                    <a:solidFill>
                      <a:srgbClr val="FFFFFF"/>
                    </a:solidFill>
                  </a:tcPr>
                </a:tc>
              </a:tr>
              <a:tr h="685800">
                <a:tc>
                  <a:txBody>
                    <a:bodyPr/>
                    <a:lstStyle/>
                    <a:p>
                      <a:pPr>
                        <a:lnSpc>
                          <a:spcPct val="104000"/>
                        </a:lnSpc>
                        <a:spcAft>
                          <a:spcPts val="0"/>
                        </a:spcAft>
                      </a:pPr>
                      <a:r>
                        <a:rPr sz="1400" b="0">
                          <a:solidFill>
                            <a:srgbClr val="1F2328"/>
                          </a:solidFill>
                          <a:latin typeface="Arial"/>
                        </a:rPr>
                        <a:t>Multi-device validation</a:t>
                      </a:r>
                    </a:p>
                  </a:txBody>
                  <a:tcPr marL="91440" marR="73152" marT="64008" marB="36576" anchor="ctr">
                    <a:solidFill>
                      <a:srgbClr val="F3F4F6"/>
                    </a:solidFill>
                  </a:tcPr>
                </a:tc>
                <a:tc>
                  <a:txBody>
                    <a:bodyPr/>
                    <a:lstStyle/>
                    <a:p>
                      <a:pPr>
                        <a:lnSpc>
                          <a:spcPct val="104000"/>
                        </a:lnSpc>
                        <a:spcAft>
                          <a:spcPts val="0"/>
                        </a:spcAft>
                      </a:pPr>
                      <a:r>
                        <a:rPr sz="1400" b="0">
                          <a:solidFill>
                            <a:srgbClr val="1F2328"/>
                          </a:solidFill>
                          <a:latin typeface="Arial"/>
                        </a:rPr>
                        <a:t>Keep Android radio QA visible</a:t>
                      </a:r>
                    </a:p>
                  </a:txBody>
                  <a:tcPr marL="91440" marR="73152" marT="64008" marB="36576" anchor="ctr">
                    <a:solidFill>
                      <a:srgbClr val="F3F4F6"/>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oAutofit/>
          </a:bodyPr>
          <a:lstStyle/>
          <a:p>
            <a:pPr>
              <a:lnSpc>
                <a:spcPct val="112000"/>
              </a:lnSpc>
              <a:spcBef>
                <a:spcPts val="0"/>
              </a:spcBef>
              <a:spcAft>
                <a:spcPts val="600"/>
              </a:spcAft>
            </a:pPr>
            <a:r>
              <a:rPr sz="1200" b="1">
                <a:solidFill>
                  <a:srgbClr val="FF8A00"/>
                </a:solidFill>
                <a:latin typeface="Arial"/>
              </a:rPr>
              <a:t>NEXT STEPS</a:t>
            </a:r>
          </a:p>
        </p:txBody>
      </p:sp>
      <p:sp>
        <p:nvSpPr>
          <p:cNvPr id="3" name="TextBox 2"/>
          <p:cNvSpPr txBox="1"/>
          <p:nvPr/>
        </p:nvSpPr>
        <p:spPr>
          <a:xfrm>
            <a:off x="548640" y="722376"/>
            <a:ext cx="11018520" cy="713232"/>
          </a:xfrm>
          <a:prstGeom prst="rect">
            <a:avLst/>
          </a:prstGeom>
          <a:noFill/>
        </p:spPr>
        <p:txBody>
          <a:bodyPr wrap="square" lIns="0" rIns="0" tIns="0" bIns="0">
            <a:noAutofit/>
          </a:bodyPr>
          <a:lstStyle/>
          <a:p>
            <a:pPr>
              <a:lnSpc>
                <a:spcPct val="112000"/>
              </a:lnSpc>
              <a:spcBef>
                <a:spcPts val="0"/>
              </a:spcBef>
              <a:spcAft>
                <a:spcPts val="600"/>
              </a:spcAft>
            </a:pPr>
            <a:r>
              <a:rPr sz="3400" b="1">
                <a:solidFill>
                  <a:srgbClr val="1F2328"/>
                </a:solidFill>
                <a:latin typeface="Arial"/>
              </a:rPr>
              <a:t>Finish acceptance, then focus Sprint 6 on reliability</a:t>
            </a:r>
          </a:p>
        </p:txBody>
      </p:sp>
      <p:sp>
        <p:nvSpPr>
          <p:cNvPr id="4" name="TextBox 3"/>
          <p:cNvSpPr txBox="1"/>
          <p:nvPr/>
        </p:nvSpPr>
        <p:spPr>
          <a:xfrm>
            <a:off x="548640" y="6510528"/>
            <a:ext cx="10698480" cy="182880"/>
          </a:xfrm>
          <a:prstGeom prst="rect">
            <a:avLst/>
          </a:prstGeom>
          <a:noFill/>
        </p:spPr>
        <p:txBody>
          <a:bodyPr wrap="square" lIns="0" rIns="0" tIns="0" bIns="0">
            <a:noAutofit/>
          </a:bodyPr>
          <a:lstStyle/>
          <a:p>
            <a:pPr>
              <a:lnSpc>
                <a:spcPct val="112000"/>
              </a:lnSpc>
              <a:spcBef>
                <a:spcPts val="0"/>
              </a:spcBef>
              <a:spcAft>
                <a:spcPts val="600"/>
              </a:spcAft>
            </a:pPr>
            <a:r>
              <a:rPr sz="1050" b="0">
                <a:solidFill>
                  <a:srgbClr val="5B6573"/>
                </a:solidFill>
                <a:latin typeface="Arial"/>
              </a:rPr>
              <a:t>CPTS 423 · TEAM 11 · SPRINT 5</a:t>
            </a:r>
          </a:p>
        </p:txBody>
      </p:sp>
      <p:sp>
        <p:nvSpPr>
          <p:cNvPr id="5" name="TextBox 4"/>
          <p:cNvSpPr txBox="1"/>
          <p:nvPr/>
        </p:nvSpPr>
        <p:spPr>
          <a:xfrm>
            <a:off x="11064240" y="6492240"/>
            <a:ext cx="548640" cy="210312"/>
          </a:xfrm>
          <a:prstGeom prst="rect">
            <a:avLst/>
          </a:prstGeom>
          <a:noFill/>
        </p:spPr>
        <p:txBody>
          <a:bodyPr wrap="square" lIns="0" rIns="0" tIns="0" bIns="0">
            <a:noAutofit/>
          </a:bodyPr>
          <a:lstStyle/>
          <a:p>
            <a:pPr algn="r">
              <a:lnSpc>
                <a:spcPct val="112000"/>
              </a:lnSpc>
              <a:spcBef>
                <a:spcPts val="0"/>
              </a:spcBef>
              <a:spcAft>
                <a:spcPts val="600"/>
              </a:spcAft>
            </a:pPr>
            <a:r>
              <a:rPr sz="1100" b="0">
                <a:solidFill>
                  <a:srgbClr val="5B6573"/>
                </a:solidFill>
                <a:latin typeface="Arial"/>
              </a:rPr>
              <a:t>16</a:t>
            </a:r>
          </a:p>
        </p:txBody>
      </p:sp>
      <p:sp>
        <p:nvSpPr>
          <p:cNvPr id="6" name="Rounded Rectangle 5"/>
          <p:cNvSpPr/>
          <p:nvPr/>
        </p:nvSpPr>
        <p:spPr>
          <a:xfrm>
            <a:off x="548640" y="1645920"/>
            <a:ext cx="11064240" cy="118872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847088"/>
            <a:ext cx="1508760" cy="411480"/>
          </a:xfrm>
          <a:prstGeom prst="rect">
            <a:avLst/>
          </a:prstGeom>
          <a:noFill/>
        </p:spPr>
        <p:txBody>
          <a:bodyPr wrap="square" lIns="0" rIns="0" tIns="0" bIns="0">
            <a:noAutofit/>
          </a:bodyPr>
          <a:lstStyle/>
          <a:p>
            <a:pPr>
              <a:lnSpc>
                <a:spcPct val="112000"/>
              </a:lnSpc>
              <a:spcBef>
                <a:spcPts val="0"/>
              </a:spcBef>
              <a:spcAft>
                <a:spcPts val="600"/>
              </a:spcAft>
            </a:pPr>
            <a:r>
              <a:rPr sz="1500" b="1">
                <a:solidFill>
                  <a:srgbClr val="FF8A00"/>
                </a:solidFill>
                <a:latin typeface="Arial"/>
              </a:rPr>
              <a:t>NOW</a:t>
            </a:r>
          </a:p>
        </p:txBody>
      </p:sp>
      <p:sp>
        <p:nvSpPr>
          <p:cNvPr id="8" name="TextBox 7"/>
          <p:cNvSpPr txBox="1"/>
          <p:nvPr/>
        </p:nvSpPr>
        <p:spPr>
          <a:xfrm>
            <a:off x="2578608" y="1819656"/>
            <a:ext cx="8668512" cy="393192"/>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1F2328"/>
                </a:solidFill>
                <a:latin typeface="Arial"/>
              </a:rPr>
              <a:t>Finalize the report and record the demo</a:t>
            </a:r>
          </a:p>
        </p:txBody>
      </p:sp>
      <p:sp>
        <p:nvSpPr>
          <p:cNvPr id="9" name="TextBox 8"/>
          <p:cNvSpPr txBox="1"/>
          <p:nvPr/>
        </p:nvSpPr>
        <p:spPr>
          <a:xfrm>
            <a:off x="2578608" y="2331720"/>
            <a:ext cx="8668512" cy="384048"/>
          </a:xfrm>
          <a:prstGeom prst="rect">
            <a:avLst/>
          </a:prstGeom>
          <a:noFill/>
        </p:spPr>
        <p:txBody>
          <a:bodyPr wrap="square" lIns="0" rIns="0" tIns="0" bIns="0">
            <a:noAutofit/>
          </a:bodyPr>
          <a:lstStyle/>
          <a:p>
            <a:pPr>
              <a:lnSpc>
                <a:spcPct val="112000"/>
              </a:lnSpc>
              <a:spcBef>
                <a:spcPts val="0"/>
              </a:spcBef>
              <a:spcAft>
                <a:spcPts val="600"/>
              </a:spcAft>
            </a:pPr>
            <a:r>
              <a:rPr sz="1600" b="0">
                <a:solidFill>
                  <a:srgbClr val="5B6573"/>
                </a:solidFill>
                <a:latin typeface="Arial"/>
              </a:rPr>
              <a:t>Android is merged in #38. Attach the evidence and add the unlisted video URL.</a:t>
            </a:r>
          </a:p>
        </p:txBody>
      </p:sp>
      <p:sp>
        <p:nvSpPr>
          <p:cNvPr id="10" name="Rounded Rectangle 9"/>
          <p:cNvSpPr/>
          <p:nvPr/>
        </p:nvSpPr>
        <p:spPr>
          <a:xfrm>
            <a:off x="548640" y="3081528"/>
            <a:ext cx="11064240" cy="118872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3282696"/>
            <a:ext cx="1508760" cy="411480"/>
          </a:xfrm>
          <a:prstGeom prst="rect">
            <a:avLst/>
          </a:prstGeom>
          <a:noFill/>
        </p:spPr>
        <p:txBody>
          <a:bodyPr wrap="square" lIns="0" rIns="0" tIns="0" bIns="0">
            <a:noAutofit/>
          </a:bodyPr>
          <a:lstStyle/>
          <a:p>
            <a:pPr>
              <a:lnSpc>
                <a:spcPct val="112000"/>
              </a:lnSpc>
              <a:spcBef>
                <a:spcPts val="0"/>
              </a:spcBef>
              <a:spcAft>
                <a:spcPts val="600"/>
              </a:spcAft>
            </a:pPr>
            <a:r>
              <a:rPr sz="1500" b="1">
                <a:solidFill>
                  <a:srgbClr val="FF8A00"/>
                </a:solidFill>
                <a:latin typeface="Arial"/>
              </a:rPr>
              <a:t>NEXT</a:t>
            </a:r>
          </a:p>
        </p:txBody>
      </p:sp>
      <p:sp>
        <p:nvSpPr>
          <p:cNvPr id="12" name="TextBox 11"/>
          <p:cNvSpPr txBox="1"/>
          <p:nvPr/>
        </p:nvSpPr>
        <p:spPr>
          <a:xfrm>
            <a:off x="2578608" y="3255264"/>
            <a:ext cx="8668512" cy="393192"/>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1F2328"/>
                </a:solidFill>
                <a:latin typeface="Arial"/>
              </a:rPr>
              <a:t>Validate Android nearby on devices</a:t>
            </a:r>
          </a:p>
        </p:txBody>
      </p:sp>
      <p:sp>
        <p:nvSpPr>
          <p:cNvPr id="13" name="TextBox 12"/>
          <p:cNvSpPr txBox="1"/>
          <p:nvPr/>
        </p:nvSpPr>
        <p:spPr>
          <a:xfrm>
            <a:off x="2578608" y="3767328"/>
            <a:ext cx="8668512" cy="384048"/>
          </a:xfrm>
          <a:prstGeom prst="rect">
            <a:avLst/>
          </a:prstGeom>
          <a:noFill/>
        </p:spPr>
        <p:txBody>
          <a:bodyPr wrap="square" lIns="0" rIns="0" tIns="0" bIns="0">
            <a:noAutofit/>
          </a:bodyPr>
          <a:lstStyle/>
          <a:p>
            <a:pPr>
              <a:lnSpc>
                <a:spcPct val="112000"/>
              </a:lnSpc>
              <a:spcBef>
                <a:spcPts val="0"/>
              </a:spcBef>
              <a:spcAft>
                <a:spcPts val="600"/>
              </a:spcAft>
            </a:pPr>
            <a:r>
              <a:rPr sz="1600" b="0">
                <a:solidFill>
                  <a:srgbClr val="5B6573"/>
                </a:solidFill>
                <a:latin typeface="Arial"/>
              </a:rPr>
              <a:t>Test Android phones + watches; measure latency and collect feedback (#33–34).</a:t>
            </a:r>
          </a:p>
        </p:txBody>
      </p:sp>
      <p:sp>
        <p:nvSpPr>
          <p:cNvPr id="14" name="Rounded Rectangle 13"/>
          <p:cNvSpPr/>
          <p:nvPr/>
        </p:nvSpPr>
        <p:spPr>
          <a:xfrm>
            <a:off x="548640" y="4517136"/>
            <a:ext cx="11064240" cy="118872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8" y="4718304"/>
            <a:ext cx="1508760" cy="411480"/>
          </a:xfrm>
          <a:prstGeom prst="rect">
            <a:avLst/>
          </a:prstGeom>
          <a:noFill/>
        </p:spPr>
        <p:txBody>
          <a:bodyPr wrap="square" lIns="0" rIns="0" tIns="0" bIns="0">
            <a:noAutofit/>
          </a:bodyPr>
          <a:lstStyle/>
          <a:p>
            <a:pPr>
              <a:lnSpc>
                <a:spcPct val="112000"/>
              </a:lnSpc>
              <a:spcBef>
                <a:spcPts val="0"/>
              </a:spcBef>
              <a:spcAft>
                <a:spcPts val="600"/>
              </a:spcAft>
            </a:pPr>
            <a:r>
              <a:rPr sz="1500" b="1">
                <a:solidFill>
                  <a:srgbClr val="FF8A00"/>
                </a:solidFill>
                <a:latin typeface="Arial"/>
              </a:rPr>
              <a:t>SPRINT 6</a:t>
            </a:r>
          </a:p>
        </p:txBody>
      </p:sp>
      <p:sp>
        <p:nvSpPr>
          <p:cNvPr id="16" name="TextBox 15"/>
          <p:cNvSpPr txBox="1"/>
          <p:nvPr/>
        </p:nvSpPr>
        <p:spPr>
          <a:xfrm>
            <a:off x="2578608" y="4690872"/>
            <a:ext cx="8668512" cy="393192"/>
          </a:xfrm>
          <a:prstGeom prst="rect">
            <a:avLst/>
          </a:prstGeom>
          <a:noFill/>
        </p:spPr>
        <p:txBody>
          <a:bodyPr wrap="square" lIns="0" rIns="0" tIns="0" bIns="0">
            <a:noAutofit/>
          </a:bodyPr>
          <a:lstStyle/>
          <a:p>
            <a:pPr>
              <a:lnSpc>
                <a:spcPct val="112000"/>
              </a:lnSpc>
              <a:spcBef>
                <a:spcPts val="0"/>
              </a:spcBef>
              <a:spcAft>
                <a:spcPts val="600"/>
              </a:spcAft>
            </a:pPr>
            <a:r>
              <a:rPr sz="2000" b="1">
                <a:solidFill>
                  <a:srgbClr val="1F2328"/>
                </a:solidFill>
                <a:latin typeface="Arial"/>
              </a:rPr>
              <a:t>Refine controls and handoff</a:t>
            </a:r>
          </a:p>
        </p:txBody>
      </p:sp>
      <p:sp>
        <p:nvSpPr>
          <p:cNvPr id="17" name="TextBox 16"/>
          <p:cNvSpPr txBox="1"/>
          <p:nvPr/>
        </p:nvSpPr>
        <p:spPr>
          <a:xfrm>
            <a:off x="2578608" y="5202936"/>
            <a:ext cx="8668512" cy="384048"/>
          </a:xfrm>
          <a:prstGeom prst="rect">
            <a:avLst/>
          </a:prstGeom>
          <a:noFill/>
        </p:spPr>
        <p:txBody>
          <a:bodyPr wrap="square" lIns="0" rIns="0" tIns="0" bIns="0">
            <a:noAutofit/>
          </a:bodyPr>
          <a:lstStyle/>
          <a:p>
            <a:pPr>
              <a:lnSpc>
                <a:spcPct val="112000"/>
              </a:lnSpc>
              <a:spcBef>
                <a:spcPts val="0"/>
              </a:spcBef>
              <a:spcAft>
                <a:spcPts val="600"/>
              </a:spcAft>
            </a:pPr>
            <a:r>
              <a:rPr sz="1600" b="0">
                <a:solidFill>
                  <a:srgbClr val="5B6573"/>
                </a:solidFill>
                <a:latin typeface="Arial"/>
              </a:rPr>
              <a:t>Possession rules (#25), Apple Watch keep-alive (#36), duplicate-file cleanup (#37), final regression and docs.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91D"/>
        </a:solidFill>
        <a:effectLst/>
      </p:bgPr>
    </p:bg>
    <p:spTree>
      <p:nvGrpSpPr>
        <p:cNvPr id="1" name=""/>
        <p:cNvGrpSpPr/>
        <p:nvPr/>
      </p:nvGrpSpPr>
      <p:grpSpPr/>
      <p:sp>
        <p:nvSpPr>
          <p:cNvPr id="2" name="TextBox 1"/>
          <p:cNvSpPr txBox="1"/>
          <p:nvPr/>
        </p:nvSpPr>
        <p:spPr>
          <a:xfrm>
            <a:off x="731520" y="1024128"/>
            <a:ext cx="10698480" cy="1005840"/>
          </a:xfrm>
          <a:prstGeom prst="rect">
            <a:avLst/>
          </a:prstGeom>
          <a:noFill/>
        </p:spPr>
        <p:txBody>
          <a:bodyPr wrap="square" lIns="0" rIns="0" tIns="0" bIns="0">
            <a:noAutofit/>
          </a:bodyPr>
          <a:lstStyle/>
          <a:p>
            <a:pPr>
              <a:lnSpc>
                <a:spcPct val="112000"/>
              </a:lnSpc>
              <a:spcBef>
                <a:spcPts val="0"/>
              </a:spcBef>
              <a:spcAft>
                <a:spcPts val="600"/>
              </a:spcAft>
            </a:pPr>
            <a:r>
              <a:rPr sz="6000" b="1">
                <a:solidFill>
                  <a:srgbClr val="FFFFFF"/>
                </a:solidFill>
                <a:latin typeface="Arial"/>
              </a:rPr>
              <a:t>Thank you</a:t>
            </a:r>
          </a:p>
        </p:txBody>
      </p:sp>
      <p:sp>
        <p:nvSpPr>
          <p:cNvPr id="3" name="Rectangle 2"/>
          <p:cNvSpPr/>
          <p:nvPr/>
        </p:nvSpPr>
        <p:spPr>
          <a:xfrm>
            <a:off x="731520" y="2606040"/>
            <a:ext cx="164592" cy="164592"/>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496312"/>
            <a:ext cx="10058400" cy="548640"/>
          </a:xfrm>
          <a:prstGeom prst="rect">
            <a:avLst/>
          </a:prstGeom>
          <a:noFill/>
        </p:spPr>
        <p:txBody>
          <a:bodyPr wrap="square" lIns="0" rIns="0" tIns="0" bIns="0">
            <a:noAutofit/>
          </a:bodyPr>
          <a:lstStyle/>
          <a:p>
            <a:pPr>
              <a:lnSpc>
                <a:spcPct val="112000"/>
              </a:lnSpc>
              <a:spcBef>
                <a:spcPts val="0"/>
              </a:spcBef>
              <a:spcAft>
                <a:spcPts val="600"/>
              </a:spcAft>
            </a:pPr>
            <a:r>
              <a:rPr sz="2100" b="0">
                <a:solidFill>
                  <a:srgbClr val="E5E7EB"/>
                </a:solidFill>
                <a:latin typeface="Arial"/>
              </a:rPr>
              <a:t>1v1 scorekeeping now spans phones and watches.</a:t>
            </a:r>
          </a:p>
        </p:txBody>
      </p:sp>
      <p:sp>
        <p:nvSpPr>
          <p:cNvPr id="5" name="Rectangle 4"/>
          <p:cNvSpPr/>
          <p:nvPr/>
        </p:nvSpPr>
        <p:spPr>
          <a:xfrm>
            <a:off x="731520" y="3355848"/>
            <a:ext cx="164592" cy="164592"/>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3246120"/>
            <a:ext cx="10058400" cy="548640"/>
          </a:xfrm>
          <a:prstGeom prst="rect">
            <a:avLst/>
          </a:prstGeom>
          <a:noFill/>
        </p:spPr>
        <p:txBody>
          <a:bodyPr wrap="square" lIns="0" rIns="0" tIns="0" bIns="0">
            <a:noAutofit/>
          </a:bodyPr>
          <a:lstStyle/>
          <a:p>
            <a:pPr>
              <a:lnSpc>
                <a:spcPct val="112000"/>
              </a:lnSpc>
              <a:spcBef>
                <a:spcPts val="0"/>
              </a:spcBef>
              <a:spcAft>
                <a:spcPts val="600"/>
              </a:spcAft>
            </a:pPr>
            <a:r>
              <a:rPr sz="2100" b="0">
                <a:solidFill>
                  <a:srgbClr val="E5E7EB"/>
                </a:solidFill>
                <a:latin typeface="Arial"/>
              </a:rPr>
              <a:t>Nearby play is implemented within each platform ecosystem.</a:t>
            </a:r>
          </a:p>
        </p:txBody>
      </p:sp>
      <p:sp>
        <p:nvSpPr>
          <p:cNvPr id="7" name="Rectangle 6"/>
          <p:cNvSpPr/>
          <p:nvPr/>
        </p:nvSpPr>
        <p:spPr>
          <a:xfrm>
            <a:off x="731520" y="4105656"/>
            <a:ext cx="164592" cy="164592"/>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3995928"/>
            <a:ext cx="10058400" cy="548640"/>
          </a:xfrm>
          <a:prstGeom prst="rect">
            <a:avLst/>
          </a:prstGeom>
          <a:noFill/>
        </p:spPr>
        <p:txBody>
          <a:bodyPr wrap="square" lIns="0" rIns="0" tIns="0" bIns="0">
            <a:noAutofit/>
          </a:bodyPr>
          <a:lstStyle/>
          <a:p>
            <a:pPr>
              <a:lnSpc>
                <a:spcPct val="112000"/>
              </a:lnSpc>
              <a:spcBef>
                <a:spcPts val="0"/>
              </a:spcBef>
              <a:spcAft>
                <a:spcPts val="600"/>
              </a:spcAft>
            </a:pPr>
            <a:r>
              <a:rPr sz="2100" b="0">
                <a:solidFill>
                  <a:srgbClr val="E5E7EB"/>
                </a:solidFill>
                <a:latin typeface="Arial"/>
              </a:rPr>
              <a:t>Android checks pass; physical Nearby QA and rollout are next.</a:t>
            </a:r>
          </a:p>
        </p:txBody>
      </p:sp>
      <p:sp>
        <p:nvSpPr>
          <p:cNvPr id="9" name="TextBox 8"/>
          <p:cNvSpPr txBox="1"/>
          <p:nvPr/>
        </p:nvSpPr>
        <p:spPr>
          <a:xfrm>
            <a:off x="731520" y="5157216"/>
            <a:ext cx="10744200" cy="411480"/>
          </a:xfrm>
          <a:prstGeom prst="rect">
            <a:avLst/>
          </a:prstGeom>
          <a:noFill/>
        </p:spPr>
        <p:txBody>
          <a:bodyPr wrap="square" lIns="0" rIns="0" tIns="0" bIns="0">
            <a:noAutofit/>
          </a:bodyPr>
          <a:lstStyle/>
          <a:p>
            <a:pPr>
              <a:lnSpc>
                <a:spcPct val="112000"/>
              </a:lnSpc>
              <a:spcBef>
                <a:spcPts val="0"/>
              </a:spcBef>
              <a:spcAft>
                <a:spcPts val="600"/>
              </a:spcAft>
            </a:pPr>
            <a:r>
              <a:rPr sz="1900" b="1">
                <a:solidFill>
                  <a:srgbClr val="FF8A00"/>
                </a:solidFill>
                <a:latin typeface="Arial"/>
              </a:rPr>
              <a:t>Thanks to Mike Niehl and Preston David at Squatch Sports.</a:t>
            </a:r>
          </a:p>
        </p:txBody>
      </p:sp>
      <p:sp>
        <p:nvSpPr>
          <p:cNvPr id="10" name="TextBox 9"/>
          <p:cNvSpPr txBox="1"/>
          <p:nvPr/>
        </p:nvSpPr>
        <p:spPr>
          <a:xfrm>
            <a:off x="731520" y="5678424"/>
            <a:ext cx="10515600" cy="365760"/>
          </a:xfrm>
          <a:prstGeom prst="rect">
            <a:avLst/>
          </a:prstGeom>
          <a:noFill/>
        </p:spPr>
        <p:txBody>
          <a:bodyPr wrap="square" lIns="0" rIns="0" tIns="0" bIns="0">
            <a:noAutofit/>
          </a:bodyPr>
          <a:lstStyle/>
          <a:p>
            <a:pPr>
              <a:lnSpc>
                <a:spcPct val="112000"/>
              </a:lnSpc>
              <a:spcBef>
                <a:spcPts val="0"/>
              </a:spcBef>
              <a:spcAft>
                <a:spcPts val="600"/>
              </a:spcAft>
            </a:pPr>
            <a:r>
              <a:rPr sz="1800" b="0">
                <a:solidFill>
                  <a:srgbClr val="C9CED6"/>
                </a:solidFill>
                <a:latin typeface="Arial"/>
              </a:rPr>
              <a:t>Questions and feedback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Squatch Sports — Sprint 5 Review</dc:title>
  <dc:subject>CptS 423, Team 11: 1v1, nearby play, platform parity, and verification</dc:subject>
  <dc:creator>Kellam Adams; Melvin Sanare; Kaleb Kebede</dc:creator>
  <cp:lastModifiedBy>Team 11</cp:lastModifiedBy>
  <cp:revision>1</cp:revision>
  <dcterms:created xsi:type="dcterms:W3CDTF">2026-09-30T22:31:43Z</dcterms:created>
  <dcterms:modified xsi:type="dcterms:W3CDTF">2026-09-30T22:31:43Z</dcterms:modified>
  <cp:keywords>Sprint 5, Squatch Sports, Android, Wear OS, 1v1</cp:keywords>
</cp:coreProperties>
</file>