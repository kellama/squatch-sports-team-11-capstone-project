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6"/>
    <p:sldId id="267" r:id="rId5"/>
    <p:sldId id="268" r:id="rId4"/>
    <p:sldId id="269" r:id="rId3"/>
    <p:sldId id="270" r:id="rId2"/>
    <p:sldId id="271" r:id="rId22"/>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5.xml"/><Relationship Id="rId3" Type="http://schemas.openxmlformats.org/officeDocument/2006/relationships/slide" Target="slides/slide14.xml"/><Relationship Id="rId4" Type="http://schemas.openxmlformats.org/officeDocument/2006/relationships/slide" Target="slides/slide13.xml"/><Relationship Id="rId5" Type="http://schemas.openxmlformats.org/officeDocument/2006/relationships/slide" Target="slides/slide12.xml"/><Relationship Id="rId6" Type="http://schemas.openxmlformats.org/officeDocument/2006/relationships/slide" Target="slides/slide1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Kellam</a:t>
            </a:r>
          </a:p>
          <a:p>
            <a:r>
              <a:t>Target narration: ~45 seconds (plus any live demo)</a:t>
            </a:r>
          </a:p>
          <a:p/>
          <a:p>
            <a:r>
              <a:t>We are Team 11: Kellam, Melvin and Kaleb. Squatch Sports helps basketball players choose drills on a phone, log makes, misses and swishes on a watch, and review their progress. The client calls the motivation goal “hide the broccoli”: make useful training habits enjoyable. Sprint 5 adds friendly 1v1 competition and aligns the major features across Apple and Android. Melvin handled parity and the iPhone/Apple Watch foundation, Kaleb built nearby iPhone games, and Kellam ported the feature to Android and Wear OS.</a:t>
            </a:r>
          </a:p>
          <a:p/>
          <a:p>
            <a:r>
              <a:t>Sources / evidence:</a:t>
            </a:r>
          </a:p>
          <a:p>
            <a:r>
              <a:t>https://github.com/KellamA/Squatch-Sports-Team-11-Capstone-Project/blob/melvin-sprint5-docs/Sprints/Sprint_5/Sprint_Report/Sprint5_Report.md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Kellam</a:t>
            </a:r>
          </a:p>
          <a:p>
            <a:r>
              <a:t>Target narration: ~35 seconds (plus any live demo)</a:t>
            </a:r>
          </a:p>
          <a:p/>
          <a:p>
            <a:r>
              <a:t>Our goals were gamification parity, phone/watch 1v1, nearby competition and the Android/Wear OS port. The Android work is merged into main through PR 38 and issue 32 is closed. Kaleb’s nearby iPhone feature is considered tested and complete based on Kellam’s team confirmation. These are completed implementation goals; Android Nearby hardware acceptance and client rollout remain separate next steps. The two ecosystems still do not play one mixed Android–iPhone match.</a:t>
            </a:r>
          </a:p>
          <a:p/>
          <a:p>
            <a:r>
              <a:t>Sources / evidence:</a:t>
            </a:r>
          </a:p>
          <a:p>
            <a:r>
              <a:t>https://github.com/KellamA/Squatch-Sports-Team-11-Capstone-Project/blob/melvin-sprint5-docs/Sprints/Sprint_5/Sprint_Report/Sprint5_Report.md</a:t>
            </a:r>
          </a:p>
          <a:p>
            <a:r>
              <a:t>https://github.com/KellamA/Squatch-Sports-Team-11-Capstone-Project/pull/38</a:t>
            </a:r>
          </a:p>
          <a:p>
            <a:r>
              <a:t>https://github.com/KellamA/Squatch-Sports-Team-11-Capstone-Project/issues/32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Melvin</a:t>
            </a:r>
          </a:p>
          <a:p>
            <a:r>
              <a:t>Target narration: ~55 seconds (plus any live demo)</a:t>
            </a:r>
          </a:p>
          <a:p/>
          <a:p>
            <a:r>
              <a:t>The iPhone 1v1 mode lets users add friends, select Red or Blue, choose 1s/2s or 2s/3s, target score, win by two, make-it-take-it and first possession. It tracks baskets, fouls, turnovers, steals and ball possession. A match is an event log, so replay computes the state and undo removes the last event. A paused match survives closing the app; a saved finished match updates overall and head-to-head records. Possession-based restrictions on which player may log actions are planned in issue 25. The visual is a diagram, not an iOS device screenshot.</a:t>
            </a:r>
          </a:p>
          <a:p/>
          <a:p>
            <a:r>
              <a:t>Demo cue: Show setup, log a basket and foul, undo, then finish/save a short game.</a:t>
            </a:r>
          </a:p>
          <a:p/>
          <a:p>
            <a:r>
              <a:t>Sources / evidence:</a:t>
            </a:r>
          </a:p>
          <a:p>
            <a:r>
              <a:t>https://github.com/KellamA/Squatch-Sports-Team-11-Capstone-Project/pull/24</a:t>
            </a:r>
          </a:p>
          <a:p>
            <a:r>
              <a:t>https://github.com/KellamA/Squatch-Sports-Team-11-Capstone-Project/issues/28</a:t>
            </a:r>
          </a:p>
          <a:p>
            <a:r>
              <a:t>https://github.com/KellamA/Squatch-Sports-Team-11-Capstone-Project/issues/25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Melvin</a:t>
            </a:r>
          </a:p>
          <a:p>
            <a:r>
              <a:t>Target narration: ~50 seconds (plus any live demo)</a:t>
            </a:r>
          </a:p>
          <a:p/>
          <a:p>
            <a:r>
              <a:t>Gamification was split by platform in Sprint 4: Android had streaks/goals and iOS had XP. Sprint 5 brings the same major gamification rules and celebrations to both platforms. The watch has big scoring buttons, your/opponent pages, Miss, Foul, Turnover, Undo and Save. The phone applies the official rules and sends back the scoreboard. Apple Watch requests the active game on open or reconnect, fixing the waiting-screen issue found in simulator testing. Steals remain phone-only. Apple Watch workout-driven keep-alive is Sprint 6 work assigned to Kellam in this presentation.</a:t>
            </a:r>
          </a:p>
          <a:p/>
          <a:p>
            <a:r>
              <a:t>Demo cue: Show the paired Apple Watch score, log a play and show the phone update; briefly show the gamification progress.</a:t>
            </a:r>
          </a:p>
          <a:p/>
          <a:p>
            <a:r>
              <a:t>Sources / evidence:</a:t>
            </a:r>
          </a:p>
          <a:p>
            <a:r>
              <a:t>https://github.com/KellamA/Squatch-Sports-Team-11-Capstone-Project/issues/27</a:t>
            </a:r>
          </a:p>
          <a:p>
            <a:r>
              <a:t>https://github.com/KellamA/Squatch-Sports-Team-11-Capstone-Project/issues/29</a:t>
            </a:r>
          </a:p>
          <a:p>
            <a:r>
              <a:t>https://github.com/KellamA/Squatch-Sports-Team-11-Capstone-Project/issues/36</a:t>
            </a:r>
          </a:p>
          <a:p>
            <a:r>
              <a:t>https://github.com/KellamA/Squatch-Sports-Team-11-Capstone-Project/blob/melvin-sprint5-docs/Sprints/Sprint_5/Sprint_Report/Sprint5_Report.md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Kaleb</a:t>
            </a:r>
          </a:p>
          <a:p>
            <a:r>
              <a:t>Target narration: ~55 seconds (plus any live demo)</a:t>
            </a:r>
          </a:p>
          <a:p/>
          <a:p>
            <a:r>
              <a:t>Nearby iPhone play uses Apple MultipeerConnectivity. Both phones share a match ID and settings, but use opposite local player sides. Scoring, fouls, turnovers, steals, possession, undo, finish and cancel sync without echoing remote events. Each phone continues updating its own paired Apple Watch. The feature is tested and complete per Kellam’s current team confirmation; this is not a new assistant-run iOS test session. Follow-up ticket 31 is still open on GitHub and needs board reconciliation separately from the confirmed feature status. No new Swift test counts or latency measurements are claimed.</a:t>
            </a:r>
          </a:p>
          <a:p/>
          <a:p>
            <a:r>
              <a:t>Demo cue: Use Kaleb’s team-tested nearby iPhone demonstration: connect, start, log plays on both phones and show paired-watch updates.</a:t>
            </a:r>
          </a:p>
          <a:p/>
          <a:p>
            <a:r>
              <a:t>Sources / evidence:</a:t>
            </a:r>
          </a:p>
          <a:p>
            <a:r>
              <a:t>https://github.com/KellamA/Squatch-Sports-Team-11-Capstone-Project/pull/26</a:t>
            </a:r>
          </a:p>
          <a:p>
            <a:r>
              <a:t>https://github.com/KellamA/Squatch-Sports-Team-11-Capstone-Project/issues/30</a:t>
            </a:r>
          </a:p>
          <a:p>
            <a:r>
              <a:t>https://github.com/KellamA/Squatch-Sports-Team-11-Capstone-Project/issues/31</a:t>
            </a:r>
          </a:p>
          <a:p>
            <a:r>
              <a:t>https://github.com/KellamA/Squatch-Sports-Team-11-Capstone-Project/blob/melvin-sprint5-docs/Sprints/Sprint_5/Sprint_Report/Sprint5_Report.md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Kellam</a:t>
            </a:r>
          </a:p>
          <a:p>
            <a:r>
              <a:t>Target narration: ~65 seconds (plus any live demo)</a:t>
            </a:r>
          </a:p>
          <a:p/>
          <a:p>
            <a:r>
              <a:t>The Android/Wear OS port is merged in PR 38 and issue 32 is closed. Shared Kotlin code contains the rules, persistence, records and event replay, while Compose supplies friends/setup/court and watch controls. Wear OS commands are saved before sending, and persisted IDs prevent duplicate scoring. Nearby Android play uses encrypted Google Nearby Connections with code confirmation on both phones. The connecting phone hosts; guest phone/watch commands queue until the host acknowledges them. Tests cover duplicate/dropped replies, stale snapshots, reconnects and restarts. The screenshots are genuine current emulator captures of a temporary 4–2 fixture, later discarded without saving a record. The round watch is scrollable; not all controls fit at once. Android Nearby radio validation on physical phones remains pending. There is no Android-to-iPhone interoperability.</a:t>
            </a:r>
          </a:p>
          <a:p/>
          <a:p>
            <a:r>
              <a:t>Demo cue: Phone: Dashboard → 1v1 → Add Friend → Play → Start. Watch +2; phone opponent +2; watch +2 then Undo; finish/save a short game. Briefly show Nearby Players and its permission/code-confirmation flow. Allow 75–90 seconds for the live segment.</a:t>
            </a:r>
          </a:p>
          <a:p/>
          <a:p>
            <a:r>
              <a:t>Sources / evidence:</a:t>
            </a:r>
          </a:p>
          <a:p>
            <a:r>
              <a:t>https://github.com/KellamA/Squatch-Sports-Team-11-Capstone-Project/pull/38</a:t>
            </a:r>
          </a:p>
          <a:p>
            <a:r>
              <a:t>https://github.com/KellamA/Squatch-Sports-Team-11-Capstone-Project/issues/32</a:t>
            </a:r>
          </a:p>
          <a:p>
            <a:r>
              <a:t>android/README.md</a:t>
            </a:r>
          </a:p>
          <a:p>
            <a:r>
              <a:t>Sprints/Sprint_5/Testing/Android_Verification.md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Kellam</a:t>
            </a:r>
          </a:p>
          <a:p>
            <a:r>
              <a:t>Target narration: ~55 seconds (plus any live demo)</a:t>
            </a:r>
          </a:p>
          <a:p/>
          <a:p>
            <a:r>
              <a:t>The requested Gradle command, ./gradlew :app:assembleDebug :wear:assembleDebug testDebugUnitTest, passed on merged Android code and was repeated with --rerun-tasks for fresh execution. JUnit XML reports 121 passing JVM tests with no failures/errors. The last clean UI run had nine phone and four Wear OS tests passing; its actual timestamps are retained. Both debug APKs were produced. In the actual paired emulator apps, watch-to-phone scoring, phone-to-watch scoring, watch Undo and cancellation/clearing also worked. These results do not prove physical Android Nearby radio behavior or real-device latency. Client distribution/accounts and collected player feedback remain follow-ups. Kaleb’s iPhone status is team-confirmed rather than derived from these Android results. The report-ready screenshot and raw logs are linked in the notes.</a:t>
            </a:r>
          </a:p>
          <a:p/>
          <a:p>
            <a:r>
              <a:t>Sources / evidence:</a:t>
            </a:r>
          </a:p>
          <a:p>
            <a:r>
              <a:t>Sprints/Sprint_5/Testing/Android_Test_Results.png</a:t>
            </a:r>
          </a:p>
          <a:p>
            <a:r>
              <a:t>Sprints/Sprint_5/Testing/Android_Build_Test_Results.txt</a:t>
            </a:r>
          </a:p>
          <a:p>
            <a:r>
              <a:t>Sprints/Sprint_5/Testing/Android_Test_Results.json</a:t>
            </a:r>
          </a:p>
          <a:p>
            <a:r>
              <a:t>https://github.com/KellamA/Squatch-Sports-Team-11-Capstone-Project/issues/33</a:t>
            </a:r>
          </a:p>
          <a:p>
            <a:r>
              <a:t>https://github.com/KellamA/Squatch-Sports-Team-11-Capstone-Project/issues/34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Melvin</a:t>
            </a:r>
          </a:p>
          <a:p>
            <a:r>
              <a:t>Target narration: ~35 seconds (plus any live demo)</a:t>
            </a:r>
          </a:p>
          <a:p/>
          <a:p>
            <a:r>
              <a:t>All five listed implementation tickets are closed. Melvin owns the parity, iPhone 1v1 and Apple Watch implementation work: 5 + 8 + 5 story points. Kaleb’s nearby implementation is five points and is tested/complete per team confirmation. Kellam’s Android port is eight points, merged through PR 38 which closed issue 32. Pull request IDs and full acceptance details stay in these notes instead of cluttering the table.</a:t>
            </a:r>
          </a:p>
          <a:p/>
          <a:p>
            <a:r>
              <a:t>Sources / evidence:</a:t>
            </a:r>
          </a:p>
          <a:p>
            <a:r>
              <a:t>https://github.com/KellamA/Squatch-Sports-Team-11-Capstone-Project/issues/27</a:t>
            </a:r>
          </a:p>
          <a:p>
            <a:r>
              <a:t>https://github.com/KellamA/Squatch-Sports-Team-11-Capstone-Project/issues/28</a:t>
            </a:r>
          </a:p>
          <a:p>
            <a:r>
              <a:t>https://github.com/KellamA/Squatch-Sports-Team-11-Capstone-Project/issues/29</a:t>
            </a:r>
          </a:p>
          <a:p>
            <a:r>
              <a:t>https://github.com/KellamA/Squatch-Sports-Team-11-Capstone-Project/issues/30</a:t>
            </a:r>
          </a:p>
          <a:p>
            <a:r>
              <a:t>https://github.com/KellamA/Squatch-Sports-Team-11-Capstone-Project/issues/32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Melvin</a:t>
            </a:r>
          </a:p>
          <a:p>
            <a:r>
              <a:t>Target narration: ~35 seconds (plus any live demo)</a:t>
            </a:r>
          </a:p>
          <a:p/>
          <a:p>
            <a:r>
              <a:t>These Sprint 5 closeout items remain visible rather than being hidden in the notes. Issue 33 covers system/integration checks, latency and user feedback. Issue 34 covers physical devices and client TestFlight/Play internal testing. Issue 35 includes the report, meeting minutes, slides and actual recorded demo/video link; the presentation does not imply the video has been uploaded. Kaleb’s nearby feature is considered tested and complete per Kellam’s confirmation. The existing GitHub ticket 31 is still open, so its remaining presentation item is reconciling the board with that confirmed completion, not claiming the feature is untested.</a:t>
            </a:r>
          </a:p>
          <a:p/>
          <a:p>
            <a:r>
              <a:t>Sources / evidence:</a:t>
            </a:r>
          </a:p>
          <a:p>
            <a:r>
              <a:t>https://github.com/KellamA/Squatch-Sports-Team-11-Capstone-Project/issues/31</a:t>
            </a:r>
          </a:p>
          <a:p>
            <a:r>
              <a:t>https://github.com/KellamA/Squatch-Sports-Team-11-Capstone-Project/issues/33</a:t>
            </a:r>
          </a:p>
          <a:p>
            <a:r>
              <a:t>https://github.com/KellamA/Squatch-Sports-Team-11-Capstone-Project/issues/34</a:t>
            </a:r>
          </a:p>
          <a:p>
            <a:r>
              <a:t>https://github.com/KellamA/Squatch-Sports-Team-11-Capstone-Project/issues/35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Melvin</a:t>
            </a:r>
          </a:p>
          <a:p>
            <a:r>
              <a:t>Target narration: ~35 seconds (plus any live demo)</a:t>
            </a:r>
          </a:p>
          <a:p/>
          <a:p>
            <a:r>
              <a:t>The upcoming work stays visible: player/possession restrictions, Apple Watch workout keep-alive, duplicate-file cleanup and the older repeated-shot bug. Kellam owns issues 36 and 37 in this presentation as requested; the slide edit does not change GitHub assignee fields. Android/Wear OS UI, regression polish and the remaining edge cases also stay tracked under issue 20. The full Sprint 5 closeout work is on the previous slide so the backlog can be read without dense text or hiding tasks in the notes.</a:t>
            </a:r>
          </a:p>
          <a:p/>
          <a:p>
            <a:r>
              <a:t>Sources / evidence:</a:t>
            </a:r>
          </a:p>
          <a:p>
            <a:r>
              <a:t>https://github.com/KellamA/Squatch-Sports-Team-11-Capstone-Project/issues/25</a:t>
            </a:r>
          </a:p>
          <a:p>
            <a:r>
              <a:t>https://github.com/KellamA/Squatch-Sports-Team-11-Capstone-Project/issues/36</a:t>
            </a:r>
          </a:p>
          <a:p>
            <a:r>
              <a:t>https://github.com/KellamA/Squatch-Sports-Team-11-Capstone-Project/issues/37</a:t>
            </a:r>
          </a:p>
          <a:p>
            <a:r>
              <a:t>https://github.com/KellamA/Squatch-Sports-Team-11-Capstone-Project/issues/19</a:t>
            </a:r>
          </a:p>
          <a:p>
            <a:r>
              <a:t>https://github.com/KellamA/Squatch-Sports-Team-11-Capstone-Project/issues/20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Kaleb</a:t>
            </a:r>
          </a:p>
          <a:p>
            <a:r>
              <a:t>Target narration: ~35 seconds (plus any live demo)</a:t>
            </a:r>
          </a:p>
          <a:p/>
          <a:p>
            <a:r>
              <a:t>The September 30 Sprint 4 demo/planning meeting set parity and 1v1 as the next goals, with Apple implementation first and Android/Wear OS porting afterward. The October 14 review emphasized wrist input, preserving the existing court, and letting each player use their own phone. Online accounts were left for later. October 28 was cancelled and is not counted as a held meeting. Melvin’s documentation branch contains both minutes.</a:t>
            </a:r>
          </a:p>
          <a:p/>
          <a:p>
            <a:r>
              <a:t>Sources / evidence:</a:t>
            </a:r>
          </a:p>
          <a:p>
            <a:r>
              <a:t>https://github.com/KellamA/Squatch-Sports-Team-11-Capstone-Project/blob/melvin-sprint5-docs/Sprints/Sprint_5/MoM/MoM_2026-09-30.md</a:t>
            </a:r>
          </a:p>
          <a:p>
            <a:r>
              <a:t>https://github.com/KellamA/Squatch-Sports-Team-11-Capstone-Project/blob/melvin-sprint5-docs/Sprints/Sprint_5/MoM/MoM_2026-10-14.md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Kaleb</a:t>
            </a:r>
          </a:p>
          <a:p>
            <a:r>
              <a:t>Target narration: ~30 seconds (plus any live demo)</a:t>
            </a:r>
          </a:p>
          <a:p/>
          <a:p>
            <a:r>
              <a:t>The report and meeting minutes were sourced from Melvin’s documentation branch, commit 86171e9. That draft predates the Android merge and latest team confirmation, so reconcile its old pending/local-only wording before submission. The Android verification package includes the screenshot, actual Gradle logs, JSON summaries and APK hashes. The presentation and speaker scripts are ready. The recording and actual unlisted video URL still need to be produced; no course submission, upload or client release is being claimed.</a:t>
            </a:r>
          </a:p>
          <a:p/>
          <a:p>
            <a:r>
              <a:t>Sources / evidence:</a:t>
            </a:r>
          </a:p>
          <a:p>
            <a:r>
              <a:t>https://github.com/KellamA/Squatch-Sports-Team-11-Capstone-Project/blob/melvin-sprint5-docs/Sprints/Sprint_5/Sprint_Report/Sprint5_Report.md</a:t>
            </a:r>
          </a:p>
          <a:p>
            <a:r>
              <a:t>https://github.com/KellamA/Squatch-Sports-Team-11-Capstone-Project/tree/melvin-sprint5-docs/Sprints/Sprint_5/MoM</a:t>
            </a:r>
          </a:p>
          <a:p>
            <a:r>
              <a:t>Sprints/Sprint_5/Testing/Android_Verification.md</a:t>
            </a:r>
          </a:p>
          <a:p>
            <a:r>
              <a:t>https://github.com/KellamA/Squatch-Sports-Team-11-Capstone-Project/issues/35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Melvin</a:t>
            </a:r>
          </a:p>
          <a:p>
            <a:r>
              <a:t>Target narration: ~45 seconds (plus any live demo)</a:t>
            </a:r>
          </a:p>
          <a:p/>
          <a:p>
            <a:r>
              <a:t>AI coding tools accelerated Swift-to-Kotlin porting, feature implementation, tests and diagnosis of emulator/toolchain issues. AI also helped organize this deck and the evidence package. Humans chose the gameplay rules, team split, watch UX and acceptance standards. A build or generated test alone cannot prove real-device radio behavior; the team reviews code and tests it in context. Kaleb’s iPhone testing is team-provided confirmation, distinct from the Android tests reproduced here. We remain responsible for the result and for completing the outstanding hardware and release checks.</a:t>
            </a:r>
          </a:p>
          <a:p/>
          <a:p>
            <a:r>
              <a:t>Sources / evidence:</a:t>
            </a:r>
          </a:p>
          <a:p>
            <a:r>
              <a:t>https://github.com/KellamA/Squatch-Sports-Team-11-Capstone-Project/blob/melvin-sprint5-docs/Sprints/Sprint_5/Sprint_Report/Sprint5_Report.md</a:t>
            </a:r>
          </a:p>
          <a:p>
            <a:r>
              <a:t>Sprints/Sprint_5/Testing/Android_Verification.md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Team</a:t>
            </a:r>
          </a:p>
          <a:p>
            <a:r>
              <a:t>Target narration: ~45 seconds (plus any live demo)</a:t>
            </a:r>
          </a:p>
          <a:p/>
          <a:p>
            <a:r>
              <a:t>The achievement is a full path from training and rewards into phone/watch 1v1 and nearby competition within each platform. Ordering guest commands at one host, saving IDs and replaying event logs handle duplicate and delayed plays. The Android SDK mismatch was solved by pinning a Nearby release compatible with the project’s Kotlin compiler rather than bypassing checks. Round watches require large controls plus scrolling/paging; we are not claiming that every screen is validated on every device. Kaleb’s feature is complete per team confirmation. Android physical Nearby checks, latency, client distribution and collected user feedback remain the key unfinished acceptance work.</a:t>
            </a:r>
          </a:p>
          <a:p/>
          <a:p>
            <a:r>
              <a:t>Sources / evidence:</a:t>
            </a:r>
          </a:p>
          <a:p>
            <a:r>
              <a:t>https://github.com/KellamA/Squatch-Sports-Team-11-Capstone-Project/blob/melvin-sprint5-docs/Sprints/Sprint_5/Sprint_Report/Sprint5_Report.md</a:t>
            </a:r>
          </a:p>
          <a:p>
            <a:r>
              <a:t>android/README.md</a:t>
            </a:r>
          </a:p>
          <a:p>
            <a:r>
              <a:t>android/gradle/libs.versions.toml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Kellam</a:t>
            </a:r>
          </a:p>
          <a:p>
            <a:r>
              <a:t>Target narration: ~40 seconds (plus any live demo)</a:t>
            </a:r>
          </a:p>
          <a:p/>
          <a:p>
            <a:r>
              <a:t>The implementation is already merged, so the next work is acceptance and handoff rather than another Android publishing task. Test Android Nearby with two real phones and paired watches, record latency/reconnect behavior, collect actual player feedback and coordinate TestFlight/Play internal distribution with the client. Rehearse and record this sprint review, add the unlisted link and reconcile the report. Sprint 6 ownership is shown in the Kanban slide: Kaleb handles possession restrictions, and Kellam handles Apple Watch keep-alive plus repository cleanup. Mixed Android–iPhone games require a shared transport or backend and are not delivered here.</a:t>
            </a:r>
          </a:p>
          <a:p/>
          <a:p>
            <a:r>
              <a:t>Sources / evidence:</a:t>
            </a:r>
          </a:p>
          <a:p>
            <a:r>
              <a:t>https://github.com/KellamA/Squatch-Sports-Team-11-Capstone-Project/issues/33</a:t>
            </a:r>
          </a:p>
          <a:p>
            <a:r>
              <a:t>https://github.com/KellamA/Squatch-Sports-Team-11-Capstone-Project/issues/34</a:t>
            </a:r>
          </a:p>
          <a:p>
            <a:r>
              <a:t>https://github.com/KellamA/Squatch-Sports-Team-11-Capstone-Project/issues/35</a:t>
            </a:r>
          </a:p>
          <a:p>
            <a:r>
              <a:t>https://github.com/KellamA/Squatch-Sports-Team-11-Capstone-Project/issues/25</a:t>
            </a:r>
          </a:p>
          <a:p>
            <a:r>
              <a:t>https://github.com/KellamA/Squatch-Sports-Team-11-Capstone-Project/issues/36</a:t>
            </a:r>
          </a:p>
          <a:p>
            <a:r>
              <a:t>https://github.com/KellamA/Squatch-Sports-Team-11-Capstone-Project/issues/37</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Kellam</a:t>
            </a:r>
          </a:p>
          <a:p>
            <a:r>
              <a:t>Target narration: ~20 seconds (plus any live demo)</a:t>
            </a:r>
          </a:p>
          <a:p/>
          <a:p>
            <a:r>
              <a:t>Sprint 5 aligns the major feature set, adds 1v1 on phones and watches, and enables nearby games within each platform ecosystem. The Android port is merged; Kaleb’s nearby feature is tested and complete per team confirmation. Android hardware acceptance and client rollout are next. Thank you to Mike and Preston at Squatch Sports. We welcome questions and feedback.</a:t>
            </a:r>
          </a:p>
          <a:p/>
          <a:p>
            <a:r>
              <a:t>Sources / evidence:</a:t>
            </a:r>
          </a:p>
          <a:p>
            <a:r>
              <a:t>https://github.com/KellamA/Squatch-Sports-Team-11-Capstone-Project/blob/melvin-sprint5-docs/Sprints/Sprint_5/Sprint_Report/Sprint5_Report.md</a:t>
            </a:r>
          </a:p>
          <a:p>
            <a:r>
              <a:t>https://github.com/KellamA/Squatch-Sports-Team-11-Capstone-Project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191D"/>
        </a:solidFill>
        <a:effectLst/>
      </p:bgPr>
    </p:bg>
    <p:spTree>
      <p:nvGrpSpPr>
        <p:cNvPr id="1" name=""/>
        <p:cNvGrpSpPr/>
        <p:nvPr/>
      </p:nvGrpSpPr>
      <p:grpSpPr/>
      <p:sp>
        <p:nvSpPr>
          <p:cNvPr id="2" name="Rounded Rectangle 1"/>
          <p:cNvSpPr/>
          <p:nvPr/>
        </p:nvSpPr>
        <p:spPr>
          <a:xfrm>
            <a:off x="731520" y="758952"/>
            <a:ext cx="6172200" cy="98755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quatch_sports_logo.png"/>
          <p:cNvPicPr>
            <a:picLocks noChangeAspect="1"/>
          </p:cNvPicPr>
          <p:nvPr/>
        </p:nvPicPr>
        <p:blipFill>
          <a:blip r:embed="rId2"/>
          <a:stretch>
            <a:fillRect/>
          </a:stretch>
        </p:blipFill>
        <p:spPr>
          <a:xfrm>
            <a:off x="1754281" y="896112"/>
            <a:ext cx="4126677" cy="694944"/>
          </a:xfrm>
          <a:prstGeom prst="rect">
            <a:avLst/>
          </a:prstGeom>
        </p:spPr>
      </p:pic>
      <p:sp>
        <p:nvSpPr>
          <p:cNvPr id="4" name="TextBox 3"/>
          <p:cNvSpPr txBox="1"/>
          <p:nvPr/>
        </p:nvSpPr>
        <p:spPr>
          <a:xfrm>
            <a:off x="731520" y="2194560"/>
            <a:ext cx="6766560" cy="320040"/>
          </a:xfrm>
          <a:prstGeom prst="rect">
            <a:avLst/>
          </a:prstGeom>
          <a:noFill/>
        </p:spPr>
        <p:txBody>
          <a:bodyPr wrap="square" lIns="0" rIns="0" tIns="0" bIns="0">
            <a:noAutofit/>
          </a:bodyPr>
          <a:lstStyle/>
          <a:p>
            <a:pPr algn="l">
              <a:lnSpc>
                <a:spcPct val="112000"/>
              </a:lnSpc>
              <a:spcBef>
                <a:spcPts val="0"/>
              </a:spcBef>
              <a:spcAft>
                <a:spcPts val="700"/>
              </a:spcAft>
            </a:pPr>
            <a:r>
              <a:rPr sz="1400" b="1">
                <a:solidFill>
                  <a:srgbClr val="FF8A00"/>
                </a:solidFill>
                <a:latin typeface="Arial"/>
              </a:rPr>
              <a:t>CPTS 423 · TEAM 11</a:t>
            </a:r>
          </a:p>
        </p:txBody>
      </p:sp>
      <p:sp>
        <p:nvSpPr>
          <p:cNvPr id="5" name="TextBox 4"/>
          <p:cNvSpPr txBox="1"/>
          <p:nvPr/>
        </p:nvSpPr>
        <p:spPr>
          <a:xfrm>
            <a:off x="731520" y="2734056"/>
            <a:ext cx="7040880" cy="914400"/>
          </a:xfrm>
          <a:prstGeom prst="rect">
            <a:avLst/>
          </a:prstGeom>
          <a:noFill/>
        </p:spPr>
        <p:txBody>
          <a:bodyPr wrap="square" lIns="0" rIns="0" tIns="0" bIns="0">
            <a:noAutofit/>
          </a:bodyPr>
          <a:lstStyle/>
          <a:p>
            <a:pPr algn="l">
              <a:lnSpc>
                <a:spcPct val="112000"/>
              </a:lnSpc>
              <a:spcBef>
                <a:spcPts val="0"/>
              </a:spcBef>
              <a:spcAft>
                <a:spcPts val="700"/>
              </a:spcAft>
            </a:pPr>
            <a:r>
              <a:rPr sz="5400" b="1">
                <a:solidFill>
                  <a:srgbClr val="FFFFFF"/>
                </a:solidFill>
                <a:latin typeface="Arial"/>
              </a:rPr>
              <a:t>Sprint 5 Review</a:t>
            </a:r>
          </a:p>
        </p:txBody>
      </p:sp>
      <p:sp>
        <p:nvSpPr>
          <p:cNvPr id="6" name="TextBox 5"/>
          <p:cNvSpPr txBox="1"/>
          <p:nvPr/>
        </p:nvSpPr>
        <p:spPr>
          <a:xfrm>
            <a:off x="731520" y="3840480"/>
            <a:ext cx="6858000" cy="594360"/>
          </a:xfrm>
          <a:prstGeom prst="rect">
            <a:avLst/>
          </a:prstGeom>
          <a:noFill/>
        </p:spPr>
        <p:txBody>
          <a:bodyPr wrap="square" lIns="0" rIns="0" tIns="0" bIns="0">
            <a:noAutofit/>
          </a:bodyPr>
          <a:lstStyle/>
          <a:p>
            <a:pPr algn="l">
              <a:lnSpc>
                <a:spcPct val="112000"/>
              </a:lnSpc>
              <a:spcBef>
                <a:spcPts val="0"/>
              </a:spcBef>
              <a:spcAft>
                <a:spcPts val="700"/>
              </a:spcAft>
            </a:pPr>
            <a:r>
              <a:rPr sz="2800" b="0">
                <a:solidFill>
                  <a:srgbClr val="C9CED6"/>
                </a:solidFill>
                <a:latin typeface="Arial"/>
              </a:rPr>
              <a:t>Train. Track. Compete.</a:t>
            </a:r>
          </a:p>
        </p:txBody>
      </p:sp>
      <p:sp>
        <p:nvSpPr>
          <p:cNvPr id="7" name="TextBox 6"/>
          <p:cNvSpPr txBox="1"/>
          <p:nvPr/>
        </p:nvSpPr>
        <p:spPr>
          <a:xfrm>
            <a:off x="731520" y="5166360"/>
            <a:ext cx="7315200" cy="393192"/>
          </a:xfrm>
          <a:prstGeom prst="rect">
            <a:avLst/>
          </a:prstGeom>
          <a:noFill/>
        </p:spPr>
        <p:txBody>
          <a:bodyPr wrap="square" lIns="0" rIns="0" tIns="0" bIns="0">
            <a:noAutofit/>
          </a:bodyPr>
          <a:lstStyle/>
          <a:p>
            <a:pPr algn="l">
              <a:lnSpc>
                <a:spcPct val="112000"/>
              </a:lnSpc>
              <a:spcBef>
                <a:spcPts val="0"/>
              </a:spcBef>
              <a:spcAft>
                <a:spcPts val="700"/>
              </a:spcAft>
            </a:pPr>
            <a:r>
              <a:rPr sz="1800" b="0">
                <a:solidFill>
                  <a:srgbClr val="FFFFFF"/>
                </a:solidFill>
                <a:latin typeface="Arial"/>
              </a:rPr>
              <a:t>Kellam Adams · Melvin Sanare · Kaleb Kebede</a:t>
            </a:r>
          </a:p>
        </p:txBody>
      </p:sp>
      <p:sp>
        <p:nvSpPr>
          <p:cNvPr id="8" name="TextBox 7"/>
          <p:cNvSpPr txBox="1"/>
          <p:nvPr/>
        </p:nvSpPr>
        <p:spPr>
          <a:xfrm>
            <a:off x="731520" y="5687568"/>
            <a:ext cx="6400800" cy="292608"/>
          </a:xfrm>
          <a:prstGeom prst="rect">
            <a:avLst/>
          </a:prstGeom>
          <a:noFill/>
        </p:spPr>
        <p:txBody>
          <a:bodyPr wrap="square" lIns="0" rIns="0" tIns="0" bIns="0">
            <a:noAutofit/>
          </a:bodyPr>
          <a:lstStyle/>
          <a:p>
            <a:pPr algn="l">
              <a:lnSpc>
                <a:spcPct val="112000"/>
              </a:lnSpc>
              <a:spcBef>
                <a:spcPts val="0"/>
              </a:spcBef>
              <a:spcAft>
                <a:spcPts val="700"/>
              </a:spcAft>
            </a:pPr>
            <a:r>
              <a:rPr sz="1400" b="0">
                <a:solidFill>
                  <a:srgbClr val="9AA3AF"/>
                </a:solidFill>
                <a:latin typeface="Arial"/>
              </a:rPr>
              <a:t>October 1–31, 2026</a:t>
            </a:r>
          </a:p>
        </p:txBody>
      </p:sp>
      <p:sp>
        <p:nvSpPr>
          <p:cNvPr id="9" name="Rounded Rectangle 8"/>
          <p:cNvSpPr/>
          <p:nvPr/>
        </p:nvSpPr>
        <p:spPr>
          <a:xfrm>
            <a:off x="8101583" y="1554480"/>
            <a:ext cx="3429000" cy="3429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quatch_app_icon.png"/>
          <p:cNvPicPr>
            <a:picLocks noChangeAspect="1"/>
          </p:cNvPicPr>
          <p:nvPr/>
        </p:nvPicPr>
        <p:blipFill>
          <a:blip r:embed="rId3"/>
          <a:stretch>
            <a:fillRect/>
          </a:stretch>
        </p:blipFill>
        <p:spPr>
          <a:xfrm>
            <a:off x="8275320" y="1728216"/>
            <a:ext cx="3081528" cy="3081528"/>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9184"/>
            <a:ext cx="11064240" cy="256032"/>
          </a:xfrm>
          <a:prstGeom prst="rect">
            <a:avLst/>
          </a:prstGeom>
          <a:noFill/>
        </p:spPr>
        <p:txBody>
          <a:bodyPr wrap="square" lIns="0" rIns="0" tIns="0" bIns="0">
            <a:noAutofit/>
          </a:bodyPr>
          <a:lstStyle/>
          <a:p>
            <a:pPr algn="l">
              <a:lnSpc>
                <a:spcPct val="112000"/>
              </a:lnSpc>
              <a:spcBef>
                <a:spcPts val="0"/>
              </a:spcBef>
              <a:spcAft>
                <a:spcPts val="700"/>
              </a:spcAft>
            </a:pPr>
            <a:r>
              <a:rPr sz="1200" b="1">
                <a:solidFill>
                  <a:srgbClr val="FF8A00"/>
                </a:solidFill>
                <a:latin typeface="Arial"/>
              </a:rPr>
              <a:t>OBJECTIVES</a:t>
            </a:r>
          </a:p>
        </p:txBody>
      </p:sp>
      <p:sp>
        <p:nvSpPr>
          <p:cNvPr id="3" name="TextBox 2"/>
          <p:cNvSpPr txBox="1"/>
          <p:nvPr/>
        </p:nvSpPr>
        <p:spPr>
          <a:xfrm>
            <a:off x="548640" y="777240"/>
            <a:ext cx="11064240" cy="749808"/>
          </a:xfrm>
          <a:prstGeom prst="rect">
            <a:avLst/>
          </a:prstGeom>
          <a:noFill/>
        </p:spPr>
        <p:txBody>
          <a:bodyPr wrap="square" lIns="0" rIns="0" tIns="0" bIns="0">
            <a:noAutofit/>
          </a:bodyPr>
          <a:lstStyle/>
          <a:p>
            <a:pPr algn="l">
              <a:lnSpc>
                <a:spcPct val="112000"/>
              </a:lnSpc>
              <a:spcBef>
                <a:spcPts val="0"/>
              </a:spcBef>
              <a:spcAft>
                <a:spcPts val="700"/>
              </a:spcAft>
            </a:pPr>
            <a:r>
              <a:rPr sz="3400" b="1">
                <a:solidFill>
                  <a:srgbClr val="1F2328"/>
                </a:solidFill>
                <a:latin typeface="Arial"/>
              </a:rPr>
              <a:t>Same goals. Both platforms.</a:t>
            </a:r>
          </a:p>
        </p:txBody>
      </p:sp>
      <p:sp>
        <p:nvSpPr>
          <p:cNvPr id="4" name="TextBox 3"/>
          <p:cNvSpPr txBox="1"/>
          <p:nvPr/>
        </p:nvSpPr>
        <p:spPr>
          <a:xfrm>
            <a:off x="548640" y="6528816"/>
            <a:ext cx="9144000" cy="182880"/>
          </a:xfrm>
          <a:prstGeom prst="rect">
            <a:avLst/>
          </a:prstGeom>
          <a:noFill/>
        </p:spPr>
        <p:txBody>
          <a:bodyPr wrap="square" lIns="0" rIns="0" tIns="0" bIns="0">
            <a:noAutofit/>
          </a:bodyPr>
          <a:lstStyle/>
          <a:p>
            <a:pPr algn="l">
              <a:lnSpc>
                <a:spcPct val="112000"/>
              </a:lnSpc>
              <a:spcBef>
                <a:spcPts val="0"/>
              </a:spcBef>
              <a:spcAft>
                <a:spcPts val="700"/>
              </a:spcAft>
            </a:pPr>
            <a:r>
              <a:rPr sz="1000" b="0">
                <a:solidFill>
                  <a:srgbClr val="5B6573"/>
                </a:solidFill>
                <a:latin typeface="Arial"/>
              </a:rPr>
              <a:t>SQUATCH SPORTS · TEAM 11</a:t>
            </a:r>
          </a:p>
        </p:txBody>
      </p:sp>
      <p:sp>
        <p:nvSpPr>
          <p:cNvPr id="5" name="TextBox 4"/>
          <p:cNvSpPr txBox="1"/>
          <p:nvPr/>
        </p:nvSpPr>
        <p:spPr>
          <a:xfrm>
            <a:off x="11091672" y="6510528"/>
            <a:ext cx="521207" cy="201168"/>
          </a:xfrm>
          <a:prstGeom prst="rect">
            <a:avLst/>
          </a:prstGeom>
          <a:noFill/>
        </p:spPr>
        <p:txBody>
          <a:bodyPr wrap="square" lIns="0" rIns="0" tIns="0" bIns="0">
            <a:noAutofit/>
          </a:bodyPr>
          <a:lstStyle/>
          <a:p>
            <a:pPr algn="r">
              <a:lnSpc>
                <a:spcPct val="112000"/>
              </a:lnSpc>
              <a:spcBef>
                <a:spcPts val="0"/>
              </a:spcBef>
              <a:spcAft>
                <a:spcPts val="700"/>
              </a:spcAft>
            </a:pPr>
            <a:r>
              <a:rPr sz="1000" b="0">
                <a:solidFill>
                  <a:srgbClr val="5B6573"/>
                </a:solidFill>
                <a:latin typeface="Arial"/>
              </a:rPr>
              <a:t>02</a:t>
            </a:r>
          </a:p>
        </p:txBody>
      </p:sp>
      <p:sp>
        <p:nvSpPr>
          <p:cNvPr id="6" name="Rounded Rectangle 5"/>
          <p:cNvSpPr/>
          <p:nvPr/>
        </p:nvSpPr>
        <p:spPr>
          <a:xfrm>
            <a:off x="548640" y="1810512"/>
            <a:ext cx="5394960" cy="1847088"/>
          </a:xfrm>
          <a:prstGeom prst="roundRect">
            <a:avLst>
              <a:gd name="adj" fmla="val 10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2039112"/>
            <a:ext cx="731520" cy="566928"/>
          </a:xfrm>
          <a:prstGeom prst="rect">
            <a:avLst/>
          </a:prstGeom>
          <a:noFill/>
        </p:spPr>
        <p:txBody>
          <a:bodyPr wrap="square" lIns="0" rIns="0" tIns="0" bIns="0">
            <a:noAutofit/>
          </a:bodyPr>
          <a:lstStyle/>
          <a:p>
            <a:pPr algn="l">
              <a:lnSpc>
                <a:spcPct val="112000"/>
              </a:lnSpc>
              <a:spcBef>
                <a:spcPts val="0"/>
              </a:spcBef>
              <a:spcAft>
                <a:spcPts val="700"/>
              </a:spcAft>
            </a:pPr>
            <a:r>
              <a:rPr sz="3400" b="1">
                <a:solidFill>
                  <a:srgbClr val="FF8A00"/>
                </a:solidFill>
                <a:latin typeface="Arial"/>
              </a:rPr>
              <a:t>01</a:t>
            </a:r>
          </a:p>
        </p:txBody>
      </p:sp>
      <p:sp>
        <p:nvSpPr>
          <p:cNvPr id="8" name="TextBox 7"/>
          <p:cNvSpPr txBox="1"/>
          <p:nvPr/>
        </p:nvSpPr>
        <p:spPr>
          <a:xfrm>
            <a:off x="1664207" y="2029967"/>
            <a:ext cx="3977639" cy="411480"/>
          </a:xfrm>
          <a:prstGeom prst="rect">
            <a:avLst/>
          </a:prstGeom>
          <a:noFill/>
        </p:spPr>
        <p:txBody>
          <a:bodyPr wrap="square" lIns="0" rIns="0" tIns="0" bIns="0">
            <a:noAutofit/>
          </a:bodyPr>
          <a:lstStyle/>
          <a:p>
            <a:pPr algn="l">
              <a:lnSpc>
                <a:spcPct val="112000"/>
              </a:lnSpc>
              <a:spcBef>
                <a:spcPts val="0"/>
              </a:spcBef>
              <a:spcAft>
                <a:spcPts val="700"/>
              </a:spcAft>
            </a:pPr>
            <a:r>
              <a:rPr sz="2100" b="1">
                <a:solidFill>
                  <a:srgbClr val="1F2328"/>
                </a:solidFill>
                <a:latin typeface="Arial"/>
              </a:rPr>
              <a:t>Gamification parity</a:t>
            </a:r>
          </a:p>
        </p:txBody>
      </p:sp>
      <p:sp>
        <p:nvSpPr>
          <p:cNvPr id="9" name="TextBox 8"/>
          <p:cNvSpPr txBox="1"/>
          <p:nvPr/>
        </p:nvSpPr>
        <p:spPr>
          <a:xfrm>
            <a:off x="1664207" y="2615184"/>
            <a:ext cx="3950208" cy="548640"/>
          </a:xfrm>
          <a:prstGeom prst="rect">
            <a:avLst/>
          </a:prstGeom>
          <a:noFill/>
        </p:spPr>
        <p:txBody>
          <a:bodyPr wrap="square" lIns="0" rIns="0" tIns="0" bIns="0">
            <a:noAutofit/>
          </a:bodyPr>
          <a:lstStyle/>
          <a:p>
            <a:pPr algn="l">
              <a:lnSpc>
                <a:spcPct val="112000"/>
              </a:lnSpc>
              <a:spcBef>
                <a:spcPts val="0"/>
              </a:spcBef>
              <a:spcAft>
                <a:spcPts val="700"/>
              </a:spcAft>
            </a:pPr>
            <a:r>
              <a:rPr sz="1700" b="0">
                <a:solidFill>
                  <a:srgbClr val="5B6573"/>
                </a:solidFill>
                <a:latin typeface="Arial"/>
              </a:rPr>
              <a:t>Streaks, goals, XP and celebrations.</a:t>
            </a:r>
          </a:p>
        </p:txBody>
      </p:sp>
      <p:sp>
        <p:nvSpPr>
          <p:cNvPr id="10" name="TextBox 9"/>
          <p:cNvSpPr txBox="1"/>
          <p:nvPr/>
        </p:nvSpPr>
        <p:spPr>
          <a:xfrm>
            <a:off x="804672" y="3246120"/>
            <a:ext cx="2194560" cy="256032"/>
          </a:xfrm>
          <a:prstGeom prst="rect">
            <a:avLst/>
          </a:prstGeom>
          <a:noFill/>
        </p:spPr>
        <p:txBody>
          <a:bodyPr wrap="square" lIns="0" rIns="0" tIns="0" bIns="0">
            <a:noAutofit/>
          </a:bodyPr>
          <a:lstStyle/>
          <a:p>
            <a:pPr algn="l">
              <a:lnSpc>
                <a:spcPct val="112000"/>
              </a:lnSpc>
              <a:spcBef>
                <a:spcPts val="0"/>
              </a:spcBef>
              <a:spcAft>
                <a:spcPts val="700"/>
              </a:spcAft>
            </a:pPr>
            <a:r>
              <a:rPr sz="1300" b="1">
                <a:solidFill>
                  <a:srgbClr val="1F2328"/>
                </a:solidFill>
                <a:latin typeface="Arial"/>
              </a:rPr>
              <a:t>Melvin</a:t>
            </a:r>
          </a:p>
        </p:txBody>
      </p:sp>
      <p:sp>
        <p:nvSpPr>
          <p:cNvPr id="11" name="Rounded Rectangle 10"/>
          <p:cNvSpPr/>
          <p:nvPr/>
        </p:nvSpPr>
        <p:spPr>
          <a:xfrm>
            <a:off x="4187952" y="3163824"/>
            <a:ext cx="1463040" cy="356616"/>
          </a:xfrm>
          <a:prstGeom prst="roundRect">
            <a:avLst>
              <a:gd name="adj" fmla="val 10000"/>
            </a:avLst>
          </a:prstGeom>
          <a:solidFill>
            <a:srgbClr val="2FA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33672" y="3241548"/>
            <a:ext cx="1371600" cy="210312"/>
          </a:xfrm>
          <a:prstGeom prst="rect">
            <a:avLst/>
          </a:prstGeom>
          <a:noFill/>
        </p:spPr>
        <p:txBody>
          <a:bodyPr wrap="square" lIns="0" rIns="0" tIns="0" bIns="0">
            <a:noAutofit/>
          </a:bodyPr>
          <a:lstStyle/>
          <a:p>
            <a:pPr algn="ctr">
              <a:lnSpc>
                <a:spcPct val="112000"/>
              </a:lnSpc>
              <a:spcBef>
                <a:spcPts val="0"/>
              </a:spcBef>
              <a:spcAft>
                <a:spcPts val="700"/>
              </a:spcAft>
            </a:pPr>
            <a:r>
              <a:rPr sz="1100" b="1">
                <a:solidFill>
                  <a:srgbClr val="FFFFFF"/>
                </a:solidFill>
                <a:latin typeface="Arial"/>
              </a:rPr>
              <a:t>MERGED</a:t>
            </a:r>
          </a:p>
        </p:txBody>
      </p:sp>
      <p:sp>
        <p:nvSpPr>
          <p:cNvPr id="13" name="Rounded Rectangle 12"/>
          <p:cNvSpPr/>
          <p:nvPr/>
        </p:nvSpPr>
        <p:spPr>
          <a:xfrm>
            <a:off x="6217920" y="1810512"/>
            <a:ext cx="5394960" cy="1847088"/>
          </a:xfrm>
          <a:prstGeom prst="roundRect">
            <a:avLst>
              <a:gd name="adj" fmla="val 10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4808" y="2039112"/>
            <a:ext cx="731520" cy="566928"/>
          </a:xfrm>
          <a:prstGeom prst="rect">
            <a:avLst/>
          </a:prstGeom>
          <a:noFill/>
        </p:spPr>
        <p:txBody>
          <a:bodyPr wrap="square" lIns="0" rIns="0" tIns="0" bIns="0">
            <a:noAutofit/>
          </a:bodyPr>
          <a:lstStyle/>
          <a:p>
            <a:pPr algn="l">
              <a:lnSpc>
                <a:spcPct val="112000"/>
              </a:lnSpc>
              <a:spcBef>
                <a:spcPts val="0"/>
              </a:spcBef>
              <a:spcAft>
                <a:spcPts val="700"/>
              </a:spcAft>
            </a:pPr>
            <a:r>
              <a:rPr sz="3400" b="1">
                <a:solidFill>
                  <a:srgbClr val="FF8A00"/>
                </a:solidFill>
                <a:latin typeface="Arial"/>
              </a:rPr>
              <a:t>02</a:t>
            </a:r>
          </a:p>
        </p:txBody>
      </p:sp>
      <p:sp>
        <p:nvSpPr>
          <p:cNvPr id="15" name="TextBox 14"/>
          <p:cNvSpPr txBox="1"/>
          <p:nvPr/>
        </p:nvSpPr>
        <p:spPr>
          <a:xfrm>
            <a:off x="7333488" y="2029967"/>
            <a:ext cx="3977639" cy="411480"/>
          </a:xfrm>
          <a:prstGeom prst="rect">
            <a:avLst/>
          </a:prstGeom>
          <a:noFill/>
        </p:spPr>
        <p:txBody>
          <a:bodyPr wrap="square" lIns="0" rIns="0" tIns="0" bIns="0">
            <a:noAutofit/>
          </a:bodyPr>
          <a:lstStyle/>
          <a:p>
            <a:pPr algn="l">
              <a:lnSpc>
                <a:spcPct val="112000"/>
              </a:lnSpc>
              <a:spcBef>
                <a:spcPts val="0"/>
              </a:spcBef>
              <a:spcAft>
                <a:spcPts val="700"/>
              </a:spcAft>
            </a:pPr>
            <a:r>
              <a:rPr sz="2100" b="1">
                <a:solidFill>
                  <a:srgbClr val="1F2328"/>
                </a:solidFill>
                <a:latin typeface="Arial"/>
              </a:rPr>
              <a:t>Phone + watch 1v1</a:t>
            </a:r>
          </a:p>
        </p:txBody>
      </p:sp>
      <p:sp>
        <p:nvSpPr>
          <p:cNvPr id="16" name="TextBox 15"/>
          <p:cNvSpPr txBox="1"/>
          <p:nvPr/>
        </p:nvSpPr>
        <p:spPr>
          <a:xfrm>
            <a:off x="7333488" y="2615184"/>
            <a:ext cx="3950208" cy="548640"/>
          </a:xfrm>
          <a:prstGeom prst="rect">
            <a:avLst/>
          </a:prstGeom>
          <a:noFill/>
        </p:spPr>
        <p:txBody>
          <a:bodyPr wrap="square" lIns="0" rIns="0" tIns="0" bIns="0">
            <a:noAutofit/>
          </a:bodyPr>
          <a:lstStyle/>
          <a:p>
            <a:pPr algn="l">
              <a:lnSpc>
                <a:spcPct val="112000"/>
              </a:lnSpc>
              <a:spcBef>
                <a:spcPts val="0"/>
              </a:spcBef>
              <a:spcAft>
                <a:spcPts val="700"/>
              </a:spcAft>
            </a:pPr>
            <a:r>
              <a:rPr sz="1700" b="0">
                <a:solidFill>
                  <a:srgbClr val="5B6573"/>
                </a:solidFill>
                <a:latin typeface="Arial"/>
              </a:rPr>
              <a:t>Rules, scorekeeping and saved records.</a:t>
            </a:r>
          </a:p>
        </p:txBody>
      </p:sp>
      <p:sp>
        <p:nvSpPr>
          <p:cNvPr id="17" name="TextBox 16"/>
          <p:cNvSpPr txBox="1"/>
          <p:nvPr/>
        </p:nvSpPr>
        <p:spPr>
          <a:xfrm>
            <a:off x="6473952" y="3246120"/>
            <a:ext cx="2194560" cy="256032"/>
          </a:xfrm>
          <a:prstGeom prst="rect">
            <a:avLst/>
          </a:prstGeom>
          <a:noFill/>
        </p:spPr>
        <p:txBody>
          <a:bodyPr wrap="square" lIns="0" rIns="0" tIns="0" bIns="0">
            <a:noAutofit/>
          </a:bodyPr>
          <a:lstStyle/>
          <a:p>
            <a:pPr algn="l">
              <a:lnSpc>
                <a:spcPct val="112000"/>
              </a:lnSpc>
              <a:spcBef>
                <a:spcPts val="0"/>
              </a:spcBef>
              <a:spcAft>
                <a:spcPts val="700"/>
              </a:spcAft>
            </a:pPr>
            <a:r>
              <a:rPr sz="1300" b="1">
                <a:solidFill>
                  <a:srgbClr val="1F2328"/>
                </a:solidFill>
                <a:latin typeface="Arial"/>
              </a:rPr>
              <a:t>Melvin</a:t>
            </a:r>
          </a:p>
        </p:txBody>
      </p:sp>
      <p:sp>
        <p:nvSpPr>
          <p:cNvPr id="18" name="Rounded Rectangle 17"/>
          <p:cNvSpPr/>
          <p:nvPr/>
        </p:nvSpPr>
        <p:spPr>
          <a:xfrm>
            <a:off x="9857232" y="3163824"/>
            <a:ext cx="1463040" cy="356616"/>
          </a:xfrm>
          <a:prstGeom prst="roundRect">
            <a:avLst>
              <a:gd name="adj" fmla="val 10000"/>
            </a:avLst>
          </a:prstGeom>
          <a:solidFill>
            <a:srgbClr val="2FA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902952" y="3241548"/>
            <a:ext cx="1371600" cy="210312"/>
          </a:xfrm>
          <a:prstGeom prst="rect">
            <a:avLst/>
          </a:prstGeom>
          <a:noFill/>
        </p:spPr>
        <p:txBody>
          <a:bodyPr wrap="square" lIns="0" rIns="0" tIns="0" bIns="0">
            <a:noAutofit/>
          </a:bodyPr>
          <a:lstStyle/>
          <a:p>
            <a:pPr algn="ctr">
              <a:lnSpc>
                <a:spcPct val="112000"/>
              </a:lnSpc>
              <a:spcBef>
                <a:spcPts val="0"/>
              </a:spcBef>
              <a:spcAft>
                <a:spcPts val="700"/>
              </a:spcAft>
            </a:pPr>
            <a:r>
              <a:rPr sz="1100" b="1">
                <a:solidFill>
                  <a:srgbClr val="FFFFFF"/>
                </a:solidFill>
                <a:latin typeface="Arial"/>
              </a:rPr>
              <a:t>MERGED</a:t>
            </a:r>
          </a:p>
        </p:txBody>
      </p:sp>
      <p:sp>
        <p:nvSpPr>
          <p:cNvPr id="20" name="Rounded Rectangle 19"/>
          <p:cNvSpPr/>
          <p:nvPr/>
        </p:nvSpPr>
        <p:spPr>
          <a:xfrm>
            <a:off x="548640" y="3931920"/>
            <a:ext cx="5394960" cy="1847088"/>
          </a:xfrm>
          <a:prstGeom prst="roundRect">
            <a:avLst>
              <a:gd name="adj" fmla="val 10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5528" y="4160520"/>
            <a:ext cx="731520" cy="566928"/>
          </a:xfrm>
          <a:prstGeom prst="rect">
            <a:avLst/>
          </a:prstGeom>
          <a:noFill/>
        </p:spPr>
        <p:txBody>
          <a:bodyPr wrap="square" lIns="0" rIns="0" tIns="0" bIns="0">
            <a:noAutofit/>
          </a:bodyPr>
          <a:lstStyle/>
          <a:p>
            <a:pPr algn="l">
              <a:lnSpc>
                <a:spcPct val="112000"/>
              </a:lnSpc>
              <a:spcBef>
                <a:spcPts val="0"/>
              </a:spcBef>
              <a:spcAft>
                <a:spcPts val="700"/>
              </a:spcAft>
            </a:pPr>
            <a:r>
              <a:rPr sz="3400" b="1">
                <a:solidFill>
                  <a:srgbClr val="FF8A00"/>
                </a:solidFill>
                <a:latin typeface="Arial"/>
              </a:rPr>
              <a:t>03</a:t>
            </a:r>
          </a:p>
        </p:txBody>
      </p:sp>
      <p:sp>
        <p:nvSpPr>
          <p:cNvPr id="22" name="TextBox 21"/>
          <p:cNvSpPr txBox="1"/>
          <p:nvPr/>
        </p:nvSpPr>
        <p:spPr>
          <a:xfrm>
            <a:off x="1664207" y="4151376"/>
            <a:ext cx="3977639" cy="411480"/>
          </a:xfrm>
          <a:prstGeom prst="rect">
            <a:avLst/>
          </a:prstGeom>
          <a:noFill/>
        </p:spPr>
        <p:txBody>
          <a:bodyPr wrap="square" lIns="0" rIns="0" tIns="0" bIns="0">
            <a:noAutofit/>
          </a:bodyPr>
          <a:lstStyle/>
          <a:p>
            <a:pPr algn="l">
              <a:lnSpc>
                <a:spcPct val="112000"/>
              </a:lnSpc>
              <a:spcBef>
                <a:spcPts val="0"/>
              </a:spcBef>
              <a:spcAft>
                <a:spcPts val="700"/>
              </a:spcAft>
            </a:pPr>
            <a:r>
              <a:rPr sz="2100" b="1">
                <a:solidFill>
                  <a:srgbClr val="1F2328"/>
                </a:solidFill>
                <a:latin typeface="Arial"/>
              </a:rPr>
              <a:t>Nearby iPhone play</a:t>
            </a:r>
          </a:p>
        </p:txBody>
      </p:sp>
      <p:sp>
        <p:nvSpPr>
          <p:cNvPr id="23" name="TextBox 22"/>
          <p:cNvSpPr txBox="1"/>
          <p:nvPr/>
        </p:nvSpPr>
        <p:spPr>
          <a:xfrm>
            <a:off x="1664207" y="4736592"/>
            <a:ext cx="3950208" cy="548640"/>
          </a:xfrm>
          <a:prstGeom prst="rect">
            <a:avLst/>
          </a:prstGeom>
          <a:noFill/>
        </p:spPr>
        <p:txBody>
          <a:bodyPr wrap="square" lIns="0" rIns="0" tIns="0" bIns="0">
            <a:noAutofit/>
          </a:bodyPr>
          <a:lstStyle/>
          <a:p>
            <a:pPr algn="l">
              <a:lnSpc>
                <a:spcPct val="112000"/>
              </a:lnSpc>
              <a:spcBef>
                <a:spcPts val="0"/>
              </a:spcBef>
              <a:spcAft>
                <a:spcPts val="700"/>
              </a:spcAft>
            </a:pPr>
            <a:r>
              <a:rPr sz="1700" b="0">
                <a:solidFill>
                  <a:srgbClr val="5B6573"/>
                </a:solidFill>
                <a:latin typeface="Arial"/>
              </a:rPr>
              <a:t>One shared match on two phones.</a:t>
            </a:r>
          </a:p>
        </p:txBody>
      </p:sp>
      <p:sp>
        <p:nvSpPr>
          <p:cNvPr id="24" name="TextBox 23"/>
          <p:cNvSpPr txBox="1"/>
          <p:nvPr/>
        </p:nvSpPr>
        <p:spPr>
          <a:xfrm>
            <a:off x="804672" y="5367528"/>
            <a:ext cx="2194560" cy="256032"/>
          </a:xfrm>
          <a:prstGeom prst="rect">
            <a:avLst/>
          </a:prstGeom>
          <a:noFill/>
        </p:spPr>
        <p:txBody>
          <a:bodyPr wrap="square" lIns="0" rIns="0" tIns="0" bIns="0">
            <a:noAutofit/>
          </a:bodyPr>
          <a:lstStyle/>
          <a:p>
            <a:pPr algn="l">
              <a:lnSpc>
                <a:spcPct val="112000"/>
              </a:lnSpc>
              <a:spcBef>
                <a:spcPts val="0"/>
              </a:spcBef>
              <a:spcAft>
                <a:spcPts val="700"/>
              </a:spcAft>
            </a:pPr>
            <a:r>
              <a:rPr sz="1300" b="1">
                <a:solidFill>
                  <a:srgbClr val="1F2328"/>
                </a:solidFill>
                <a:latin typeface="Arial"/>
              </a:rPr>
              <a:t>Kaleb</a:t>
            </a:r>
          </a:p>
        </p:txBody>
      </p:sp>
      <p:sp>
        <p:nvSpPr>
          <p:cNvPr id="25" name="Rounded Rectangle 24"/>
          <p:cNvSpPr/>
          <p:nvPr/>
        </p:nvSpPr>
        <p:spPr>
          <a:xfrm>
            <a:off x="4187952" y="5285231"/>
            <a:ext cx="1463040" cy="356616"/>
          </a:xfrm>
          <a:prstGeom prst="roundRect">
            <a:avLst>
              <a:gd name="adj" fmla="val 10000"/>
            </a:avLst>
          </a:prstGeom>
          <a:solidFill>
            <a:srgbClr val="2FA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233672" y="5362955"/>
            <a:ext cx="1371600" cy="210312"/>
          </a:xfrm>
          <a:prstGeom prst="rect">
            <a:avLst/>
          </a:prstGeom>
          <a:noFill/>
        </p:spPr>
        <p:txBody>
          <a:bodyPr wrap="square" lIns="0" rIns="0" tIns="0" bIns="0">
            <a:noAutofit/>
          </a:bodyPr>
          <a:lstStyle/>
          <a:p>
            <a:pPr algn="ctr">
              <a:lnSpc>
                <a:spcPct val="112000"/>
              </a:lnSpc>
              <a:spcBef>
                <a:spcPts val="0"/>
              </a:spcBef>
              <a:spcAft>
                <a:spcPts val="700"/>
              </a:spcAft>
            </a:pPr>
            <a:r>
              <a:rPr sz="1100" b="1">
                <a:solidFill>
                  <a:srgbClr val="FFFFFF"/>
                </a:solidFill>
                <a:latin typeface="Arial"/>
              </a:rPr>
              <a:t>COMPLETE</a:t>
            </a:r>
          </a:p>
        </p:txBody>
      </p:sp>
      <p:sp>
        <p:nvSpPr>
          <p:cNvPr id="27" name="Rounded Rectangle 26"/>
          <p:cNvSpPr/>
          <p:nvPr/>
        </p:nvSpPr>
        <p:spPr>
          <a:xfrm>
            <a:off x="6217920" y="3931920"/>
            <a:ext cx="5394960" cy="1847088"/>
          </a:xfrm>
          <a:prstGeom prst="roundRect">
            <a:avLst>
              <a:gd name="adj" fmla="val 10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64808" y="4160520"/>
            <a:ext cx="731520" cy="566928"/>
          </a:xfrm>
          <a:prstGeom prst="rect">
            <a:avLst/>
          </a:prstGeom>
          <a:noFill/>
        </p:spPr>
        <p:txBody>
          <a:bodyPr wrap="square" lIns="0" rIns="0" tIns="0" bIns="0">
            <a:noAutofit/>
          </a:bodyPr>
          <a:lstStyle/>
          <a:p>
            <a:pPr algn="l">
              <a:lnSpc>
                <a:spcPct val="112000"/>
              </a:lnSpc>
              <a:spcBef>
                <a:spcPts val="0"/>
              </a:spcBef>
              <a:spcAft>
                <a:spcPts val="700"/>
              </a:spcAft>
            </a:pPr>
            <a:r>
              <a:rPr sz="3400" b="1">
                <a:solidFill>
                  <a:srgbClr val="FF8A00"/>
                </a:solidFill>
                <a:latin typeface="Arial"/>
              </a:rPr>
              <a:t>04</a:t>
            </a:r>
          </a:p>
        </p:txBody>
      </p:sp>
      <p:sp>
        <p:nvSpPr>
          <p:cNvPr id="29" name="TextBox 28"/>
          <p:cNvSpPr txBox="1"/>
          <p:nvPr/>
        </p:nvSpPr>
        <p:spPr>
          <a:xfrm>
            <a:off x="7333488" y="4151376"/>
            <a:ext cx="3977639" cy="411480"/>
          </a:xfrm>
          <a:prstGeom prst="rect">
            <a:avLst/>
          </a:prstGeom>
          <a:noFill/>
        </p:spPr>
        <p:txBody>
          <a:bodyPr wrap="square" lIns="0" rIns="0" tIns="0" bIns="0">
            <a:noAutofit/>
          </a:bodyPr>
          <a:lstStyle/>
          <a:p>
            <a:pPr algn="l">
              <a:lnSpc>
                <a:spcPct val="112000"/>
              </a:lnSpc>
              <a:spcBef>
                <a:spcPts val="0"/>
              </a:spcBef>
              <a:spcAft>
                <a:spcPts val="700"/>
              </a:spcAft>
            </a:pPr>
            <a:r>
              <a:rPr sz="2100" b="1">
                <a:solidFill>
                  <a:srgbClr val="1F2328"/>
                </a:solidFill>
                <a:latin typeface="Arial"/>
              </a:rPr>
              <a:t>Android + Wear OS</a:t>
            </a:r>
          </a:p>
        </p:txBody>
      </p:sp>
      <p:sp>
        <p:nvSpPr>
          <p:cNvPr id="30" name="TextBox 29"/>
          <p:cNvSpPr txBox="1"/>
          <p:nvPr/>
        </p:nvSpPr>
        <p:spPr>
          <a:xfrm>
            <a:off x="7333488" y="4736592"/>
            <a:ext cx="3950208" cy="548640"/>
          </a:xfrm>
          <a:prstGeom prst="rect">
            <a:avLst/>
          </a:prstGeom>
          <a:noFill/>
        </p:spPr>
        <p:txBody>
          <a:bodyPr wrap="square" lIns="0" rIns="0" tIns="0" bIns="0">
            <a:noAutofit/>
          </a:bodyPr>
          <a:lstStyle/>
          <a:p>
            <a:pPr algn="l">
              <a:lnSpc>
                <a:spcPct val="112000"/>
              </a:lnSpc>
              <a:spcBef>
                <a:spcPts val="0"/>
              </a:spcBef>
              <a:spcAft>
                <a:spcPts val="700"/>
              </a:spcAft>
            </a:pPr>
            <a:r>
              <a:rPr sz="1700" b="0">
                <a:solidFill>
                  <a:srgbClr val="5B6573"/>
                </a:solidFill>
                <a:latin typeface="Arial"/>
              </a:rPr>
              <a:t>Bring the 1v1 experience to Android.</a:t>
            </a:r>
          </a:p>
        </p:txBody>
      </p:sp>
      <p:sp>
        <p:nvSpPr>
          <p:cNvPr id="31" name="TextBox 30"/>
          <p:cNvSpPr txBox="1"/>
          <p:nvPr/>
        </p:nvSpPr>
        <p:spPr>
          <a:xfrm>
            <a:off x="6473952" y="5367528"/>
            <a:ext cx="2194560" cy="256032"/>
          </a:xfrm>
          <a:prstGeom prst="rect">
            <a:avLst/>
          </a:prstGeom>
          <a:noFill/>
        </p:spPr>
        <p:txBody>
          <a:bodyPr wrap="square" lIns="0" rIns="0" tIns="0" bIns="0">
            <a:noAutofit/>
          </a:bodyPr>
          <a:lstStyle/>
          <a:p>
            <a:pPr algn="l">
              <a:lnSpc>
                <a:spcPct val="112000"/>
              </a:lnSpc>
              <a:spcBef>
                <a:spcPts val="0"/>
              </a:spcBef>
              <a:spcAft>
                <a:spcPts val="700"/>
              </a:spcAft>
            </a:pPr>
            <a:r>
              <a:rPr sz="1300" b="1">
                <a:solidFill>
                  <a:srgbClr val="1F2328"/>
                </a:solidFill>
                <a:latin typeface="Arial"/>
              </a:rPr>
              <a:t>Kellam</a:t>
            </a:r>
          </a:p>
        </p:txBody>
      </p:sp>
      <p:sp>
        <p:nvSpPr>
          <p:cNvPr id="32" name="Rounded Rectangle 31"/>
          <p:cNvSpPr/>
          <p:nvPr/>
        </p:nvSpPr>
        <p:spPr>
          <a:xfrm>
            <a:off x="9857232" y="5285231"/>
            <a:ext cx="1463040" cy="356616"/>
          </a:xfrm>
          <a:prstGeom prst="roundRect">
            <a:avLst>
              <a:gd name="adj" fmla="val 10000"/>
            </a:avLst>
          </a:prstGeom>
          <a:solidFill>
            <a:srgbClr val="2FA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902952" y="5362955"/>
            <a:ext cx="1371600" cy="210312"/>
          </a:xfrm>
          <a:prstGeom prst="rect">
            <a:avLst/>
          </a:prstGeom>
          <a:noFill/>
        </p:spPr>
        <p:txBody>
          <a:bodyPr wrap="square" lIns="0" rIns="0" tIns="0" bIns="0">
            <a:noAutofit/>
          </a:bodyPr>
          <a:lstStyle/>
          <a:p>
            <a:pPr algn="ctr">
              <a:lnSpc>
                <a:spcPct val="112000"/>
              </a:lnSpc>
              <a:spcBef>
                <a:spcPts val="0"/>
              </a:spcBef>
              <a:spcAft>
                <a:spcPts val="700"/>
              </a:spcAft>
            </a:pPr>
            <a:r>
              <a:rPr sz="1100" b="1">
                <a:solidFill>
                  <a:srgbClr val="FFFFFF"/>
                </a:solidFill>
                <a:latin typeface="Arial"/>
              </a:rPr>
              <a:t>MERGED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9184"/>
            <a:ext cx="11064240" cy="256032"/>
          </a:xfrm>
          <a:prstGeom prst="rect">
            <a:avLst/>
          </a:prstGeom>
          <a:noFill/>
        </p:spPr>
        <p:txBody>
          <a:bodyPr wrap="square" lIns="0" rIns="0" tIns="0" bIns="0">
            <a:noAutofit/>
          </a:bodyPr>
          <a:lstStyle/>
          <a:p>
            <a:pPr algn="l">
              <a:lnSpc>
                <a:spcPct val="112000"/>
              </a:lnSpc>
              <a:spcBef>
                <a:spcPts val="0"/>
              </a:spcBef>
              <a:spcAft>
                <a:spcPts val="700"/>
              </a:spcAft>
            </a:pPr>
            <a:r>
              <a:rPr sz="1200" b="1">
                <a:solidFill>
                  <a:srgbClr val="FF8A00"/>
                </a:solidFill>
                <a:latin typeface="Arial"/>
              </a:rPr>
              <a:t>FEATURES/DEMO · MELVIN</a:t>
            </a:r>
          </a:p>
        </p:txBody>
      </p:sp>
      <p:sp>
        <p:nvSpPr>
          <p:cNvPr id="3" name="TextBox 2"/>
          <p:cNvSpPr txBox="1"/>
          <p:nvPr/>
        </p:nvSpPr>
        <p:spPr>
          <a:xfrm>
            <a:off x="548640" y="777240"/>
            <a:ext cx="11064240" cy="749808"/>
          </a:xfrm>
          <a:prstGeom prst="rect">
            <a:avLst/>
          </a:prstGeom>
          <a:noFill/>
        </p:spPr>
        <p:txBody>
          <a:bodyPr wrap="square" lIns="0" rIns="0" tIns="0" bIns="0">
            <a:noAutofit/>
          </a:bodyPr>
          <a:lstStyle/>
          <a:p>
            <a:pPr algn="l">
              <a:lnSpc>
                <a:spcPct val="112000"/>
              </a:lnSpc>
              <a:spcBef>
                <a:spcPts val="0"/>
              </a:spcBef>
              <a:spcAft>
                <a:spcPts val="700"/>
              </a:spcAft>
            </a:pPr>
            <a:r>
              <a:rPr sz="3400" b="1">
                <a:solidFill>
                  <a:srgbClr val="1F2328"/>
                </a:solidFill>
                <a:latin typeface="Arial"/>
              </a:rPr>
              <a:t>1v1 match mode</a:t>
            </a:r>
          </a:p>
        </p:txBody>
      </p:sp>
      <p:sp>
        <p:nvSpPr>
          <p:cNvPr id="4" name="TextBox 3"/>
          <p:cNvSpPr txBox="1"/>
          <p:nvPr/>
        </p:nvSpPr>
        <p:spPr>
          <a:xfrm>
            <a:off x="548640" y="6528816"/>
            <a:ext cx="9144000" cy="182880"/>
          </a:xfrm>
          <a:prstGeom prst="rect">
            <a:avLst/>
          </a:prstGeom>
          <a:noFill/>
        </p:spPr>
        <p:txBody>
          <a:bodyPr wrap="square" lIns="0" rIns="0" tIns="0" bIns="0">
            <a:noAutofit/>
          </a:bodyPr>
          <a:lstStyle/>
          <a:p>
            <a:pPr algn="l">
              <a:lnSpc>
                <a:spcPct val="112000"/>
              </a:lnSpc>
              <a:spcBef>
                <a:spcPts val="0"/>
              </a:spcBef>
              <a:spcAft>
                <a:spcPts val="700"/>
              </a:spcAft>
            </a:pPr>
            <a:r>
              <a:rPr sz="1000" b="0">
                <a:solidFill>
                  <a:srgbClr val="5B6573"/>
                </a:solidFill>
                <a:latin typeface="Arial"/>
              </a:rPr>
              <a:t>SQUATCH SPORTS · TEAM 11</a:t>
            </a:r>
          </a:p>
        </p:txBody>
      </p:sp>
      <p:sp>
        <p:nvSpPr>
          <p:cNvPr id="5" name="TextBox 4"/>
          <p:cNvSpPr txBox="1"/>
          <p:nvPr/>
        </p:nvSpPr>
        <p:spPr>
          <a:xfrm>
            <a:off x="11091672" y="6510528"/>
            <a:ext cx="521207" cy="201168"/>
          </a:xfrm>
          <a:prstGeom prst="rect">
            <a:avLst/>
          </a:prstGeom>
          <a:noFill/>
        </p:spPr>
        <p:txBody>
          <a:bodyPr wrap="square" lIns="0" rIns="0" tIns="0" bIns="0">
            <a:noAutofit/>
          </a:bodyPr>
          <a:lstStyle/>
          <a:p>
            <a:pPr algn="r">
              <a:lnSpc>
                <a:spcPct val="112000"/>
              </a:lnSpc>
              <a:spcBef>
                <a:spcPts val="0"/>
              </a:spcBef>
              <a:spcAft>
                <a:spcPts val="700"/>
              </a:spcAft>
            </a:pPr>
            <a:r>
              <a:rPr sz="1000" b="0">
                <a:solidFill>
                  <a:srgbClr val="5B6573"/>
                </a:solidFill>
                <a:latin typeface="Arial"/>
              </a:rPr>
              <a:t>03</a:t>
            </a:r>
          </a:p>
        </p:txBody>
      </p:sp>
      <p:sp>
        <p:nvSpPr>
          <p:cNvPr id="6" name="Rectangle 5"/>
          <p:cNvSpPr/>
          <p:nvPr/>
        </p:nvSpPr>
        <p:spPr>
          <a:xfrm>
            <a:off x="548640" y="2103120"/>
            <a:ext cx="82296" cy="82296"/>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993392"/>
            <a:ext cx="4910328" cy="896112"/>
          </a:xfrm>
          <a:prstGeom prst="rect">
            <a:avLst/>
          </a:prstGeom>
          <a:noFill/>
        </p:spPr>
        <p:txBody>
          <a:bodyPr wrap="square" lIns="0" rIns="0" tIns="0" bIns="0">
            <a:noAutofit/>
          </a:bodyPr>
          <a:lstStyle/>
          <a:p>
            <a:pPr algn="l">
              <a:lnSpc>
                <a:spcPct val="112000"/>
              </a:lnSpc>
              <a:spcBef>
                <a:spcPts val="0"/>
              </a:spcBef>
              <a:spcAft>
                <a:spcPts val="700"/>
              </a:spcAft>
            </a:pPr>
            <a:r>
              <a:rPr sz="2400" b="0">
                <a:solidFill>
                  <a:srgbClr val="1F2328"/>
                </a:solidFill>
                <a:latin typeface="Arial"/>
              </a:rPr>
              <a:t>Choose your street rules</a:t>
            </a:r>
          </a:p>
        </p:txBody>
      </p:sp>
      <p:sp>
        <p:nvSpPr>
          <p:cNvPr id="8" name="Rectangle 7"/>
          <p:cNvSpPr/>
          <p:nvPr/>
        </p:nvSpPr>
        <p:spPr>
          <a:xfrm>
            <a:off x="548640" y="3108960"/>
            <a:ext cx="82296" cy="82296"/>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999232"/>
            <a:ext cx="4910328" cy="896112"/>
          </a:xfrm>
          <a:prstGeom prst="rect">
            <a:avLst/>
          </a:prstGeom>
          <a:noFill/>
        </p:spPr>
        <p:txBody>
          <a:bodyPr wrap="square" lIns="0" rIns="0" tIns="0" bIns="0">
            <a:noAutofit/>
          </a:bodyPr>
          <a:lstStyle/>
          <a:p>
            <a:pPr algn="l">
              <a:lnSpc>
                <a:spcPct val="112000"/>
              </a:lnSpc>
              <a:spcBef>
                <a:spcPts val="0"/>
              </a:spcBef>
              <a:spcAft>
                <a:spcPts val="700"/>
              </a:spcAft>
            </a:pPr>
            <a:r>
              <a:rPr sz="2400" b="0">
                <a:solidFill>
                  <a:srgbClr val="1F2328"/>
                </a:solidFill>
                <a:latin typeface="Arial"/>
              </a:rPr>
              <a:t>Track points and possession</a:t>
            </a:r>
          </a:p>
        </p:txBody>
      </p:sp>
      <p:sp>
        <p:nvSpPr>
          <p:cNvPr id="10" name="Rectangle 9"/>
          <p:cNvSpPr/>
          <p:nvPr/>
        </p:nvSpPr>
        <p:spPr>
          <a:xfrm>
            <a:off x="548640" y="4114800"/>
            <a:ext cx="82296" cy="82296"/>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4005072"/>
            <a:ext cx="4910328" cy="896112"/>
          </a:xfrm>
          <a:prstGeom prst="rect">
            <a:avLst/>
          </a:prstGeom>
          <a:noFill/>
        </p:spPr>
        <p:txBody>
          <a:bodyPr wrap="square" lIns="0" rIns="0" tIns="0" bIns="0">
            <a:noAutofit/>
          </a:bodyPr>
          <a:lstStyle/>
          <a:p>
            <a:pPr algn="l">
              <a:lnSpc>
                <a:spcPct val="112000"/>
              </a:lnSpc>
              <a:spcBef>
                <a:spcPts val="0"/>
              </a:spcBef>
              <a:spcAft>
                <a:spcPts val="700"/>
              </a:spcAft>
            </a:pPr>
            <a:r>
              <a:rPr sz="2400" b="0">
                <a:solidFill>
                  <a:srgbClr val="1F2328"/>
                </a:solidFill>
                <a:latin typeface="Arial"/>
              </a:rPr>
              <a:t>Undo, resume and save</a:t>
            </a:r>
          </a:p>
        </p:txBody>
      </p:sp>
      <p:sp>
        <p:nvSpPr>
          <p:cNvPr id="12" name="TextBox 11"/>
          <p:cNvSpPr txBox="1"/>
          <p:nvPr/>
        </p:nvSpPr>
        <p:spPr>
          <a:xfrm>
            <a:off x="548640" y="5742432"/>
            <a:ext cx="5852160" cy="438912"/>
          </a:xfrm>
          <a:prstGeom prst="rect">
            <a:avLst/>
          </a:prstGeom>
          <a:noFill/>
        </p:spPr>
        <p:txBody>
          <a:bodyPr wrap="square" lIns="0" rIns="0" tIns="0" bIns="0">
            <a:noAutofit/>
          </a:bodyPr>
          <a:lstStyle/>
          <a:p>
            <a:pPr algn="l">
              <a:lnSpc>
                <a:spcPct val="112000"/>
              </a:lnSpc>
              <a:spcBef>
                <a:spcPts val="0"/>
              </a:spcBef>
              <a:spcAft>
                <a:spcPts val="700"/>
              </a:spcAft>
            </a:pPr>
            <a:r>
              <a:rPr sz="1800" b="0">
                <a:solidFill>
                  <a:srgbClr val="5B6573"/>
                </a:solidFill>
                <a:latin typeface="Arial"/>
              </a:rPr>
              <a:t>Friends · History · Win/loss records</a:t>
            </a:r>
          </a:p>
        </p:txBody>
      </p:sp>
      <p:sp>
        <p:nvSpPr>
          <p:cNvPr id="13" name="Rounded Rectangle 12"/>
          <p:cNvSpPr/>
          <p:nvPr/>
        </p:nvSpPr>
        <p:spPr>
          <a:xfrm>
            <a:off x="6400800" y="1993392"/>
            <a:ext cx="2468880" cy="2606040"/>
          </a:xfrm>
          <a:prstGeom prst="roundRect">
            <a:avLst>
              <a:gd name="adj" fmla="val 10000"/>
            </a:avLst>
          </a:prstGeom>
          <a:solidFill>
            <a:srgbClr val="E8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65392" y="2276856"/>
            <a:ext cx="2139696" cy="374904"/>
          </a:xfrm>
          <a:prstGeom prst="rect">
            <a:avLst/>
          </a:prstGeom>
          <a:noFill/>
        </p:spPr>
        <p:txBody>
          <a:bodyPr wrap="square" lIns="0" rIns="0" tIns="0" bIns="0">
            <a:noAutofit/>
          </a:bodyPr>
          <a:lstStyle/>
          <a:p>
            <a:pPr algn="ctr">
              <a:lnSpc>
                <a:spcPct val="112000"/>
              </a:lnSpc>
              <a:spcBef>
                <a:spcPts val="0"/>
              </a:spcBef>
              <a:spcAft>
                <a:spcPts val="700"/>
              </a:spcAft>
            </a:pPr>
            <a:r>
              <a:rPr sz="1800" b="1">
                <a:solidFill>
                  <a:srgbClr val="FFFFFF"/>
                </a:solidFill>
                <a:latin typeface="Arial"/>
              </a:rPr>
              <a:t>RED</a:t>
            </a:r>
          </a:p>
        </p:txBody>
      </p:sp>
      <p:sp>
        <p:nvSpPr>
          <p:cNvPr id="15" name="TextBox 14"/>
          <p:cNvSpPr txBox="1"/>
          <p:nvPr/>
        </p:nvSpPr>
        <p:spPr>
          <a:xfrm>
            <a:off x="6492240" y="2889504"/>
            <a:ext cx="2286000" cy="987552"/>
          </a:xfrm>
          <a:prstGeom prst="rect">
            <a:avLst/>
          </a:prstGeom>
          <a:noFill/>
        </p:spPr>
        <p:txBody>
          <a:bodyPr wrap="square" lIns="0" rIns="0" tIns="0" bIns="0">
            <a:noAutofit/>
          </a:bodyPr>
          <a:lstStyle/>
          <a:p>
            <a:pPr algn="ctr">
              <a:lnSpc>
                <a:spcPct val="112000"/>
              </a:lnSpc>
              <a:spcBef>
                <a:spcPts val="0"/>
              </a:spcBef>
              <a:spcAft>
                <a:spcPts val="700"/>
              </a:spcAft>
            </a:pPr>
            <a:r>
              <a:rPr sz="6200" b="1">
                <a:solidFill>
                  <a:srgbClr val="FFFFFF"/>
                </a:solidFill>
                <a:latin typeface="Arial"/>
              </a:rPr>
              <a:t>8</a:t>
            </a:r>
          </a:p>
        </p:txBody>
      </p:sp>
      <p:sp>
        <p:nvSpPr>
          <p:cNvPr id="16" name="Rounded Rectangle 15"/>
          <p:cNvSpPr/>
          <p:nvPr/>
        </p:nvSpPr>
        <p:spPr>
          <a:xfrm>
            <a:off x="9125712" y="1993392"/>
            <a:ext cx="2468880" cy="2606040"/>
          </a:xfrm>
          <a:prstGeom prst="roundRect">
            <a:avLst>
              <a:gd name="adj" fmla="val 10000"/>
            </a:avLst>
          </a:prstGeom>
          <a:solidFill>
            <a:srgbClr val="297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90304" y="2276856"/>
            <a:ext cx="2139696" cy="374904"/>
          </a:xfrm>
          <a:prstGeom prst="rect">
            <a:avLst/>
          </a:prstGeom>
          <a:noFill/>
        </p:spPr>
        <p:txBody>
          <a:bodyPr wrap="square" lIns="0" rIns="0" tIns="0" bIns="0">
            <a:noAutofit/>
          </a:bodyPr>
          <a:lstStyle/>
          <a:p>
            <a:pPr algn="ctr">
              <a:lnSpc>
                <a:spcPct val="112000"/>
              </a:lnSpc>
              <a:spcBef>
                <a:spcPts val="0"/>
              </a:spcBef>
              <a:spcAft>
                <a:spcPts val="700"/>
              </a:spcAft>
            </a:pPr>
            <a:r>
              <a:rPr sz="1800" b="1">
                <a:solidFill>
                  <a:srgbClr val="FFFFFF"/>
                </a:solidFill>
                <a:latin typeface="Arial"/>
              </a:rPr>
              <a:t>BLUE</a:t>
            </a:r>
          </a:p>
        </p:txBody>
      </p:sp>
      <p:sp>
        <p:nvSpPr>
          <p:cNvPr id="18" name="TextBox 17"/>
          <p:cNvSpPr txBox="1"/>
          <p:nvPr/>
        </p:nvSpPr>
        <p:spPr>
          <a:xfrm>
            <a:off x="9217152" y="2889504"/>
            <a:ext cx="2286000" cy="987552"/>
          </a:xfrm>
          <a:prstGeom prst="rect">
            <a:avLst/>
          </a:prstGeom>
          <a:noFill/>
        </p:spPr>
        <p:txBody>
          <a:bodyPr wrap="square" lIns="0" rIns="0" tIns="0" bIns="0">
            <a:noAutofit/>
          </a:bodyPr>
          <a:lstStyle/>
          <a:p>
            <a:pPr algn="ctr">
              <a:lnSpc>
                <a:spcPct val="112000"/>
              </a:lnSpc>
              <a:spcBef>
                <a:spcPts val="0"/>
              </a:spcBef>
              <a:spcAft>
                <a:spcPts val="700"/>
              </a:spcAft>
            </a:pPr>
            <a:r>
              <a:rPr sz="6200" b="1">
                <a:solidFill>
                  <a:srgbClr val="FFFFFF"/>
                </a:solidFill>
                <a:latin typeface="Arial"/>
              </a:rPr>
              <a:t>6</a:t>
            </a:r>
          </a:p>
        </p:txBody>
      </p:sp>
      <p:sp>
        <p:nvSpPr>
          <p:cNvPr id="19" name="TextBox 18"/>
          <p:cNvSpPr txBox="1"/>
          <p:nvPr/>
        </p:nvSpPr>
        <p:spPr>
          <a:xfrm>
            <a:off x="6400800" y="4901184"/>
            <a:ext cx="5193792" cy="320040"/>
          </a:xfrm>
          <a:prstGeom prst="rect">
            <a:avLst/>
          </a:prstGeom>
          <a:noFill/>
        </p:spPr>
        <p:txBody>
          <a:bodyPr wrap="square" lIns="0" rIns="0" tIns="0" bIns="0">
            <a:noAutofit/>
          </a:bodyPr>
          <a:lstStyle/>
          <a:p>
            <a:pPr algn="ctr">
              <a:lnSpc>
                <a:spcPct val="112000"/>
              </a:lnSpc>
              <a:spcBef>
                <a:spcPts val="0"/>
              </a:spcBef>
              <a:spcAft>
                <a:spcPts val="700"/>
              </a:spcAft>
            </a:pPr>
            <a:r>
              <a:rPr sz="1400" b="0">
                <a:solidFill>
                  <a:srgbClr val="5B6573"/>
                </a:solidFill>
                <a:latin typeface="Arial"/>
              </a:rPr>
              <a:t>Illustrative scoreboard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9184"/>
            <a:ext cx="11064240" cy="256032"/>
          </a:xfrm>
          <a:prstGeom prst="rect">
            <a:avLst/>
          </a:prstGeom>
          <a:noFill/>
        </p:spPr>
        <p:txBody>
          <a:bodyPr wrap="square" lIns="0" rIns="0" tIns="0" bIns="0">
            <a:noAutofit/>
          </a:bodyPr>
          <a:lstStyle/>
          <a:p>
            <a:pPr algn="l">
              <a:lnSpc>
                <a:spcPct val="112000"/>
              </a:lnSpc>
              <a:spcBef>
                <a:spcPts val="0"/>
              </a:spcBef>
              <a:spcAft>
                <a:spcPts val="700"/>
              </a:spcAft>
            </a:pPr>
            <a:r>
              <a:rPr sz="1200" b="1">
                <a:solidFill>
                  <a:srgbClr val="FF8A00"/>
                </a:solidFill>
                <a:latin typeface="Arial"/>
              </a:rPr>
              <a:t>FEATURES/DEMO · MELVIN</a:t>
            </a:r>
          </a:p>
        </p:txBody>
      </p:sp>
      <p:sp>
        <p:nvSpPr>
          <p:cNvPr id="3" name="TextBox 2"/>
          <p:cNvSpPr txBox="1"/>
          <p:nvPr/>
        </p:nvSpPr>
        <p:spPr>
          <a:xfrm>
            <a:off x="548640" y="777240"/>
            <a:ext cx="11064240" cy="749808"/>
          </a:xfrm>
          <a:prstGeom prst="rect">
            <a:avLst/>
          </a:prstGeom>
          <a:noFill/>
        </p:spPr>
        <p:txBody>
          <a:bodyPr wrap="square" lIns="0" rIns="0" tIns="0" bIns="0">
            <a:noAutofit/>
          </a:bodyPr>
          <a:lstStyle/>
          <a:p>
            <a:pPr algn="l">
              <a:lnSpc>
                <a:spcPct val="112000"/>
              </a:lnSpc>
              <a:spcBef>
                <a:spcPts val="0"/>
              </a:spcBef>
              <a:spcAft>
                <a:spcPts val="700"/>
              </a:spcAft>
            </a:pPr>
            <a:r>
              <a:rPr sz="3400" b="1">
                <a:solidFill>
                  <a:srgbClr val="1F2328"/>
                </a:solidFill>
                <a:latin typeface="Arial"/>
              </a:rPr>
              <a:t>Progress on the phone. Plays on the wrist.</a:t>
            </a:r>
          </a:p>
        </p:txBody>
      </p:sp>
      <p:sp>
        <p:nvSpPr>
          <p:cNvPr id="4" name="TextBox 3"/>
          <p:cNvSpPr txBox="1"/>
          <p:nvPr/>
        </p:nvSpPr>
        <p:spPr>
          <a:xfrm>
            <a:off x="548640" y="6528816"/>
            <a:ext cx="9144000" cy="182880"/>
          </a:xfrm>
          <a:prstGeom prst="rect">
            <a:avLst/>
          </a:prstGeom>
          <a:noFill/>
        </p:spPr>
        <p:txBody>
          <a:bodyPr wrap="square" lIns="0" rIns="0" tIns="0" bIns="0">
            <a:noAutofit/>
          </a:bodyPr>
          <a:lstStyle/>
          <a:p>
            <a:pPr algn="l">
              <a:lnSpc>
                <a:spcPct val="112000"/>
              </a:lnSpc>
              <a:spcBef>
                <a:spcPts val="0"/>
              </a:spcBef>
              <a:spcAft>
                <a:spcPts val="700"/>
              </a:spcAft>
            </a:pPr>
            <a:r>
              <a:rPr sz="1000" b="0">
                <a:solidFill>
                  <a:srgbClr val="5B6573"/>
                </a:solidFill>
                <a:latin typeface="Arial"/>
              </a:rPr>
              <a:t>SQUATCH SPORTS · TEAM 11</a:t>
            </a:r>
          </a:p>
        </p:txBody>
      </p:sp>
      <p:sp>
        <p:nvSpPr>
          <p:cNvPr id="5" name="TextBox 4"/>
          <p:cNvSpPr txBox="1"/>
          <p:nvPr/>
        </p:nvSpPr>
        <p:spPr>
          <a:xfrm>
            <a:off x="11091672" y="6510528"/>
            <a:ext cx="521207" cy="201168"/>
          </a:xfrm>
          <a:prstGeom prst="rect">
            <a:avLst/>
          </a:prstGeom>
          <a:noFill/>
        </p:spPr>
        <p:txBody>
          <a:bodyPr wrap="square" lIns="0" rIns="0" tIns="0" bIns="0">
            <a:noAutofit/>
          </a:bodyPr>
          <a:lstStyle/>
          <a:p>
            <a:pPr algn="r">
              <a:lnSpc>
                <a:spcPct val="112000"/>
              </a:lnSpc>
              <a:spcBef>
                <a:spcPts val="0"/>
              </a:spcBef>
              <a:spcAft>
                <a:spcPts val="700"/>
              </a:spcAft>
            </a:pPr>
            <a:r>
              <a:rPr sz="1000" b="0">
                <a:solidFill>
                  <a:srgbClr val="5B6573"/>
                </a:solidFill>
                <a:latin typeface="Arial"/>
              </a:rPr>
              <a:t>04</a:t>
            </a:r>
          </a:p>
        </p:txBody>
      </p:sp>
      <p:sp>
        <p:nvSpPr>
          <p:cNvPr id="6" name="Rounded Rectangle 5"/>
          <p:cNvSpPr/>
          <p:nvPr/>
        </p:nvSpPr>
        <p:spPr>
          <a:xfrm>
            <a:off x="548640" y="1856231"/>
            <a:ext cx="3566160" cy="1508760"/>
          </a:xfrm>
          <a:prstGeom prst="roundRect">
            <a:avLst>
              <a:gd name="adj" fmla="val 10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112264"/>
            <a:ext cx="3108960" cy="411480"/>
          </a:xfrm>
          <a:prstGeom prst="rect">
            <a:avLst/>
          </a:prstGeom>
          <a:noFill/>
        </p:spPr>
        <p:txBody>
          <a:bodyPr wrap="square" lIns="0" rIns="0" tIns="0" bIns="0">
            <a:noAutofit/>
          </a:bodyPr>
          <a:lstStyle/>
          <a:p>
            <a:pPr algn="l">
              <a:lnSpc>
                <a:spcPct val="112000"/>
              </a:lnSpc>
              <a:spcBef>
                <a:spcPts val="0"/>
              </a:spcBef>
              <a:spcAft>
                <a:spcPts val="700"/>
              </a:spcAft>
            </a:pPr>
            <a:r>
              <a:rPr sz="2400" b="1">
                <a:solidFill>
                  <a:srgbClr val="FF8A00"/>
                </a:solidFill>
                <a:latin typeface="Arial"/>
              </a:rPr>
              <a:t>Streaks</a:t>
            </a:r>
          </a:p>
        </p:txBody>
      </p:sp>
      <p:sp>
        <p:nvSpPr>
          <p:cNvPr id="8" name="TextBox 7"/>
          <p:cNvSpPr txBox="1"/>
          <p:nvPr/>
        </p:nvSpPr>
        <p:spPr>
          <a:xfrm>
            <a:off x="777240" y="2743200"/>
            <a:ext cx="3108960" cy="365760"/>
          </a:xfrm>
          <a:prstGeom prst="rect">
            <a:avLst/>
          </a:prstGeom>
          <a:noFill/>
        </p:spPr>
        <p:txBody>
          <a:bodyPr wrap="square" lIns="0" rIns="0" tIns="0" bIns="0">
            <a:noAutofit/>
          </a:bodyPr>
          <a:lstStyle/>
          <a:p>
            <a:pPr algn="l">
              <a:lnSpc>
                <a:spcPct val="112000"/>
              </a:lnSpc>
              <a:spcBef>
                <a:spcPts val="0"/>
              </a:spcBef>
              <a:spcAft>
                <a:spcPts val="700"/>
              </a:spcAft>
            </a:pPr>
            <a:r>
              <a:rPr sz="1700" b="0">
                <a:solidFill>
                  <a:srgbClr val="5B6573"/>
                </a:solidFill>
                <a:latin typeface="Arial"/>
              </a:rPr>
              <a:t>Build a training habit</a:t>
            </a:r>
          </a:p>
        </p:txBody>
      </p:sp>
      <p:sp>
        <p:nvSpPr>
          <p:cNvPr id="9" name="Rounded Rectangle 8"/>
          <p:cNvSpPr/>
          <p:nvPr/>
        </p:nvSpPr>
        <p:spPr>
          <a:xfrm>
            <a:off x="4343400" y="1856231"/>
            <a:ext cx="3566160" cy="1508760"/>
          </a:xfrm>
          <a:prstGeom prst="roundRect">
            <a:avLst>
              <a:gd name="adj" fmla="val 10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2112264"/>
            <a:ext cx="3108960" cy="411480"/>
          </a:xfrm>
          <a:prstGeom prst="rect">
            <a:avLst/>
          </a:prstGeom>
          <a:noFill/>
        </p:spPr>
        <p:txBody>
          <a:bodyPr wrap="square" lIns="0" rIns="0" tIns="0" bIns="0">
            <a:noAutofit/>
          </a:bodyPr>
          <a:lstStyle/>
          <a:p>
            <a:pPr algn="l">
              <a:lnSpc>
                <a:spcPct val="112000"/>
              </a:lnSpc>
              <a:spcBef>
                <a:spcPts val="0"/>
              </a:spcBef>
              <a:spcAft>
                <a:spcPts val="700"/>
              </a:spcAft>
            </a:pPr>
            <a:r>
              <a:rPr sz="2400" b="1">
                <a:solidFill>
                  <a:srgbClr val="FF8A00"/>
                </a:solidFill>
                <a:latin typeface="Arial"/>
              </a:rPr>
              <a:t>Goals</a:t>
            </a:r>
          </a:p>
        </p:txBody>
      </p:sp>
      <p:sp>
        <p:nvSpPr>
          <p:cNvPr id="11" name="TextBox 10"/>
          <p:cNvSpPr txBox="1"/>
          <p:nvPr/>
        </p:nvSpPr>
        <p:spPr>
          <a:xfrm>
            <a:off x="4572000" y="2743200"/>
            <a:ext cx="3108960" cy="365760"/>
          </a:xfrm>
          <a:prstGeom prst="rect">
            <a:avLst/>
          </a:prstGeom>
          <a:noFill/>
        </p:spPr>
        <p:txBody>
          <a:bodyPr wrap="square" lIns="0" rIns="0" tIns="0" bIns="0">
            <a:noAutofit/>
          </a:bodyPr>
          <a:lstStyle/>
          <a:p>
            <a:pPr algn="l">
              <a:lnSpc>
                <a:spcPct val="112000"/>
              </a:lnSpc>
              <a:spcBef>
                <a:spcPts val="0"/>
              </a:spcBef>
              <a:spcAft>
                <a:spcPts val="700"/>
              </a:spcAft>
            </a:pPr>
            <a:r>
              <a:rPr sz="1700" b="0">
                <a:solidFill>
                  <a:srgbClr val="5B6573"/>
                </a:solidFill>
                <a:latin typeface="Arial"/>
              </a:rPr>
              <a:t>See progress at a glance</a:t>
            </a:r>
          </a:p>
        </p:txBody>
      </p:sp>
      <p:sp>
        <p:nvSpPr>
          <p:cNvPr id="12" name="Rounded Rectangle 11"/>
          <p:cNvSpPr/>
          <p:nvPr/>
        </p:nvSpPr>
        <p:spPr>
          <a:xfrm>
            <a:off x="8138160" y="1856231"/>
            <a:ext cx="3566160" cy="1508760"/>
          </a:xfrm>
          <a:prstGeom prst="roundRect">
            <a:avLst>
              <a:gd name="adj" fmla="val 10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66760" y="2112264"/>
            <a:ext cx="3108960" cy="411480"/>
          </a:xfrm>
          <a:prstGeom prst="rect">
            <a:avLst/>
          </a:prstGeom>
          <a:noFill/>
        </p:spPr>
        <p:txBody>
          <a:bodyPr wrap="square" lIns="0" rIns="0" tIns="0" bIns="0">
            <a:noAutofit/>
          </a:bodyPr>
          <a:lstStyle/>
          <a:p>
            <a:pPr algn="l">
              <a:lnSpc>
                <a:spcPct val="112000"/>
              </a:lnSpc>
              <a:spcBef>
                <a:spcPts val="0"/>
              </a:spcBef>
              <a:spcAft>
                <a:spcPts val="700"/>
              </a:spcAft>
            </a:pPr>
            <a:r>
              <a:rPr sz="2400" b="1">
                <a:solidFill>
                  <a:srgbClr val="FF8A00"/>
                </a:solidFill>
                <a:latin typeface="Arial"/>
              </a:rPr>
              <a:t>XP + levels</a:t>
            </a:r>
          </a:p>
        </p:txBody>
      </p:sp>
      <p:sp>
        <p:nvSpPr>
          <p:cNvPr id="14" name="TextBox 13"/>
          <p:cNvSpPr txBox="1"/>
          <p:nvPr/>
        </p:nvSpPr>
        <p:spPr>
          <a:xfrm>
            <a:off x="8366760" y="2743200"/>
            <a:ext cx="3108960" cy="365760"/>
          </a:xfrm>
          <a:prstGeom prst="rect">
            <a:avLst/>
          </a:prstGeom>
          <a:noFill/>
        </p:spPr>
        <p:txBody>
          <a:bodyPr wrap="square" lIns="0" rIns="0" tIns="0" bIns="0">
            <a:noAutofit/>
          </a:bodyPr>
          <a:lstStyle/>
          <a:p>
            <a:pPr algn="l">
              <a:lnSpc>
                <a:spcPct val="112000"/>
              </a:lnSpc>
              <a:spcBef>
                <a:spcPts val="0"/>
              </a:spcBef>
              <a:spcAft>
                <a:spcPts val="700"/>
              </a:spcAft>
            </a:pPr>
            <a:r>
              <a:rPr sz="1700" b="0">
                <a:solidFill>
                  <a:srgbClr val="5B6573"/>
                </a:solidFill>
                <a:latin typeface="Arial"/>
              </a:rPr>
              <a:t>Reward every workout</a:t>
            </a:r>
          </a:p>
        </p:txBody>
      </p:sp>
      <p:sp>
        <p:nvSpPr>
          <p:cNvPr id="15" name="Rounded Rectangle 14"/>
          <p:cNvSpPr/>
          <p:nvPr/>
        </p:nvSpPr>
        <p:spPr>
          <a:xfrm>
            <a:off x="548640" y="3931920"/>
            <a:ext cx="11155680" cy="1060704"/>
          </a:xfrm>
          <a:prstGeom prst="roundRect">
            <a:avLst>
              <a:gd name="adj" fmla="val 10000"/>
            </a:avLst>
          </a:prstGeom>
          <a:solidFill>
            <a:srgbClr val="16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88720" y="4261104"/>
            <a:ext cx="2468880" cy="393192"/>
          </a:xfrm>
          <a:prstGeom prst="rect">
            <a:avLst/>
          </a:prstGeom>
          <a:noFill/>
        </p:spPr>
        <p:txBody>
          <a:bodyPr wrap="square" lIns="0" rIns="0" tIns="0" bIns="0">
            <a:noAutofit/>
          </a:bodyPr>
          <a:lstStyle/>
          <a:p>
            <a:pPr algn="l">
              <a:lnSpc>
                <a:spcPct val="112000"/>
              </a:lnSpc>
              <a:spcBef>
                <a:spcPts val="0"/>
              </a:spcBef>
              <a:spcAft>
                <a:spcPts val="700"/>
              </a:spcAft>
            </a:pPr>
            <a:r>
              <a:rPr sz="2300" b="1">
                <a:solidFill>
                  <a:srgbClr val="FFFFFF"/>
                </a:solidFill>
                <a:latin typeface="Arial"/>
              </a:rPr>
              <a:t>WATCH</a:t>
            </a:r>
          </a:p>
        </p:txBody>
      </p:sp>
      <p:sp>
        <p:nvSpPr>
          <p:cNvPr id="17" name="TextBox 16"/>
          <p:cNvSpPr txBox="1"/>
          <p:nvPr/>
        </p:nvSpPr>
        <p:spPr>
          <a:xfrm>
            <a:off x="4663440" y="4096512"/>
            <a:ext cx="2834640" cy="329184"/>
          </a:xfrm>
          <a:prstGeom prst="rect">
            <a:avLst/>
          </a:prstGeom>
          <a:noFill/>
        </p:spPr>
        <p:txBody>
          <a:bodyPr wrap="square" lIns="0" rIns="0" tIns="0" bIns="0">
            <a:noAutofit/>
          </a:bodyPr>
          <a:lstStyle/>
          <a:p>
            <a:pPr algn="ctr">
              <a:lnSpc>
                <a:spcPct val="112000"/>
              </a:lnSpc>
              <a:spcBef>
                <a:spcPts val="0"/>
              </a:spcBef>
              <a:spcAft>
                <a:spcPts val="700"/>
              </a:spcAft>
            </a:pPr>
            <a:r>
              <a:rPr sz="1900" b="1">
                <a:solidFill>
                  <a:srgbClr val="FF8A00"/>
                </a:solidFill>
                <a:latin typeface="Arial"/>
              </a:rPr>
              <a:t>Plays →</a:t>
            </a:r>
          </a:p>
        </p:txBody>
      </p:sp>
      <p:sp>
        <p:nvSpPr>
          <p:cNvPr id="18" name="TextBox 17"/>
          <p:cNvSpPr txBox="1"/>
          <p:nvPr/>
        </p:nvSpPr>
        <p:spPr>
          <a:xfrm>
            <a:off x="4663440" y="4553712"/>
            <a:ext cx="2834640" cy="329184"/>
          </a:xfrm>
          <a:prstGeom prst="rect">
            <a:avLst/>
          </a:prstGeom>
          <a:noFill/>
        </p:spPr>
        <p:txBody>
          <a:bodyPr wrap="square" lIns="0" rIns="0" tIns="0" bIns="0">
            <a:noAutofit/>
          </a:bodyPr>
          <a:lstStyle/>
          <a:p>
            <a:pPr algn="ctr">
              <a:lnSpc>
                <a:spcPct val="112000"/>
              </a:lnSpc>
              <a:spcBef>
                <a:spcPts val="0"/>
              </a:spcBef>
              <a:spcAft>
                <a:spcPts val="700"/>
              </a:spcAft>
            </a:pPr>
            <a:r>
              <a:rPr sz="1900" b="1">
                <a:solidFill>
                  <a:srgbClr val="FF8A00"/>
                </a:solidFill>
                <a:latin typeface="Arial"/>
              </a:rPr>
              <a:t>← Scores</a:t>
            </a:r>
          </a:p>
        </p:txBody>
      </p:sp>
      <p:sp>
        <p:nvSpPr>
          <p:cNvPr id="19" name="TextBox 18"/>
          <p:cNvSpPr txBox="1"/>
          <p:nvPr/>
        </p:nvSpPr>
        <p:spPr>
          <a:xfrm>
            <a:off x="8705088" y="4261104"/>
            <a:ext cx="2468880" cy="393192"/>
          </a:xfrm>
          <a:prstGeom prst="rect">
            <a:avLst/>
          </a:prstGeom>
          <a:noFill/>
        </p:spPr>
        <p:txBody>
          <a:bodyPr wrap="square" lIns="0" rIns="0" tIns="0" bIns="0">
            <a:noAutofit/>
          </a:bodyPr>
          <a:lstStyle/>
          <a:p>
            <a:pPr algn="l">
              <a:lnSpc>
                <a:spcPct val="112000"/>
              </a:lnSpc>
              <a:spcBef>
                <a:spcPts val="0"/>
              </a:spcBef>
              <a:spcAft>
                <a:spcPts val="700"/>
              </a:spcAft>
            </a:pPr>
            <a:r>
              <a:rPr sz="2300" b="1">
                <a:solidFill>
                  <a:srgbClr val="FFFFFF"/>
                </a:solidFill>
                <a:latin typeface="Arial"/>
              </a:rPr>
              <a:t>PHONE</a:t>
            </a:r>
          </a:p>
        </p:txBody>
      </p:sp>
      <p:sp>
        <p:nvSpPr>
          <p:cNvPr id="20" name="TextBox 19"/>
          <p:cNvSpPr txBox="1"/>
          <p:nvPr/>
        </p:nvSpPr>
        <p:spPr>
          <a:xfrm>
            <a:off x="548640" y="5486400"/>
            <a:ext cx="11064240" cy="502920"/>
          </a:xfrm>
          <a:prstGeom prst="rect">
            <a:avLst/>
          </a:prstGeom>
          <a:noFill/>
        </p:spPr>
        <p:txBody>
          <a:bodyPr wrap="square" lIns="0" rIns="0" tIns="0" bIns="0">
            <a:noAutofit/>
          </a:bodyPr>
          <a:lstStyle/>
          <a:p>
            <a:pPr algn="ctr">
              <a:lnSpc>
                <a:spcPct val="112000"/>
              </a:lnSpc>
              <a:spcBef>
                <a:spcPts val="0"/>
              </a:spcBef>
              <a:spcAft>
                <a:spcPts val="700"/>
              </a:spcAft>
            </a:pPr>
            <a:r>
              <a:rPr sz="2200" b="0">
                <a:solidFill>
                  <a:srgbClr val="1F2328"/>
                </a:solidFill>
                <a:latin typeface="Arial"/>
              </a:rPr>
              <a:t>Score · Miss · Foul · Turnover · Undo · Save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9184"/>
            <a:ext cx="11064240" cy="256032"/>
          </a:xfrm>
          <a:prstGeom prst="rect">
            <a:avLst/>
          </a:prstGeom>
          <a:noFill/>
        </p:spPr>
        <p:txBody>
          <a:bodyPr wrap="square" lIns="0" rIns="0" tIns="0" bIns="0">
            <a:noAutofit/>
          </a:bodyPr>
          <a:lstStyle/>
          <a:p>
            <a:pPr algn="l">
              <a:lnSpc>
                <a:spcPct val="112000"/>
              </a:lnSpc>
              <a:spcBef>
                <a:spcPts val="0"/>
              </a:spcBef>
              <a:spcAft>
                <a:spcPts val="700"/>
              </a:spcAft>
            </a:pPr>
            <a:r>
              <a:rPr sz="1200" b="1">
                <a:solidFill>
                  <a:srgbClr val="FF8A00"/>
                </a:solidFill>
                <a:latin typeface="Arial"/>
              </a:rPr>
              <a:t>FEATURES/DEMO · KALEB</a:t>
            </a:r>
          </a:p>
        </p:txBody>
      </p:sp>
      <p:sp>
        <p:nvSpPr>
          <p:cNvPr id="3" name="TextBox 2"/>
          <p:cNvSpPr txBox="1"/>
          <p:nvPr/>
        </p:nvSpPr>
        <p:spPr>
          <a:xfrm>
            <a:off x="548640" y="777240"/>
            <a:ext cx="11064240" cy="749808"/>
          </a:xfrm>
          <a:prstGeom prst="rect">
            <a:avLst/>
          </a:prstGeom>
          <a:noFill/>
        </p:spPr>
        <p:txBody>
          <a:bodyPr wrap="square" lIns="0" rIns="0" tIns="0" bIns="0">
            <a:noAutofit/>
          </a:bodyPr>
          <a:lstStyle/>
          <a:p>
            <a:pPr algn="l">
              <a:lnSpc>
                <a:spcPct val="112000"/>
              </a:lnSpc>
              <a:spcBef>
                <a:spcPts val="0"/>
              </a:spcBef>
              <a:spcAft>
                <a:spcPts val="700"/>
              </a:spcAft>
            </a:pPr>
            <a:r>
              <a:rPr sz="3400" b="1">
                <a:solidFill>
                  <a:srgbClr val="1F2328"/>
                </a:solidFill>
                <a:latin typeface="Arial"/>
              </a:rPr>
              <a:t>One match. Two iPhones.</a:t>
            </a:r>
          </a:p>
        </p:txBody>
      </p:sp>
      <p:sp>
        <p:nvSpPr>
          <p:cNvPr id="4" name="TextBox 3"/>
          <p:cNvSpPr txBox="1"/>
          <p:nvPr/>
        </p:nvSpPr>
        <p:spPr>
          <a:xfrm>
            <a:off x="548640" y="6528816"/>
            <a:ext cx="9144000" cy="182880"/>
          </a:xfrm>
          <a:prstGeom prst="rect">
            <a:avLst/>
          </a:prstGeom>
          <a:noFill/>
        </p:spPr>
        <p:txBody>
          <a:bodyPr wrap="square" lIns="0" rIns="0" tIns="0" bIns="0">
            <a:noAutofit/>
          </a:bodyPr>
          <a:lstStyle/>
          <a:p>
            <a:pPr algn="l">
              <a:lnSpc>
                <a:spcPct val="112000"/>
              </a:lnSpc>
              <a:spcBef>
                <a:spcPts val="0"/>
              </a:spcBef>
              <a:spcAft>
                <a:spcPts val="700"/>
              </a:spcAft>
            </a:pPr>
            <a:r>
              <a:rPr sz="1000" b="0">
                <a:solidFill>
                  <a:srgbClr val="5B6573"/>
                </a:solidFill>
                <a:latin typeface="Arial"/>
              </a:rPr>
              <a:t>SQUATCH SPORTS · TEAM 11</a:t>
            </a:r>
          </a:p>
        </p:txBody>
      </p:sp>
      <p:sp>
        <p:nvSpPr>
          <p:cNvPr id="5" name="TextBox 4"/>
          <p:cNvSpPr txBox="1"/>
          <p:nvPr/>
        </p:nvSpPr>
        <p:spPr>
          <a:xfrm>
            <a:off x="11091672" y="6510528"/>
            <a:ext cx="521207" cy="201168"/>
          </a:xfrm>
          <a:prstGeom prst="rect">
            <a:avLst/>
          </a:prstGeom>
          <a:noFill/>
        </p:spPr>
        <p:txBody>
          <a:bodyPr wrap="square" lIns="0" rIns="0" tIns="0" bIns="0">
            <a:noAutofit/>
          </a:bodyPr>
          <a:lstStyle/>
          <a:p>
            <a:pPr algn="r">
              <a:lnSpc>
                <a:spcPct val="112000"/>
              </a:lnSpc>
              <a:spcBef>
                <a:spcPts val="0"/>
              </a:spcBef>
              <a:spcAft>
                <a:spcPts val="700"/>
              </a:spcAft>
            </a:pPr>
            <a:r>
              <a:rPr sz="1000" b="0">
                <a:solidFill>
                  <a:srgbClr val="5B6573"/>
                </a:solidFill>
                <a:latin typeface="Arial"/>
              </a:rPr>
              <a:t>05</a:t>
            </a:r>
          </a:p>
        </p:txBody>
      </p:sp>
      <p:sp>
        <p:nvSpPr>
          <p:cNvPr id="6" name="Rounded Rectangle 5"/>
          <p:cNvSpPr/>
          <p:nvPr/>
        </p:nvSpPr>
        <p:spPr>
          <a:xfrm>
            <a:off x="1097280" y="1920240"/>
            <a:ext cx="3337560" cy="2304288"/>
          </a:xfrm>
          <a:prstGeom prst="roundRect">
            <a:avLst>
              <a:gd name="adj" fmla="val 10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25880" y="2404872"/>
            <a:ext cx="2880360" cy="384048"/>
          </a:xfrm>
          <a:prstGeom prst="rect">
            <a:avLst/>
          </a:prstGeom>
          <a:noFill/>
        </p:spPr>
        <p:txBody>
          <a:bodyPr wrap="square" lIns="0" rIns="0" tIns="0" bIns="0">
            <a:noAutofit/>
          </a:bodyPr>
          <a:lstStyle/>
          <a:p>
            <a:pPr algn="ctr">
              <a:lnSpc>
                <a:spcPct val="112000"/>
              </a:lnSpc>
              <a:spcBef>
                <a:spcPts val="0"/>
              </a:spcBef>
              <a:spcAft>
                <a:spcPts val="700"/>
              </a:spcAft>
            </a:pPr>
            <a:r>
              <a:rPr sz="2100" b="1">
                <a:solidFill>
                  <a:srgbClr val="E83845"/>
                </a:solidFill>
                <a:latin typeface="Arial"/>
              </a:rPr>
              <a:t>YOUR PHONE</a:t>
            </a:r>
          </a:p>
        </p:txBody>
      </p:sp>
      <p:sp>
        <p:nvSpPr>
          <p:cNvPr id="8" name="TextBox 7"/>
          <p:cNvSpPr txBox="1"/>
          <p:nvPr/>
        </p:nvSpPr>
        <p:spPr>
          <a:xfrm>
            <a:off x="1325880" y="3108960"/>
            <a:ext cx="2880360" cy="758952"/>
          </a:xfrm>
          <a:prstGeom prst="rect">
            <a:avLst/>
          </a:prstGeom>
          <a:noFill/>
        </p:spPr>
        <p:txBody>
          <a:bodyPr wrap="square" lIns="0" rIns="0" tIns="0" bIns="0">
            <a:noAutofit/>
          </a:bodyPr>
          <a:lstStyle/>
          <a:p>
            <a:pPr algn="ctr">
              <a:lnSpc>
                <a:spcPct val="112000"/>
              </a:lnSpc>
              <a:spcBef>
                <a:spcPts val="0"/>
              </a:spcBef>
              <a:spcAft>
                <a:spcPts val="700"/>
              </a:spcAft>
            </a:pPr>
            <a:r>
              <a:rPr sz="2100" b="0">
                <a:solidFill>
                  <a:srgbClr val="1F2328"/>
                </a:solidFill>
                <a:latin typeface="Arial"/>
              </a:rPr>
              <a:t>Same match</a:t>
            </a:r>
          </a:p>
          <a:p>
            <a:pPr algn="ctr">
              <a:lnSpc>
                <a:spcPct val="112000"/>
              </a:lnSpc>
              <a:spcBef>
                <a:spcPts val="0"/>
              </a:spcBef>
              <a:spcAft>
                <a:spcPts val="700"/>
              </a:spcAft>
            </a:pPr>
            <a:r>
              <a:rPr sz="2100" b="0">
                <a:solidFill>
                  <a:srgbClr val="1F2328"/>
                </a:solidFill>
                <a:latin typeface="Arial"/>
              </a:rPr>
              <a:t>Your own side</a:t>
            </a:r>
          </a:p>
        </p:txBody>
      </p:sp>
      <p:sp>
        <p:nvSpPr>
          <p:cNvPr id="9" name="Rounded Rectangle 8"/>
          <p:cNvSpPr/>
          <p:nvPr/>
        </p:nvSpPr>
        <p:spPr>
          <a:xfrm>
            <a:off x="7772400" y="1920240"/>
            <a:ext cx="3337560" cy="2304288"/>
          </a:xfrm>
          <a:prstGeom prst="roundRect">
            <a:avLst>
              <a:gd name="adj" fmla="val 10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0" y="2404872"/>
            <a:ext cx="2880360" cy="384048"/>
          </a:xfrm>
          <a:prstGeom prst="rect">
            <a:avLst/>
          </a:prstGeom>
          <a:noFill/>
        </p:spPr>
        <p:txBody>
          <a:bodyPr wrap="square" lIns="0" rIns="0" tIns="0" bIns="0">
            <a:noAutofit/>
          </a:bodyPr>
          <a:lstStyle/>
          <a:p>
            <a:pPr algn="ctr">
              <a:lnSpc>
                <a:spcPct val="112000"/>
              </a:lnSpc>
              <a:spcBef>
                <a:spcPts val="0"/>
              </a:spcBef>
              <a:spcAft>
                <a:spcPts val="700"/>
              </a:spcAft>
            </a:pPr>
            <a:r>
              <a:rPr sz="2100" b="1">
                <a:solidFill>
                  <a:srgbClr val="2978F5"/>
                </a:solidFill>
                <a:latin typeface="Arial"/>
              </a:rPr>
              <a:t>OPPONENT</a:t>
            </a:r>
          </a:p>
        </p:txBody>
      </p:sp>
      <p:sp>
        <p:nvSpPr>
          <p:cNvPr id="11" name="TextBox 10"/>
          <p:cNvSpPr txBox="1"/>
          <p:nvPr/>
        </p:nvSpPr>
        <p:spPr>
          <a:xfrm>
            <a:off x="8001000" y="3108960"/>
            <a:ext cx="2880360" cy="758952"/>
          </a:xfrm>
          <a:prstGeom prst="rect">
            <a:avLst/>
          </a:prstGeom>
          <a:noFill/>
        </p:spPr>
        <p:txBody>
          <a:bodyPr wrap="square" lIns="0" rIns="0" tIns="0" bIns="0">
            <a:noAutofit/>
          </a:bodyPr>
          <a:lstStyle/>
          <a:p>
            <a:pPr algn="ctr">
              <a:lnSpc>
                <a:spcPct val="112000"/>
              </a:lnSpc>
              <a:spcBef>
                <a:spcPts val="0"/>
              </a:spcBef>
              <a:spcAft>
                <a:spcPts val="700"/>
              </a:spcAft>
            </a:pPr>
            <a:r>
              <a:rPr sz="2100" b="0">
                <a:solidFill>
                  <a:srgbClr val="1F2328"/>
                </a:solidFill>
                <a:latin typeface="Arial"/>
              </a:rPr>
              <a:t>Same match</a:t>
            </a:r>
          </a:p>
          <a:p>
            <a:pPr algn="ctr">
              <a:lnSpc>
                <a:spcPct val="112000"/>
              </a:lnSpc>
              <a:spcBef>
                <a:spcPts val="0"/>
              </a:spcBef>
              <a:spcAft>
                <a:spcPts val="700"/>
              </a:spcAft>
            </a:pPr>
            <a:r>
              <a:rPr sz="2100" b="0">
                <a:solidFill>
                  <a:srgbClr val="1F2328"/>
                </a:solidFill>
                <a:latin typeface="Arial"/>
              </a:rPr>
              <a:t>Your own side</a:t>
            </a:r>
          </a:p>
        </p:txBody>
      </p:sp>
      <p:sp>
        <p:nvSpPr>
          <p:cNvPr id="12" name="TextBox 11"/>
          <p:cNvSpPr txBox="1"/>
          <p:nvPr/>
        </p:nvSpPr>
        <p:spPr>
          <a:xfrm>
            <a:off x="4919472" y="2587752"/>
            <a:ext cx="2286000" cy="822960"/>
          </a:xfrm>
          <a:prstGeom prst="rect">
            <a:avLst/>
          </a:prstGeom>
          <a:noFill/>
        </p:spPr>
        <p:txBody>
          <a:bodyPr wrap="square" lIns="0" rIns="0" tIns="0" bIns="0">
            <a:noAutofit/>
          </a:bodyPr>
          <a:lstStyle/>
          <a:p>
            <a:pPr algn="ctr">
              <a:lnSpc>
                <a:spcPct val="112000"/>
              </a:lnSpc>
              <a:spcBef>
                <a:spcPts val="0"/>
              </a:spcBef>
              <a:spcAft>
                <a:spcPts val="700"/>
              </a:spcAft>
            </a:pPr>
            <a:r>
              <a:rPr sz="5200" b="1">
                <a:solidFill>
                  <a:srgbClr val="FF8A00"/>
                </a:solidFill>
                <a:latin typeface="Arial"/>
              </a:rPr>
              <a:t>↔</a:t>
            </a:r>
          </a:p>
        </p:txBody>
      </p:sp>
      <p:sp>
        <p:nvSpPr>
          <p:cNvPr id="13" name="TextBox 12"/>
          <p:cNvSpPr txBox="1"/>
          <p:nvPr/>
        </p:nvSpPr>
        <p:spPr>
          <a:xfrm>
            <a:off x="548640" y="4736592"/>
            <a:ext cx="11064240" cy="594360"/>
          </a:xfrm>
          <a:prstGeom prst="rect">
            <a:avLst/>
          </a:prstGeom>
          <a:noFill/>
        </p:spPr>
        <p:txBody>
          <a:bodyPr wrap="square" lIns="0" rIns="0" tIns="0" bIns="0">
            <a:noAutofit/>
          </a:bodyPr>
          <a:lstStyle/>
          <a:p>
            <a:pPr algn="ctr">
              <a:lnSpc>
                <a:spcPct val="112000"/>
              </a:lnSpc>
              <a:spcBef>
                <a:spcPts val="0"/>
              </a:spcBef>
              <a:spcAft>
                <a:spcPts val="700"/>
              </a:spcAft>
            </a:pPr>
            <a:r>
              <a:rPr sz="2800" b="0">
                <a:solidFill>
                  <a:srgbClr val="1F2328"/>
                </a:solidFill>
                <a:latin typeface="Arial"/>
              </a:rPr>
              <a:t>Discover → Connect → Play</a:t>
            </a:r>
          </a:p>
        </p:txBody>
      </p:sp>
      <p:sp>
        <p:nvSpPr>
          <p:cNvPr id="14" name="TextBox 13"/>
          <p:cNvSpPr txBox="1"/>
          <p:nvPr/>
        </p:nvSpPr>
        <p:spPr>
          <a:xfrm>
            <a:off x="548640" y="5650992"/>
            <a:ext cx="11064240" cy="402336"/>
          </a:xfrm>
          <a:prstGeom prst="rect">
            <a:avLst/>
          </a:prstGeom>
          <a:noFill/>
        </p:spPr>
        <p:txBody>
          <a:bodyPr wrap="square" lIns="0" rIns="0" tIns="0" bIns="0">
            <a:noAutofit/>
          </a:bodyPr>
          <a:lstStyle/>
          <a:p>
            <a:pPr algn="ctr">
              <a:lnSpc>
                <a:spcPct val="112000"/>
              </a:lnSpc>
              <a:spcBef>
                <a:spcPts val="0"/>
              </a:spcBef>
              <a:spcAft>
                <a:spcPts val="700"/>
              </a:spcAft>
            </a:pPr>
            <a:r>
              <a:rPr sz="1900" b="1">
                <a:solidFill>
                  <a:srgbClr val="2FA85A"/>
                </a:solidFill>
                <a:latin typeface="Arial"/>
              </a:rPr>
              <a:t>Tested and complete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9184"/>
            <a:ext cx="11064240" cy="256032"/>
          </a:xfrm>
          <a:prstGeom prst="rect">
            <a:avLst/>
          </a:prstGeom>
          <a:noFill/>
        </p:spPr>
        <p:txBody>
          <a:bodyPr wrap="square" lIns="0" rIns="0" tIns="0" bIns="0">
            <a:noAutofit/>
          </a:bodyPr>
          <a:lstStyle/>
          <a:p>
            <a:pPr algn="l">
              <a:lnSpc>
                <a:spcPct val="112000"/>
              </a:lnSpc>
              <a:spcBef>
                <a:spcPts val="0"/>
              </a:spcBef>
              <a:spcAft>
                <a:spcPts val="700"/>
              </a:spcAft>
            </a:pPr>
            <a:r>
              <a:rPr sz="1200" b="1">
                <a:solidFill>
                  <a:srgbClr val="FF8A00"/>
                </a:solidFill>
                <a:latin typeface="Arial"/>
              </a:rPr>
              <a:t>FEATURES/DEMO · KELLAM</a:t>
            </a:r>
          </a:p>
        </p:txBody>
      </p:sp>
      <p:sp>
        <p:nvSpPr>
          <p:cNvPr id="3" name="TextBox 2"/>
          <p:cNvSpPr txBox="1"/>
          <p:nvPr/>
        </p:nvSpPr>
        <p:spPr>
          <a:xfrm>
            <a:off x="548640" y="777240"/>
            <a:ext cx="11064240" cy="749808"/>
          </a:xfrm>
          <a:prstGeom prst="rect">
            <a:avLst/>
          </a:prstGeom>
          <a:noFill/>
        </p:spPr>
        <p:txBody>
          <a:bodyPr wrap="square" lIns="0" rIns="0" tIns="0" bIns="0">
            <a:noAutofit/>
          </a:bodyPr>
          <a:lstStyle/>
          <a:p>
            <a:pPr algn="l">
              <a:lnSpc>
                <a:spcPct val="112000"/>
              </a:lnSpc>
              <a:spcBef>
                <a:spcPts val="0"/>
              </a:spcBef>
              <a:spcAft>
                <a:spcPts val="700"/>
              </a:spcAft>
            </a:pPr>
            <a:r>
              <a:rPr sz="3400" b="1">
                <a:solidFill>
                  <a:srgbClr val="1F2328"/>
                </a:solidFill>
                <a:latin typeface="Arial"/>
              </a:rPr>
              <a:t>Android + Wear OS</a:t>
            </a:r>
          </a:p>
        </p:txBody>
      </p:sp>
      <p:sp>
        <p:nvSpPr>
          <p:cNvPr id="4" name="TextBox 3"/>
          <p:cNvSpPr txBox="1"/>
          <p:nvPr/>
        </p:nvSpPr>
        <p:spPr>
          <a:xfrm>
            <a:off x="548640" y="6528816"/>
            <a:ext cx="9144000" cy="182880"/>
          </a:xfrm>
          <a:prstGeom prst="rect">
            <a:avLst/>
          </a:prstGeom>
          <a:noFill/>
        </p:spPr>
        <p:txBody>
          <a:bodyPr wrap="square" lIns="0" rIns="0" tIns="0" bIns="0">
            <a:noAutofit/>
          </a:bodyPr>
          <a:lstStyle/>
          <a:p>
            <a:pPr algn="l">
              <a:lnSpc>
                <a:spcPct val="112000"/>
              </a:lnSpc>
              <a:spcBef>
                <a:spcPts val="0"/>
              </a:spcBef>
              <a:spcAft>
                <a:spcPts val="700"/>
              </a:spcAft>
            </a:pPr>
            <a:r>
              <a:rPr sz="1000" b="0">
                <a:solidFill>
                  <a:srgbClr val="5B6573"/>
                </a:solidFill>
                <a:latin typeface="Arial"/>
              </a:rPr>
              <a:t>SQUATCH SPORTS · TEAM 11</a:t>
            </a:r>
          </a:p>
        </p:txBody>
      </p:sp>
      <p:sp>
        <p:nvSpPr>
          <p:cNvPr id="5" name="TextBox 4"/>
          <p:cNvSpPr txBox="1"/>
          <p:nvPr/>
        </p:nvSpPr>
        <p:spPr>
          <a:xfrm>
            <a:off x="11091672" y="6510528"/>
            <a:ext cx="521207" cy="201168"/>
          </a:xfrm>
          <a:prstGeom prst="rect">
            <a:avLst/>
          </a:prstGeom>
          <a:noFill/>
        </p:spPr>
        <p:txBody>
          <a:bodyPr wrap="square" lIns="0" rIns="0" tIns="0" bIns="0">
            <a:noAutofit/>
          </a:bodyPr>
          <a:lstStyle/>
          <a:p>
            <a:pPr algn="r">
              <a:lnSpc>
                <a:spcPct val="112000"/>
              </a:lnSpc>
              <a:spcBef>
                <a:spcPts val="0"/>
              </a:spcBef>
              <a:spcAft>
                <a:spcPts val="700"/>
              </a:spcAft>
            </a:pPr>
            <a:r>
              <a:rPr sz="1000" b="0">
                <a:solidFill>
                  <a:srgbClr val="5B6573"/>
                </a:solidFill>
                <a:latin typeface="Arial"/>
              </a:rPr>
              <a:t>06</a:t>
            </a:r>
          </a:p>
        </p:txBody>
      </p:sp>
      <p:sp>
        <p:nvSpPr>
          <p:cNvPr id="6" name="Rectangle 5"/>
          <p:cNvSpPr/>
          <p:nvPr/>
        </p:nvSpPr>
        <p:spPr>
          <a:xfrm>
            <a:off x="548640" y="2139696"/>
            <a:ext cx="82296" cy="82296"/>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2029968"/>
            <a:ext cx="5276088" cy="941831"/>
          </a:xfrm>
          <a:prstGeom prst="rect">
            <a:avLst/>
          </a:prstGeom>
          <a:noFill/>
        </p:spPr>
        <p:txBody>
          <a:bodyPr wrap="square" lIns="0" rIns="0" tIns="0" bIns="0">
            <a:noAutofit/>
          </a:bodyPr>
          <a:lstStyle/>
          <a:p>
            <a:pPr algn="l">
              <a:lnSpc>
                <a:spcPct val="112000"/>
              </a:lnSpc>
              <a:spcBef>
                <a:spcPts val="0"/>
              </a:spcBef>
              <a:spcAft>
                <a:spcPts val="700"/>
              </a:spcAft>
            </a:pPr>
            <a:r>
              <a:rPr sz="2300" b="0">
                <a:solidFill>
                  <a:srgbClr val="1F2328"/>
                </a:solidFill>
                <a:latin typeface="Arial"/>
              </a:rPr>
              <a:t>Phone and watch scorekeeping</a:t>
            </a:r>
          </a:p>
        </p:txBody>
      </p:sp>
      <p:sp>
        <p:nvSpPr>
          <p:cNvPr id="8" name="Rectangle 7"/>
          <p:cNvSpPr/>
          <p:nvPr/>
        </p:nvSpPr>
        <p:spPr>
          <a:xfrm>
            <a:off x="548640" y="3191256"/>
            <a:ext cx="82296" cy="82296"/>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3081528"/>
            <a:ext cx="5276088" cy="941831"/>
          </a:xfrm>
          <a:prstGeom prst="rect">
            <a:avLst/>
          </a:prstGeom>
          <a:noFill/>
        </p:spPr>
        <p:txBody>
          <a:bodyPr wrap="square" lIns="0" rIns="0" tIns="0" bIns="0">
            <a:noAutofit/>
          </a:bodyPr>
          <a:lstStyle/>
          <a:p>
            <a:pPr algn="l">
              <a:lnSpc>
                <a:spcPct val="112000"/>
              </a:lnSpc>
              <a:spcBef>
                <a:spcPts val="0"/>
              </a:spcBef>
              <a:spcAft>
                <a:spcPts val="700"/>
              </a:spcAft>
            </a:pPr>
            <a:r>
              <a:rPr sz="2300" b="0">
                <a:solidFill>
                  <a:srgbClr val="1F2328"/>
                </a:solidFill>
                <a:latin typeface="Arial"/>
              </a:rPr>
              <a:t>Saved matches and records</a:t>
            </a:r>
          </a:p>
        </p:txBody>
      </p:sp>
      <p:sp>
        <p:nvSpPr>
          <p:cNvPr id="10" name="Rectangle 9"/>
          <p:cNvSpPr/>
          <p:nvPr/>
        </p:nvSpPr>
        <p:spPr>
          <a:xfrm>
            <a:off x="548640" y="4242816"/>
            <a:ext cx="82296" cy="82296"/>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4133087"/>
            <a:ext cx="5276088" cy="941831"/>
          </a:xfrm>
          <a:prstGeom prst="rect">
            <a:avLst/>
          </a:prstGeom>
          <a:noFill/>
        </p:spPr>
        <p:txBody>
          <a:bodyPr wrap="square" lIns="0" rIns="0" tIns="0" bIns="0">
            <a:noAutofit/>
          </a:bodyPr>
          <a:lstStyle/>
          <a:p>
            <a:pPr algn="l">
              <a:lnSpc>
                <a:spcPct val="112000"/>
              </a:lnSpc>
              <a:spcBef>
                <a:spcPts val="0"/>
              </a:spcBef>
              <a:spcAft>
                <a:spcPts val="700"/>
              </a:spcAft>
            </a:pPr>
            <a:r>
              <a:rPr sz="2300" b="0">
                <a:solidFill>
                  <a:srgbClr val="1F2328"/>
                </a:solidFill>
                <a:latin typeface="Arial"/>
              </a:rPr>
              <a:t>Nearby Android-to-Android play</a:t>
            </a:r>
          </a:p>
        </p:txBody>
      </p:sp>
      <p:sp>
        <p:nvSpPr>
          <p:cNvPr id="12" name="Rounded Rectangle 11"/>
          <p:cNvSpPr/>
          <p:nvPr/>
        </p:nvSpPr>
        <p:spPr>
          <a:xfrm>
            <a:off x="548640" y="5623560"/>
            <a:ext cx="1554480" cy="356616"/>
          </a:xfrm>
          <a:prstGeom prst="roundRect">
            <a:avLst>
              <a:gd name="adj" fmla="val 10000"/>
            </a:avLst>
          </a:prstGeom>
          <a:solidFill>
            <a:srgbClr val="2FA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5701284"/>
            <a:ext cx="1463039" cy="210312"/>
          </a:xfrm>
          <a:prstGeom prst="rect">
            <a:avLst/>
          </a:prstGeom>
          <a:noFill/>
        </p:spPr>
        <p:txBody>
          <a:bodyPr wrap="square" lIns="0" rIns="0" tIns="0" bIns="0">
            <a:noAutofit/>
          </a:bodyPr>
          <a:lstStyle/>
          <a:p>
            <a:pPr algn="ctr">
              <a:lnSpc>
                <a:spcPct val="112000"/>
              </a:lnSpc>
              <a:spcBef>
                <a:spcPts val="0"/>
              </a:spcBef>
              <a:spcAft>
                <a:spcPts val="700"/>
              </a:spcAft>
            </a:pPr>
            <a:r>
              <a:rPr sz="1100" b="1">
                <a:solidFill>
                  <a:srgbClr val="FFFFFF"/>
                </a:solidFill>
                <a:latin typeface="Arial"/>
              </a:rPr>
              <a:t>MERGED</a:t>
            </a:r>
          </a:p>
        </p:txBody>
      </p:sp>
      <p:pic>
        <p:nvPicPr>
          <p:cNvPr id="14" name="Picture 13" descr="phone_1v1.png"/>
          <p:cNvPicPr>
            <a:picLocks noChangeAspect="1"/>
          </p:cNvPicPr>
          <p:nvPr/>
        </p:nvPicPr>
        <p:blipFill>
          <a:blip r:embed="rId2"/>
          <a:stretch>
            <a:fillRect/>
          </a:stretch>
        </p:blipFill>
        <p:spPr>
          <a:xfrm>
            <a:off x="6522872" y="1728216"/>
            <a:ext cx="2032711" cy="4517136"/>
          </a:xfrm>
          <a:prstGeom prst="rect">
            <a:avLst/>
          </a:prstGeom>
        </p:spPr>
      </p:pic>
      <p:pic>
        <p:nvPicPr>
          <p:cNvPr id="15" name="Picture 14" descr="wear_1v1.png"/>
          <p:cNvPicPr>
            <a:picLocks noChangeAspect="1"/>
          </p:cNvPicPr>
          <p:nvPr/>
        </p:nvPicPr>
        <p:blipFill>
          <a:blip r:embed="rId3"/>
          <a:stretch>
            <a:fillRect/>
          </a:stretch>
        </p:blipFill>
        <p:spPr>
          <a:xfrm>
            <a:off x="9162288" y="1837943"/>
            <a:ext cx="2377440" cy="2377440"/>
          </a:xfrm>
          <a:prstGeom prst="rect">
            <a:avLst/>
          </a:prstGeom>
        </p:spPr>
      </p:pic>
      <p:pic>
        <p:nvPicPr>
          <p:cNvPr id="16" name="Picture 15" descr="wear_controls.png"/>
          <p:cNvPicPr>
            <a:picLocks noChangeAspect="1"/>
          </p:cNvPicPr>
          <p:nvPr/>
        </p:nvPicPr>
        <p:blipFill>
          <a:blip r:embed="rId4"/>
          <a:stretch>
            <a:fillRect/>
          </a:stretch>
        </p:blipFill>
        <p:spPr>
          <a:xfrm>
            <a:off x="9427464" y="4398264"/>
            <a:ext cx="1847088" cy="1847088"/>
          </a:xfrm>
          <a:prstGeom prst="rect">
            <a:avLst/>
          </a:prstGeom>
        </p:spPr>
      </p:pic>
      <p:sp>
        <p:nvSpPr>
          <p:cNvPr id="17" name="TextBox 16"/>
          <p:cNvSpPr txBox="1"/>
          <p:nvPr/>
        </p:nvSpPr>
        <p:spPr>
          <a:xfrm>
            <a:off x="8906256" y="6318504"/>
            <a:ext cx="2880360" cy="182880"/>
          </a:xfrm>
          <a:prstGeom prst="rect">
            <a:avLst/>
          </a:prstGeom>
          <a:noFill/>
        </p:spPr>
        <p:txBody>
          <a:bodyPr wrap="square" lIns="0" rIns="0" tIns="0" bIns="0">
            <a:noAutofit/>
          </a:bodyPr>
          <a:lstStyle/>
          <a:p>
            <a:pPr algn="ctr">
              <a:lnSpc>
                <a:spcPct val="112000"/>
              </a:lnSpc>
              <a:spcBef>
                <a:spcPts val="0"/>
              </a:spcBef>
              <a:spcAft>
                <a:spcPts val="700"/>
              </a:spcAft>
            </a:pPr>
            <a:r>
              <a:rPr sz="1050" b="0">
                <a:solidFill>
                  <a:srgbClr val="5B6573"/>
                </a:solidFill>
                <a:latin typeface="Arial"/>
              </a:rPr>
              <a:t>Scroll for more controls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9184"/>
            <a:ext cx="11064240" cy="256032"/>
          </a:xfrm>
          <a:prstGeom prst="rect">
            <a:avLst/>
          </a:prstGeom>
          <a:noFill/>
        </p:spPr>
        <p:txBody>
          <a:bodyPr wrap="square" lIns="0" rIns="0" tIns="0" bIns="0">
            <a:noAutofit/>
          </a:bodyPr>
          <a:lstStyle/>
          <a:p>
            <a:pPr algn="l">
              <a:lnSpc>
                <a:spcPct val="112000"/>
              </a:lnSpc>
              <a:spcBef>
                <a:spcPts val="0"/>
              </a:spcBef>
              <a:spcAft>
                <a:spcPts val="700"/>
              </a:spcAft>
            </a:pPr>
            <a:r>
              <a:rPr sz="1200" b="1">
                <a:solidFill>
                  <a:srgbClr val="FF8A00"/>
                </a:solidFill>
                <a:latin typeface="Arial"/>
              </a:rPr>
              <a:t>DEPLOYMENT &amp; TESTING</a:t>
            </a:r>
          </a:p>
        </p:txBody>
      </p:sp>
      <p:sp>
        <p:nvSpPr>
          <p:cNvPr id="3" name="TextBox 2"/>
          <p:cNvSpPr txBox="1"/>
          <p:nvPr/>
        </p:nvSpPr>
        <p:spPr>
          <a:xfrm>
            <a:off x="548640" y="777240"/>
            <a:ext cx="11064240" cy="749808"/>
          </a:xfrm>
          <a:prstGeom prst="rect">
            <a:avLst/>
          </a:prstGeom>
          <a:noFill/>
        </p:spPr>
        <p:txBody>
          <a:bodyPr wrap="square" lIns="0" rIns="0" tIns="0" bIns="0">
            <a:noAutofit/>
          </a:bodyPr>
          <a:lstStyle/>
          <a:p>
            <a:pPr algn="l">
              <a:lnSpc>
                <a:spcPct val="112000"/>
              </a:lnSpc>
              <a:spcBef>
                <a:spcPts val="0"/>
              </a:spcBef>
              <a:spcAft>
                <a:spcPts val="700"/>
              </a:spcAft>
            </a:pPr>
            <a:r>
              <a:rPr sz="3400" b="1">
                <a:solidFill>
                  <a:srgbClr val="1F2328"/>
                </a:solidFill>
                <a:latin typeface="Arial"/>
              </a:rPr>
              <a:t>Built. Tested. Ready for device rollout.</a:t>
            </a:r>
          </a:p>
        </p:txBody>
      </p:sp>
      <p:sp>
        <p:nvSpPr>
          <p:cNvPr id="4" name="TextBox 3"/>
          <p:cNvSpPr txBox="1"/>
          <p:nvPr/>
        </p:nvSpPr>
        <p:spPr>
          <a:xfrm>
            <a:off x="548640" y="6528816"/>
            <a:ext cx="9144000" cy="182880"/>
          </a:xfrm>
          <a:prstGeom prst="rect">
            <a:avLst/>
          </a:prstGeom>
          <a:noFill/>
        </p:spPr>
        <p:txBody>
          <a:bodyPr wrap="square" lIns="0" rIns="0" tIns="0" bIns="0">
            <a:noAutofit/>
          </a:bodyPr>
          <a:lstStyle/>
          <a:p>
            <a:pPr algn="l">
              <a:lnSpc>
                <a:spcPct val="112000"/>
              </a:lnSpc>
              <a:spcBef>
                <a:spcPts val="0"/>
              </a:spcBef>
              <a:spcAft>
                <a:spcPts val="700"/>
              </a:spcAft>
            </a:pPr>
            <a:r>
              <a:rPr sz="1000" b="0">
                <a:solidFill>
                  <a:srgbClr val="5B6573"/>
                </a:solidFill>
                <a:latin typeface="Arial"/>
              </a:rPr>
              <a:t>SQUATCH SPORTS · TEAM 11</a:t>
            </a:r>
          </a:p>
        </p:txBody>
      </p:sp>
      <p:sp>
        <p:nvSpPr>
          <p:cNvPr id="5" name="TextBox 4"/>
          <p:cNvSpPr txBox="1"/>
          <p:nvPr/>
        </p:nvSpPr>
        <p:spPr>
          <a:xfrm>
            <a:off x="11091672" y="6510528"/>
            <a:ext cx="521207" cy="201168"/>
          </a:xfrm>
          <a:prstGeom prst="rect">
            <a:avLst/>
          </a:prstGeom>
          <a:noFill/>
        </p:spPr>
        <p:txBody>
          <a:bodyPr wrap="square" lIns="0" rIns="0" tIns="0" bIns="0">
            <a:noAutofit/>
          </a:bodyPr>
          <a:lstStyle/>
          <a:p>
            <a:pPr algn="r">
              <a:lnSpc>
                <a:spcPct val="112000"/>
              </a:lnSpc>
              <a:spcBef>
                <a:spcPts val="0"/>
              </a:spcBef>
              <a:spcAft>
                <a:spcPts val="700"/>
              </a:spcAft>
            </a:pPr>
            <a:r>
              <a:rPr sz="1000" b="0">
                <a:solidFill>
                  <a:srgbClr val="5B6573"/>
                </a:solidFill>
                <a:latin typeface="Arial"/>
              </a:rPr>
              <a:t>07</a:t>
            </a:r>
          </a:p>
        </p:txBody>
      </p:sp>
      <p:sp>
        <p:nvSpPr>
          <p:cNvPr id="6" name="Rounded Rectangle 5"/>
          <p:cNvSpPr/>
          <p:nvPr/>
        </p:nvSpPr>
        <p:spPr>
          <a:xfrm>
            <a:off x="548640" y="2011680"/>
            <a:ext cx="3566160" cy="2048256"/>
          </a:xfrm>
          <a:prstGeom prst="roundRect">
            <a:avLst>
              <a:gd name="adj" fmla="val 10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404872"/>
            <a:ext cx="3200400" cy="758952"/>
          </a:xfrm>
          <a:prstGeom prst="rect">
            <a:avLst/>
          </a:prstGeom>
          <a:noFill/>
        </p:spPr>
        <p:txBody>
          <a:bodyPr wrap="square" lIns="0" rIns="0" tIns="0" bIns="0">
            <a:noAutofit/>
          </a:bodyPr>
          <a:lstStyle/>
          <a:p>
            <a:pPr algn="ctr">
              <a:lnSpc>
                <a:spcPct val="112000"/>
              </a:lnSpc>
              <a:spcBef>
                <a:spcPts val="0"/>
              </a:spcBef>
              <a:spcAft>
                <a:spcPts val="700"/>
              </a:spcAft>
            </a:pPr>
            <a:r>
              <a:rPr sz="4300" b="1">
                <a:solidFill>
                  <a:srgbClr val="FF8A00"/>
                </a:solidFill>
                <a:latin typeface="Arial"/>
              </a:rPr>
              <a:t>121 / 121</a:t>
            </a:r>
          </a:p>
        </p:txBody>
      </p:sp>
      <p:sp>
        <p:nvSpPr>
          <p:cNvPr id="8" name="TextBox 7"/>
          <p:cNvSpPr txBox="1"/>
          <p:nvPr/>
        </p:nvSpPr>
        <p:spPr>
          <a:xfrm>
            <a:off x="731520" y="3337560"/>
            <a:ext cx="3200400" cy="365760"/>
          </a:xfrm>
          <a:prstGeom prst="rect">
            <a:avLst/>
          </a:prstGeom>
          <a:noFill/>
        </p:spPr>
        <p:txBody>
          <a:bodyPr wrap="square" lIns="0" rIns="0" tIns="0" bIns="0">
            <a:noAutofit/>
          </a:bodyPr>
          <a:lstStyle/>
          <a:p>
            <a:pPr algn="ctr">
              <a:lnSpc>
                <a:spcPct val="112000"/>
              </a:lnSpc>
              <a:spcBef>
                <a:spcPts val="0"/>
              </a:spcBef>
              <a:spcAft>
                <a:spcPts val="700"/>
              </a:spcAft>
            </a:pPr>
            <a:r>
              <a:rPr sz="2000" b="0">
                <a:solidFill>
                  <a:srgbClr val="5B6573"/>
                </a:solidFill>
                <a:latin typeface="Arial"/>
              </a:rPr>
              <a:t>Unit tests</a:t>
            </a:r>
          </a:p>
        </p:txBody>
      </p:sp>
      <p:sp>
        <p:nvSpPr>
          <p:cNvPr id="9" name="Rounded Rectangle 8"/>
          <p:cNvSpPr/>
          <p:nvPr/>
        </p:nvSpPr>
        <p:spPr>
          <a:xfrm>
            <a:off x="4343400" y="2011680"/>
            <a:ext cx="3566160" cy="2048256"/>
          </a:xfrm>
          <a:prstGeom prst="roundRect">
            <a:avLst>
              <a:gd name="adj" fmla="val 10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2404872"/>
            <a:ext cx="3200400" cy="758952"/>
          </a:xfrm>
          <a:prstGeom prst="rect">
            <a:avLst/>
          </a:prstGeom>
          <a:noFill/>
        </p:spPr>
        <p:txBody>
          <a:bodyPr wrap="square" lIns="0" rIns="0" tIns="0" bIns="0">
            <a:noAutofit/>
          </a:bodyPr>
          <a:lstStyle/>
          <a:p>
            <a:pPr algn="ctr">
              <a:lnSpc>
                <a:spcPct val="112000"/>
              </a:lnSpc>
              <a:spcBef>
                <a:spcPts val="0"/>
              </a:spcBef>
              <a:spcAft>
                <a:spcPts val="700"/>
              </a:spcAft>
            </a:pPr>
            <a:r>
              <a:rPr sz="4300" b="1">
                <a:solidFill>
                  <a:srgbClr val="2FA85A"/>
                </a:solidFill>
                <a:latin typeface="Arial"/>
              </a:rPr>
              <a:t>13 / 13</a:t>
            </a:r>
          </a:p>
        </p:txBody>
      </p:sp>
      <p:sp>
        <p:nvSpPr>
          <p:cNvPr id="11" name="TextBox 10"/>
          <p:cNvSpPr txBox="1"/>
          <p:nvPr/>
        </p:nvSpPr>
        <p:spPr>
          <a:xfrm>
            <a:off x="4526280" y="3337560"/>
            <a:ext cx="3200400" cy="365760"/>
          </a:xfrm>
          <a:prstGeom prst="rect">
            <a:avLst/>
          </a:prstGeom>
          <a:noFill/>
        </p:spPr>
        <p:txBody>
          <a:bodyPr wrap="square" lIns="0" rIns="0" tIns="0" bIns="0">
            <a:noAutofit/>
          </a:bodyPr>
          <a:lstStyle/>
          <a:p>
            <a:pPr algn="ctr">
              <a:lnSpc>
                <a:spcPct val="112000"/>
              </a:lnSpc>
              <a:spcBef>
                <a:spcPts val="0"/>
              </a:spcBef>
              <a:spcAft>
                <a:spcPts val="700"/>
              </a:spcAft>
            </a:pPr>
            <a:r>
              <a:rPr sz="2000" b="0">
                <a:solidFill>
                  <a:srgbClr val="5B6573"/>
                </a:solidFill>
                <a:latin typeface="Arial"/>
              </a:rPr>
              <a:t>Emulator UI checks</a:t>
            </a:r>
          </a:p>
        </p:txBody>
      </p:sp>
      <p:sp>
        <p:nvSpPr>
          <p:cNvPr id="12" name="Rounded Rectangle 11"/>
          <p:cNvSpPr/>
          <p:nvPr/>
        </p:nvSpPr>
        <p:spPr>
          <a:xfrm>
            <a:off x="8138160" y="2011680"/>
            <a:ext cx="3566160" cy="2048256"/>
          </a:xfrm>
          <a:prstGeom prst="roundRect">
            <a:avLst>
              <a:gd name="adj" fmla="val 10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2404872"/>
            <a:ext cx="3200400" cy="758952"/>
          </a:xfrm>
          <a:prstGeom prst="rect">
            <a:avLst/>
          </a:prstGeom>
          <a:noFill/>
        </p:spPr>
        <p:txBody>
          <a:bodyPr wrap="square" lIns="0" rIns="0" tIns="0" bIns="0">
            <a:noAutofit/>
          </a:bodyPr>
          <a:lstStyle/>
          <a:p>
            <a:pPr algn="ctr">
              <a:lnSpc>
                <a:spcPct val="112000"/>
              </a:lnSpc>
              <a:spcBef>
                <a:spcPts val="0"/>
              </a:spcBef>
              <a:spcAft>
                <a:spcPts val="700"/>
              </a:spcAft>
            </a:pPr>
            <a:r>
              <a:rPr sz="4300" b="1">
                <a:solidFill>
                  <a:srgbClr val="2FA85A"/>
                </a:solidFill>
                <a:latin typeface="Arial"/>
              </a:rPr>
              <a:t>2</a:t>
            </a:r>
          </a:p>
        </p:txBody>
      </p:sp>
      <p:sp>
        <p:nvSpPr>
          <p:cNvPr id="14" name="TextBox 13"/>
          <p:cNvSpPr txBox="1"/>
          <p:nvPr/>
        </p:nvSpPr>
        <p:spPr>
          <a:xfrm>
            <a:off x="8321040" y="3337560"/>
            <a:ext cx="3200400" cy="365760"/>
          </a:xfrm>
          <a:prstGeom prst="rect">
            <a:avLst/>
          </a:prstGeom>
          <a:noFill/>
        </p:spPr>
        <p:txBody>
          <a:bodyPr wrap="square" lIns="0" rIns="0" tIns="0" bIns="0">
            <a:noAutofit/>
          </a:bodyPr>
          <a:lstStyle/>
          <a:p>
            <a:pPr algn="ctr">
              <a:lnSpc>
                <a:spcPct val="112000"/>
              </a:lnSpc>
              <a:spcBef>
                <a:spcPts val="0"/>
              </a:spcBef>
              <a:spcAft>
                <a:spcPts val="700"/>
              </a:spcAft>
            </a:pPr>
            <a:r>
              <a:rPr sz="2000" b="0">
                <a:solidFill>
                  <a:srgbClr val="5B6573"/>
                </a:solidFill>
                <a:latin typeface="Arial"/>
              </a:rPr>
              <a:t>Debug APKs</a:t>
            </a:r>
          </a:p>
        </p:txBody>
      </p:sp>
      <p:sp>
        <p:nvSpPr>
          <p:cNvPr id="15" name="TextBox 14"/>
          <p:cNvSpPr txBox="1"/>
          <p:nvPr/>
        </p:nvSpPr>
        <p:spPr>
          <a:xfrm>
            <a:off x="548640" y="4745736"/>
            <a:ext cx="11064240" cy="521207"/>
          </a:xfrm>
          <a:prstGeom prst="rect">
            <a:avLst/>
          </a:prstGeom>
          <a:noFill/>
        </p:spPr>
        <p:txBody>
          <a:bodyPr wrap="square" lIns="0" rIns="0" tIns="0" bIns="0">
            <a:noAutofit/>
          </a:bodyPr>
          <a:lstStyle/>
          <a:p>
            <a:pPr algn="ctr">
              <a:lnSpc>
                <a:spcPct val="112000"/>
              </a:lnSpc>
              <a:spcBef>
                <a:spcPts val="0"/>
              </a:spcBef>
              <a:spcAft>
                <a:spcPts val="700"/>
              </a:spcAft>
            </a:pPr>
            <a:r>
              <a:rPr sz="2400" b="1">
                <a:solidFill>
                  <a:srgbClr val="1F2328"/>
                </a:solidFill>
                <a:latin typeface="Arial"/>
              </a:rPr>
              <a:t>Paired-emulator scoring and Undo verified.</a:t>
            </a:r>
          </a:p>
        </p:txBody>
      </p:sp>
      <p:sp>
        <p:nvSpPr>
          <p:cNvPr id="16" name="TextBox 15"/>
          <p:cNvSpPr txBox="1"/>
          <p:nvPr/>
        </p:nvSpPr>
        <p:spPr>
          <a:xfrm>
            <a:off x="548640" y="5596128"/>
            <a:ext cx="11064240" cy="384048"/>
          </a:xfrm>
          <a:prstGeom prst="rect">
            <a:avLst/>
          </a:prstGeom>
          <a:noFill/>
        </p:spPr>
        <p:txBody>
          <a:bodyPr wrap="square" lIns="0" rIns="0" tIns="0" bIns="0">
            <a:noAutofit/>
          </a:bodyPr>
          <a:lstStyle/>
          <a:p>
            <a:pPr algn="ctr">
              <a:lnSpc>
                <a:spcPct val="112000"/>
              </a:lnSpc>
              <a:spcBef>
                <a:spcPts val="0"/>
              </a:spcBef>
              <a:spcAft>
                <a:spcPts val="700"/>
              </a:spcAft>
            </a:pPr>
            <a:r>
              <a:rPr sz="1800" b="0">
                <a:solidFill>
                  <a:srgbClr val="5B6573"/>
                </a:solidFill>
                <a:latin typeface="Arial"/>
              </a:rPr>
              <a:t>Next: Android Nearby hardware checks + client distribution.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9184"/>
            <a:ext cx="11064240" cy="256032"/>
          </a:xfrm>
          <a:prstGeom prst="rect">
            <a:avLst/>
          </a:prstGeom>
          <a:noFill/>
        </p:spPr>
        <p:txBody>
          <a:bodyPr wrap="square" lIns="0" rIns="0" tIns="0" bIns="0">
            <a:noAutofit/>
          </a:bodyPr>
          <a:lstStyle/>
          <a:p>
            <a:pPr algn="l">
              <a:lnSpc>
                <a:spcPct val="112000"/>
              </a:lnSpc>
              <a:spcBef>
                <a:spcPts val="0"/>
              </a:spcBef>
              <a:spcAft>
                <a:spcPts val="700"/>
              </a:spcAft>
            </a:pPr>
            <a:r>
              <a:rPr sz="1200" b="1">
                <a:solidFill>
                  <a:srgbClr val="FF8A00"/>
                </a:solidFill>
                <a:latin typeface="Arial"/>
              </a:rPr>
              <a:t>KANBAN</a:t>
            </a:r>
          </a:p>
        </p:txBody>
      </p:sp>
      <p:sp>
        <p:nvSpPr>
          <p:cNvPr id="3" name="TextBox 2"/>
          <p:cNvSpPr txBox="1"/>
          <p:nvPr/>
        </p:nvSpPr>
        <p:spPr>
          <a:xfrm>
            <a:off x="548640" y="777240"/>
            <a:ext cx="11064240" cy="749808"/>
          </a:xfrm>
          <a:prstGeom prst="rect">
            <a:avLst/>
          </a:prstGeom>
          <a:noFill/>
        </p:spPr>
        <p:txBody>
          <a:bodyPr wrap="square" lIns="0" rIns="0" tIns="0" bIns="0">
            <a:noAutofit/>
          </a:bodyPr>
          <a:lstStyle/>
          <a:p>
            <a:pPr algn="l">
              <a:lnSpc>
                <a:spcPct val="112000"/>
              </a:lnSpc>
              <a:spcBef>
                <a:spcPts val="0"/>
              </a:spcBef>
              <a:spcAft>
                <a:spcPts val="700"/>
              </a:spcAft>
            </a:pPr>
            <a:r>
              <a:rPr sz="3400" b="1">
                <a:solidFill>
                  <a:srgbClr val="1F2328"/>
                </a:solidFill>
                <a:latin typeface="Arial"/>
              </a:rPr>
              <a:t>Delivered this sprint</a:t>
            </a:r>
          </a:p>
        </p:txBody>
      </p:sp>
      <p:sp>
        <p:nvSpPr>
          <p:cNvPr id="4" name="TextBox 3"/>
          <p:cNvSpPr txBox="1"/>
          <p:nvPr/>
        </p:nvSpPr>
        <p:spPr>
          <a:xfrm>
            <a:off x="548640" y="6528816"/>
            <a:ext cx="9144000" cy="182880"/>
          </a:xfrm>
          <a:prstGeom prst="rect">
            <a:avLst/>
          </a:prstGeom>
          <a:noFill/>
        </p:spPr>
        <p:txBody>
          <a:bodyPr wrap="square" lIns="0" rIns="0" tIns="0" bIns="0">
            <a:noAutofit/>
          </a:bodyPr>
          <a:lstStyle/>
          <a:p>
            <a:pPr algn="l">
              <a:lnSpc>
                <a:spcPct val="112000"/>
              </a:lnSpc>
              <a:spcBef>
                <a:spcPts val="0"/>
              </a:spcBef>
              <a:spcAft>
                <a:spcPts val="700"/>
              </a:spcAft>
            </a:pPr>
            <a:r>
              <a:rPr sz="1000" b="0">
                <a:solidFill>
                  <a:srgbClr val="5B6573"/>
                </a:solidFill>
                <a:latin typeface="Arial"/>
              </a:rPr>
              <a:t>SQUATCH SPORTS · TEAM 11</a:t>
            </a:r>
          </a:p>
        </p:txBody>
      </p:sp>
      <p:sp>
        <p:nvSpPr>
          <p:cNvPr id="5" name="TextBox 4"/>
          <p:cNvSpPr txBox="1"/>
          <p:nvPr/>
        </p:nvSpPr>
        <p:spPr>
          <a:xfrm>
            <a:off x="11091672" y="6510528"/>
            <a:ext cx="521207" cy="201168"/>
          </a:xfrm>
          <a:prstGeom prst="rect">
            <a:avLst/>
          </a:prstGeom>
          <a:noFill/>
        </p:spPr>
        <p:txBody>
          <a:bodyPr wrap="square" lIns="0" rIns="0" tIns="0" bIns="0">
            <a:noAutofit/>
          </a:bodyPr>
          <a:lstStyle/>
          <a:p>
            <a:pPr algn="r">
              <a:lnSpc>
                <a:spcPct val="112000"/>
              </a:lnSpc>
              <a:spcBef>
                <a:spcPts val="0"/>
              </a:spcBef>
              <a:spcAft>
                <a:spcPts val="700"/>
              </a:spcAft>
            </a:pPr>
            <a:r>
              <a:rPr sz="1000" b="0">
                <a:solidFill>
                  <a:srgbClr val="5B6573"/>
                </a:solidFill>
                <a:latin typeface="Arial"/>
              </a:rPr>
              <a:t>08</a:t>
            </a:r>
          </a:p>
        </p:txBody>
      </p:sp>
      <p:graphicFrame>
        <p:nvGraphicFramePr>
          <p:cNvPr id="6" name="Table 5"/>
          <p:cNvGraphicFramePr>
            <a:graphicFrameLocks noGrp="1"/>
          </p:cNvGraphicFramePr>
          <p:nvPr/>
        </p:nvGraphicFramePr>
        <p:xfrm>
          <a:off x="548640" y="1801368"/>
          <a:ext cx="11155680" cy="4224528"/>
        </p:xfrm>
        <a:graphic>
          <a:graphicData uri="http://schemas.openxmlformats.org/drawingml/2006/table">
            <a:tbl>
              <a:tblPr firstRow="1" bandRow="1">
                <a:tableStyleId>{5C22544A-7EE6-4342-B048-85BDC9FD1C3A}</a:tableStyleId>
              </a:tblPr>
              <a:tblGrid>
                <a:gridCol w="1051560"/>
                <a:gridCol w="7178040"/>
                <a:gridCol w="2926080"/>
              </a:tblGrid>
              <a:tr h="704088">
                <a:tc>
                  <a:txBody>
                    <a:bodyPr/>
                    <a:lstStyle/>
                    <a:p>
                      <a:pPr>
                        <a:lnSpc>
                          <a:spcPct val="106000"/>
                        </a:lnSpc>
                        <a:spcAft>
                          <a:spcPts val="0"/>
                        </a:spcAft>
                      </a:pPr>
                      <a:r>
                        <a:rPr sz="2000" b="1">
                          <a:solidFill>
                            <a:srgbClr val="FFFFFF"/>
                          </a:solidFill>
                          <a:latin typeface="Arial"/>
                        </a:rPr>
                        <a:t>Issue</a:t>
                      </a:r>
                    </a:p>
                  </a:txBody>
                  <a:tcPr marL="164592" marR="109728" marT="91440" marB="64008" anchor="ctr">
                    <a:solidFill>
                      <a:srgbClr val="16191D"/>
                    </a:solidFill>
                  </a:tcPr>
                </a:tc>
                <a:tc>
                  <a:txBody>
                    <a:bodyPr/>
                    <a:lstStyle/>
                    <a:p>
                      <a:pPr>
                        <a:lnSpc>
                          <a:spcPct val="106000"/>
                        </a:lnSpc>
                        <a:spcAft>
                          <a:spcPts val="0"/>
                        </a:spcAft>
                      </a:pPr>
                      <a:r>
                        <a:rPr sz="2000" b="1">
                          <a:solidFill>
                            <a:srgbClr val="FFFFFF"/>
                          </a:solidFill>
                          <a:latin typeface="Arial"/>
                        </a:rPr>
                        <a:t>Feature</a:t>
                      </a:r>
                    </a:p>
                  </a:txBody>
                  <a:tcPr marL="164592" marR="109728" marT="91440" marB="64008" anchor="ctr">
                    <a:solidFill>
                      <a:srgbClr val="16191D"/>
                    </a:solidFill>
                  </a:tcPr>
                </a:tc>
                <a:tc>
                  <a:txBody>
                    <a:bodyPr/>
                    <a:lstStyle/>
                    <a:p>
                      <a:pPr>
                        <a:lnSpc>
                          <a:spcPct val="106000"/>
                        </a:lnSpc>
                        <a:spcAft>
                          <a:spcPts val="0"/>
                        </a:spcAft>
                      </a:pPr>
                      <a:r>
                        <a:rPr sz="2000" b="1">
                          <a:solidFill>
                            <a:srgbClr val="FFFFFF"/>
                          </a:solidFill>
                          <a:latin typeface="Arial"/>
                        </a:rPr>
                        <a:t>Owner</a:t>
                      </a:r>
                    </a:p>
                  </a:txBody>
                  <a:tcPr marL="164592" marR="109728" marT="91440" marB="64008" anchor="ctr">
                    <a:solidFill>
                      <a:srgbClr val="16191D"/>
                    </a:solidFill>
                  </a:tcPr>
                </a:tc>
              </a:tr>
              <a:tr h="704088">
                <a:tc>
                  <a:txBody>
                    <a:bodyPr/>
                    <a:lstStyle/>
                    <a:p>
                      <a:pPr>
                        <a:lnSpc>
                          <a:spcPct val="106000"/>
                        </a:lnSpc>
                        <a:spcAft>
                          <a:spcPts val="0"/>
                        </a:spcAft>
                      </a:pPr>
                      <a:r>
                        <a:rPr sz="2000" b="0">
                          <a:solidFill>
                            <a:srgbClr val="1F2328"/>
                          </a:solidFill>
                          <a:latin typeface="Arial"/>
                        </a:rPr>
                        <a:t>#27</a:t>
                      </a:r>
                    </a:p>
                  </a:txBody>
                  <a:tcPr marL="164592" marR="109728" marT="91440" marB="64008" anchor="ctr">
                    <a:solidFill>
                      <a:srgbClr val="F3F4F6"/>
                    </a:solidFill>
                  </a:tcPr>
                </a:tc>
                <a:tc>
                  <a:txBody>
                    <a:bodyPr/>
                    <a:lstStyle/>
                    <a:p>
                      <a:pPr>
                        <a:lnSpc>
                          <a:spcPct val="106000"/>
                        </a:lnSpc>
                        <a:spcAft>
                          <a:spcPts val="0"/>
                        </a:spcAft>
                      </a:pPr>
                      <a:r>
                        <a:rPr sz="2000" b="0">
                          <a:solidFill>
                            <a:srgbClr val="1F2328"/>
                          </a:solidFill>
                          <a:latin typeface="Arial"/>
                        </a:rPr>
                        <a:t>Gamification parity</a:t>
                      </a:r>
                    </a:p>
                  </a:txBody>
                  <a:tcPr marL="164592" marR="109728" marT="91440" marB="64008" anchor="ctr">
                    <a:solidFill>
                      <a:srgbClr val="F3F4F6"/>
                    </a:solidFill>
                  </a:tcPr>
                </a:tc>
                <a:tc>
                  <a:txBody>
                    <a:bodyPr/>
                    <a:lstStyle/>
                    <a:p>
                      <a:pPr>
                        <a:lnSpc>
                          <a:spcPct val="106000"/>
                        </a:lnSpc>
                        <a:spcAft>
                          <a:spcPts val="0"/>
                        </a:spcAft>
                      </a:pPr>
                      <a:r>
                        <a:rPr sz="2000" b="0">
                          <a:solidFill>
                            <a:srgbClr val="1F2328"/>
                          </a:solidFill>
                          <a:latin typeface="Arial"/>
                        </a:rPr>
                        <a:t>Melvin</a:t>
                      </a:r>
                    </a:p>
                  </a:txBody>
                  <a:tcPr marL="164592" marR="109728" marT="91440" marB="64008" anchor="ctr">
                    <a:solidFill>
                      <a:srgbClr val="F3F4F6"/>
                    </a:solidFill>
                  </a:tcPr>
                </a:tc>
              </a:tr>
              <a:tr h="704088">
                <a:tc>
                  <a:txBody>
                    <a:bodyPr/>
                    <a:lstStyle/>
                    <a:p>
                      <a:pPr>
                        <a:lnSpc>
                          <a:spcPct val="106000"/>
                        </a:lnSpc>
                        <a:spcAft>
                          <a:spcPts val="0"/>
                        </a:spcAft>
                      </a:pPr>
                      <a:r>
                        <a:rPr sz="2000" b="0">
                          <a:solidFill>
                            <a:srgbClr val="1F2328"/>
                          </a:solidFill>
                          <a:latin typeface="Arial"/>
                        </a:rPr>
                        <a:t>#28</a:t>
                      </a:r>
                    </a:p>
                  </a:txBody>
                  <a:tcPr marL="164592" marR="109728" marT="91440" marB="64008" anchor="ctr">
                    <a:solidFill>
                      <a:srgbClr val="FFFFFF"/>
                    </a:solidFill>
                  </a:tcPr>
                </a:tc>
                <a:tc>
                  <a:txBody>
                    <a:bodyPr/>
                    <a:lstStyle/>
                    <a:p>
                      <a:pPr>
                        <a:lnSpc>
                          <a:spcPct val="106000"/>
                        </a:lnSpc>
                        <a:spcAft>
                          <a:spcPts val="0"/>
                        </a:spcAft>
                      </a:pPr>
                      <a:r>
                        <a:rPr sz="2000" b="0">
                          <a:solidFill>
                            <a:srgbClr val="1F2328"/>
                          </a:solidFill>
                          <a:latin typeface="Arial"/>
                        </a:rPr>
                        <a:t>iPhone 1v1</a:t>
                      </a:r>
                    </a:p>
                  </a:txBody>
                  <a:tcPr marL="164592" marR="109728" marT="91440" marB="64008" anchor="ctr">
                    <a:solidFill>
                      <a:srgbClr val="FFFFFF"/>
                    </a:solidFill>
                  </a:tcPr>
                </a:tc>
                <a:tc>
                  <a:txBody>
                    <a:bodyPr/>
                    <a:lstStyle/>
                    <a:p>
                      <a:pPr>
                        <a:lnSpc>
                          <a:spcPct val="106000"/>
                        </a:lnSpc>
                        <a:spcAft>
                          <a:spcPts val="0"/>
                        </a:spcAft>
                      </a:pPr>
                      <a:r>
                        <a:rPr sz="2000" b="0">
                          <a:solidFill>
                            <a:srgbClr val="1F2328"/>
                          </a:solidFill>
                          <a:latin typeface="Arial"/>
                        </a:rPr>
                        <a:t>Melvin</a:t>
                      </a:r>
                    </a:p>
                  </a:txBody>
                  <a:tcPr marL="164592" marR="109728" marT="91440" marB="64008" anchor="ctr">
                    <a:solidFill>
                      <a:srgbClr val="FFFFFF"/>
                    </a:solidFill>
                  </a:tcPr>
                </a:tc>
              </a:tr>
              <a:tr h="704088">
                <a:tc>
                  <a:txBody>
                    <a:bodyPr/>
                    <a:lstStyle/>
                    <a:p>
                      <a:pPr>
                        <a:lnSpc>
                          <a:spcPct val="106000"/>
                        </a:lnSpc>
                        <a:spcAft>
                          <a:spcPts val="0"/>
                        </a:spcAft>
                      </a:pPr>
                      <a:r>
                        <a:rPr sz="2000" b="0">
                          <a:solidFill>
                            <a:srgbClr val="1F2328"/>
                          </a:solidFill>
                          <a:latin typeface="Arial"/>
                        </a:rPr>
                        <a:t>#29</a:t>
                      </a:r>
                    </a:p>
                  </a:txBody>
                  <a:tcPr marL="164592" marR="109728" marT="91440" marB="64008" anchor="ctr">
                    <a:solidFill>
                      <a:srgbClr val="F3F4F6"/>
                    </a:solidFill>
                  </a:tcPr>
                </a:tc>
                <a:tc>
                  <a:txBody>
                    <a:bodyPr/>
                    <a:lstStyle/>
                    <a:p>
                      <a:pPr>
                        <a:lnSpc>
                          <a:spcPct val="106000"/>
                        </a:lnSpc>
                        <a:spcAft>
                          <a:spcPts val="0"/>
                        </a:spcAft>
                      </a:pPr>
                      <a:r>
                        <a:rPr sz="2000" b="0">
                          <a:solidFill>
                            <a:srgbClr val="1F2328"/>
                          </a:solidFill>
                          <a:latin typeface="Arial"/>
                        </a:rPr>
                        <a:t>Apple Watch scoring</a:t>
                      </a:r>
                    </a:p>
                  </a:txBody>
                  <a:tcPr marL="164592" marR="109728" marT="91440" marB="64008" anchor="ctr">
                    <a:solidFill>
                      <a:srgbClr val="F3F4F6"/>
                    </a:solidFill>
                  </a:tcPr>
                </a:tc>
                <a:tc>
                  <a:txBody>
                    <a:bodyPr/>
                    <a:lstStyle/>
                    <a:p>
                      <a:pPr>
                        <a:lnSpc>
                          <a:spcPct val="106000"/>
                        </a:lnSpc>
                        <a:spcAft>
                          <a:spcPts val="0"/>
                        </a:spcAft>
                      </a:pPr>
                      <a:r>
                        <a:rPr sz="2000" b="0">
                          <a:solidFill>
                            <a:srgbClr val="1F2328"/>
                          </a:solidFill>
                          <a:latin typeface="Arial"/>
                        </a:rPr>
                        <a:t>Melvin</a:t>
                      </a:r>
                    </a:p>
                  </a:txBody>
                  <a:tcPr marL="164592" marR="109728" marT="91440" marB="64008" anchor="ctr">
                    <a:solidFill>
                      <a:srgbClr val="F3F4F6"/>
                    </a:solidFill>
                  </a:tcPr>
                </a:tc>
              </a:tr>
              <a:tr h="704088">
                <a:tc>
                  <a:txBody>
                    <a:bodyPr/>
                    <a:lstStyle/>
                    <a:p>
                      <a:pPr>
                        <a:lnSpc>
                          <a:spcPct val="106000"/>
                        </a:lnSpc>
                        <a:spcAft>
                          <a:spcPts val="0"/>
                        </a:spcAft>
                      </a:pPr>
                      <a:r>
                        <a:rPr sz="2000" b="0">
                          <a:solidFill>
                            <a:srgbClr val="1F2328"/>
                          </a:solidFill>
                          <a:latin typeface="Arial"/>
                        </a:rPr>
                        <a:t>#30</a:t>
                      </a:r>
                    </a:p>
                  </a:txBody>
                  <a:tcPr marL="164592" marR="109728" marT="91440" marB="64008" anchor="ctr">
                    <a:solidFill>
                      <a:srgbClr val="FFFFFF"/>
                    </a:solidFill>
                  </a:tcPr>
                </a:tc>
                <a:tc>
                  <a:txBody>
                    <a:bodyPr/>
                    <a:lstStyle/>
                    <a:p>
                      <a:pPr>
                        <a:lnSpc>
                          <a:spcPct val="106000"/>
                        </a:lnSpc>
                        <a:spcAft>
                          <a:spcPts val="0"/>
                        </a:spcAft>
                      </a:pPr>
                      <a:r>
                        <a:rPr sz="2000" b="0">
                          <a:solidFill>
                            <a:srgbClr val="1F2328"/>
                          </a:solidFill>
                          <a:latin typeface="Arial"/>
                        </a:rPr>
                        <a:t>Nearby iPhone play</a:t>
                      </a:r>
                    </a:p>
                  </a:txBody>
                  <a:tcPr marL="164592" marR="109728" marT="91440" marB="64008" anchor="ctr">
                    <a:solidFill>
                      <a:srgbClr val="FFFFFF"/>
                    </a:solidFill>
                  </a:tcPr>
                </a:tc>
                <a:tc>
                  <a:txBody>
                    <a:bodyPr/>
                    <a:lstStyle/>
                    <a:p>
                      <a:pPr>
                        <a:lnSpc>
                          <a:spcPct val="106000"/>
                        </a:lnSpc>
                        <a:spcAft>
                          <a:spcPts val="0"/>
                        </a:spcAft>
                      </a:pPr>
                      <a:r>
                        <a:rPr sz="2000" b="0">
                          <a:solidFill>
                            <a:srgbClr val="1F2328"/>
                          </a:solidFill>
                          <a:latin typeface="Arial"/>
                        </a:rPr>
                        <a:t>Kaleb</a:t>
                      </a:r>
                    </a:p>
                  </a:txBody>
                  <a:tcPr marL="164592" marR="109728" marT="91440" marB="64008" anchor="ctr">
                    <a:solidFill>
                      <a:srgbClr val="FFFFFF"/>
                    </a:solidFill>
                  </a:tcPr>
                </a:tc>
              </a:tr>
              <a:tr h="704088">
                <a:tc>
                  <a:txBody>
                    <a:bodyPr/>
                    <a:lstStyle/>
                    <a:p>
                      <a:pPr>
                        <a:lnSpc>
                          <a:spcPct val="106000"/>
                        </a:lnSpc>
                        <a:spcAft>
                          <a:spcPts val="0"/>
                        </a:spcAft>
                      </a:pPr>
                      <a:r>
                        <a:rPr sz="2000" b="0">
                          <a:solidFill>
                            <a:srgbClr val="1F2328"/>
                          </a:solidFill>
                          <a:latin typeface="Arial"/>
                        </a:rPr>
                        <a:t>#32</a:t>
                      </a:r>
                    </a:p>
                  </a:txBody>
                  <a:tcPr marL="164592" marR="109728" marT="91440" marB="64008" anchor="ctr">
                    <a:solidFill>
                      <a:srgbClr val="F3F4F6"/>
                    </a:solidFill>
                  </a:tcPr>
                </a:tc>
                <a:tc>
                  <a:txBody>
                    <a:bodyPr/>
                    <a:lstStyle/>
                    <a:p>
                      <a:pPr>
                        <a:lnSpc>
                          <a:spcPct val="106000"/>
                        </a:lnSpc>
                        <a:spcAft>
                          <a:spcPts val="0"/>
                        </a:spcAft>
                      </a:pPr>
                      <a:r>
                        <a:rPr sz="2000" b="0">
                          <a:solidFill>
                            <a:srgbClr val="1F2328"/>
                          </a:solidFill>
                          <a:latin typeface="Arial"/>
                        </a:rPr>
                        <a:t>Android / Wear OS port</a:t>
                      </a:r>
                    </a:p>
                  </a:txBody>
                  <a:tcPr marL="164592" marR="109728" marT="91440" marB="64008" anchor="ctr">
                    <a:solidFill>
                      <a:srgbClr val="F3F4F6"/>
                    </a:solidFill>
                  </a:tcPr>
                </a:tc>
                <a:tc>
                  <a:txBody>
                    <a:bodyPr/>
                    <a:lstStyle/>
                    <a:p>
                      <a:pPr>
                        <a:lnSpc>
                          <a:spcPct val="106000"/>
                        </a:lnSpc>
                        <a:spcAft>
                          <a:spcPts val="0"/>
                        </a:spcAft>
                      </a:pPr>
                      <a:r>
                        <a:rPr sz="2000" b="0">
                          <a:solidFill>
                            <a:srgbClr val="1F2328"/>
                          </a:solidFill>
                          <a:latin typeface="Arial"/>
                        </a:rPr>
                        <a:t>Kellam</a:t>
                      </a:r>
                    </a:p>
                  </a:txBody>
                  <a:tcPr marL="164592" marR="109728" marT="91440" marB="64008" anchor="ctr">
                    <a:solidFill>
                      <a:srgbClr val="F3F4F6"/>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9184"/>
            <a:ext cx="11064240" cy="256032"/>
          </a:xfrm>
          <a:prstGeom prst="rect">
            <a:avLst/>
          </a:prstGeom>
          <a:noFill/>
        </p:spPr>
        <p:txBody>
          <a:bodyPr wrap="square" lIns="0" rIns="0" tIns="0" bIns="0">
            <a:noAutofit/>
          </a:bodyPr>
          <a:lstStyle/>
          <a:p>
            <a:pPr algn="l">
              <a:lnSpc>
                <a:spcPct val="112000"/>
              </a:lnSpc>
              <a:spcBef>
                <a:spcPts val="0"/>
              </a:spcBef>
              <a:spcAft>
                <a:spcPts val="700"/>
              </a:spcAft>
            </a:pPr>
            <a:r>
              <a:rPr sz="1200" b="1">
                <a:solidFill>
                  <a:srgbClr val="FF8A00"/>
                </a:solidFill>
                <a:latin typeface="Arial"/>
              </a:rPr>
              <a:t>KANBAN</a:t>
            </a:r>
          </a:p>
        </p:txBody>
      </p:sp>
      <p:sp>
        <p:nvSpPr>
          <p:cNvPr id="3" name="TextBox 2"/>
          <p:cNvSpPr txBox="1"/>
          <p:nvPr/>
        </p:nvSpPr>
        <p:spPr>
          <a:xfrm>
            <a:off x="548640" y="777240"/>
            <a:ext cx="11064240" cy="749808"/>
          </a:xfrm>
          <a:prstGeom prst="rect">
            <a:avLst/>
          </a:prstGeom>
          <a:noFill/>
        </p:spPr>
        <p:txBody>
          <a:bodyPr wrap="square" lIns="0" rIns="0" tIns="0" bIns="0">
            <a:noAutofit/>
          </a:bodyPr>
          <a:lstStyle/>
          <a:p>
            <a:pPr algn="l">
              <a:lnSpc>
                <a:spcPct val="112000"/>
              </a:lnSpc>
              <a:spcBef>
                <a:spcPts val="0"/>
              </a:spcBef>
              <a:spcAft>
                <a:spcPts val="700"/>
              </a:spcAft>
            </a:pPr>
            <a:r>
              <a:rPr sz="3400" b="1">
                <a:solidFill>
                  <a:srgbClr val="1F2328"/>
                </a:solidFill>
                <a:latin typeface="Arial"/>
              </a:rPr>
              <a:t>Sprint 5 closeout</a:t>
            </a:r>
          </a:p>
        </p:txBody>
      </p:sp>
      <p:sp>
        <p:nvSpPr>
          <p:cNvPr id="4" name="TextBox 3"/>
          <p:cNvSpPr txBox="1"/>
          <p:nvPr/>
        </p:nvSpPr>
        <p:spPr>
          <a:xfrm>
            <a:off x="548640" y="6528816"/>
            <a:ext cx="9144000" cy="182880"/>
          </a:xfrm>
          <a:prstGeom prst="rect">
            <a:avLst/>
          </a:prstGeom>
          <a:noFill/>
        </p:spPr>
        <p:txBody>
          <a:bodyPr wrap="square" lIns="0" rIns="0" tIns="0" bIns="0">
            <a:noAutofit/>
          </a:bodyPr>
          <a:lstStyle/>
          <a:p>
            <a:pPr algn="l">
              <a:lnSpc>
                <a:spcPct val="112000"/>
              </a:lnSpc>
              <a:spcBef>
                <a:spcPts val="0"/>
              </a:spcBef>
              <a:spcAft>
                <a:spcPts val="700"/>
              </a:spcAft>
            </a:pPr>
            <a:r>
              <a:rPr sz="1000" b="0">
                <a:solidFill>
                  <a:srgbClr val="5B6573"/>
                </a:solidFill>
                <a:latin typeface="Arial"/>
              </a:rPr>
              <a:t>SQUATCH SPORTS · TEAM 11</a:t>
            </a:r>
          </a:p>
        </p:txBody>
      </p:sp>
      <p:sp>
        <p:nvSpPr>
          <p:cNvPr id="5" name="TextBox 4"/>
          <p:cNvSpPr txBox="1"/>
          <p:nvPr/>
        </p:nvSpPr>
        <p:spPr>
          <a:xfrm>
            <a:off x="11091672" y="6510528"/>
            <a:ext cx="521207" cy="201168"/>
          </a:xfrm>
          <a:prstGeom prst="rect">
            <a:avLst/>
          </a:prstGeom>
          <a:noFill/>
        </p:spPr>
        <p:txBody>
          <a:bodyPr wrap="square" lIns="0" rIns="0" tIns="0" bIns="0">
            <a:noAutofit/>
          </a:bodyPr>
          <a:lstStyle/>
          <a:p>
            <a:pPr algn="r">
              <a:lnSpc>
                <a:spcPct val="112000"/>
              </a:lnSpc>
              <a:spcBef>
                <a:spcPts val="0"/>
              </a:spcBef>
              <a:spcAft>
                <a:spcPts val="700"/>
              </a:spcAft>
            </a:pPr>
            <a:r>
              <a:rPr sz="1000" b="0">
                <a:solidFill>
                  <a:srgbClr val="5B6573"/>
                </a:solidFill>
                <a:latin typeface="Arial"/>
              </a:rPr>
              <a:t>09</a:t>
            </a:r>
          </a:p>
        </p:txBody>
      </p:sp>
      <p:graphicFrame>
        <p:nvGraphicFramePr>
          <p:cNvPr id="6" name="Table 5"/>
          <p:cNvGraphicFramePr>
            <a:graphicFrameLocks noGrp="1"/>
          </p:cNvGraphicFramePr>
          <p:nvPr/>
        </p:nvGraphicFramePr>
        <p:xfrm>
          <a:off x="548640" y="1847088"/>
          <a:ext cx="11155680" cy="3886200"/>
        </p:xfrm>
        <a:graphic>
          <a:graphicData uri="http://schemas.openxmlformats.org/drawingml/2006/table">
            <a:tbl>
              <a:tblPr firstRow="1" bandRow="1">
                <a:tableStyleId>{5C22544A-7EE6-4342-B048-85BDC9FD1C3A}</a:tableStyleId>
              </a:tblPr>
              <a:tblGrid>
                <a:gridCol w="1051560"/>
                <a:gridCol w="7178040"/>
                <a:gridCol w="2926080"/>
              </a:tblGrid>
              <a:tr h="777240">
                <a:tc>
                  <a:txBody>
                    <a:bodyPr/>
                    <a:lstStyle/>
                    <a:p>
                      <a:pPr>
                        <a:lnSpc>
                          <a:spcPct val="106000"/>
                        </a:lnSpc>
                        <a:spcAft>
                          <a:spcPts val="0"/>
                        </a:spcAft>
                      </a:pPr>
                      <a:r>
                        <a:rPr sz="2000" b="1">
                          <a:solidFill>
                            <a:srgbClr val="FFFFFF"/>
                          </a:solidFill>
                          <a:latin typeface="Arial"/>
                        </a:rPr>
                        <a:t>Issue</a:t>
                      </a:r>
                    </a:p>
                  </a:txBody>
                  <a:tcPr marL="164592" marR="109728" marT="91440" marB="64008" anchor="ctr">
                    <a:solidFill>
                      <a:srgbClr val="16191D"/>
                    </a:solidFill>
                  </a:tcPr>
                </a:tc>
                <a:tc>
                  <a:txBody>
                    <a:bodyPr/>
                    <a:lstStyle/>
                    <a:p>
                      <a:pPr>
                        <a:lnSpc>
                          <a:spcPct val="106000"/>
                        </a:lnSpc>
                        <a:spcAft>
                          <a:spcPts val="0"/>
                        </a:spcAft>
                      </a:pPr>
                      <a:r>
                        <a:rPr sz="2000" b="1">
                          <a:solidFill>
                            <a:srgbClr val="FFFFFF"/>
                          </a:solidFill>
                          <a:latin typeface="Arial"/>
                        </a:rPr>
                        <a:t>Remaining item</a:t>
                      </a:r>
                    </a:p>
                  </a:txBody>
                  <a:tcPr marL="164592" marR="109728" marT="91440" marB="64008" anchor="ctr">
                    <a:solidFill>
                      <a:srgbClr val="16191D"/>
                    </a:solidFill>
                  </a:tcPr>
                </a:tc>
                <a:tc>
                  <a:txBody>
                    <a:bodyPr/>
                    <a:lstStyle/>
                    <a:p>
                      <a:pPr>
                        <a:lnSpc>
                          <a:spcPct val="106000"/>
                        </a:lnSpc>
                        <a:spcAft>
                          <a:spcPts val="0"/>
                        </a:spcAft>
                      </a:pPr>
                      <a:r>
                        <a:rPr sz="2000" b="1">
                          <a:solidFill>
                            <a:srgbClr val="FFFFFF"/>
                          </a:solidFill>
                          <a:latin typeface="Arial"/>
                        </a:rPr>
                        <a:t>Owner</a:t>
                      </a:r>
                    </a:p>
                  </a:txBody>
                  <a:tcPr marL="164592" marR="109728" marT="91440" marB="64008" anchor="ctr">
                    <a:solidFill>
                      <a:srgbClr val="16191D"/>
                    </a:solidFill>
                  </a:tcPr>
                </a:tc>
              </a:tr>
              <a:tr h="777240">
                <a:tc>
                  <a:txBody>
                    <a:bodyPr/>
                    <a:lstStyle/>
                    <a:p>
                      <a:pPr>
                        <a:lnSpc>
                          <a:spcPct val="106000"/>
                        </a:lnSpc>
                        <a:spcAft>
                          <a:spcPts val="0"/>
                        </a:spcAft>
                      </a:pPr>
                      <a:r>
                        <a:rPr sz="2000" b="0">
                          <a:solidFill>
                            <a:srgbClr val="1F2328"/>
                          </a:solidFill>
                          <a:latin typeface="Arial"/>
                        </a:rPr>
                        <a:t>#31</a:t>
                      </a:r>
                    </a:p>
                  </a:txBody>
                  <a:tcPr marL="164592" marR="109728" marT="91440" marB="64008" anchor="ctr">
                    <a:solidFill>
                      <a:srgbClr val="F3F4F6"/>
                    </a:solidFill>
                  </a:tcPr>
                </a:tc>
                <a:tc>
                  <a:txBody>
                    <a:bodyPr/>
                    <a:lstStyle/>
                    <a:p>
                      <a:pPr>
                        <a:lnSpc>
                          <a:spcPct val="106000"/>
                        </a:lnSpc>
                        <a:spcAft>
                          <a:spcPts val="0"/>
                        </a:spcAft>
                      </a:pPr>
                      <a:r>
                        <a:rPr sz="2000" b="0">
                          <a:solidFill>
                            <a:srgbClr val="1F2328"/>
                          </a:solidFill>
                          <a:latin typeface="Arial"/>
                        </a:rPr>
                        <a:t>Reconcile nearby follow-up ticket</a:t>
                      </a:r>
                    </a:p>
                  </a:txBody>
                  <a:tcPr marL="164592" marR="109728" marT="91440" marB="64008" anchor="ctr">
                    <a:solidFill>
                      <a:srgbClr val="F3F4F6"/>
                    </a:solidFill>
                  </a:tcPr>
                </a:tc>
                <a:tc>
                  <a:txBody>
                    <a:bodyPr/>
                    <a:lstStyle/>
                    <a:p>
                      <a:pPr>
                        <a:lnSpc>
                          <a:spcPct val="106000"/>
                        </a:lnSpc>
                        <a:spcAft>
                          <a:spcPts val="0"/>
                        </a:spcAft>
                      </a:pPr>
                      <a:r>
                        <a:rPr sz="2000" b="0">
                          <a:solidFill>
                            <a:srgbClr val="1F2328"/>
                          </a:solidFill>
                          <a:latin typeface="Arial"/>
                        </a:rPr>
                        <a:t>Kaleb</a:t>
                      </a:r>
                    </a:p>
                  </a:txBody>
                  <a:tcPr marL="164592" marR="109728" marT="91440" marB="64008" anchor="ctr">
                    <a:solidFill>
                      <a:srgbClr val="F3F4F6"/>
                    </a:solidFill>
                  </a:tcPr>
                </a:tc>
              </a:tr>
              <a:tr h="777240">
                <a:tc>
                  <a:txBody>
                    <a:bodyPr/>
                    <a:lstStyle/>
                    <a:p>
                      <a:pPr>
                        <a:lnSpc>
                          <a:spcPct val="106000"/>
                        </a:lnSpc>
                        <a:spcAft>
                          <a:spcPts val="0"/>
                        </a:spcAft>
                      </a:pPr>
                      <a:r>
                        <a:rPr sz="2000" b="0">
                          <a:solidFill>
                            <a:srgbClr val="1F2328"/>
                          </a:solidFill>
                          <a:latin typeface="Arial"/>
                        </a:rPr>
                        <a:t>#33</a:t>
                      </a:r>
                    </a:p>
                  </a:txBody>
                  <a:tcPr marL="164592" marR="109728" marT="91440" marB="64008" anchor="ctr">
                    <a:solidFill>
                      <a:srgbClr val="FFFFFF"/>
                    </a:solidFill>
                  </a:tcPr>
                </a:tc>
                <a:tc>
                  <a:txBody>
                    <a:bodyPr/>
                    <a:lstStyle/>
                    <a:p>
                      <a:pPr>
                        <a:lnSpc>
                          <a:spcPct val="106000"/>
                        </a:lnSpc>
                        <a:spcAft>
                          <a:spcPts val="0"/>
                        </a:spcAft>
                      </a:pPr>
                      <a:r>
                        <a:rPr sz="2000" b="0">
                          <a:solidFill>
                            <a:srgbClr val="1F2328"/>
                          </a:solidFill>
                          <a:latin typeface="Arial"/>
                        </a:rPr>
                        <a:t>System, integration + user testing</a:t>
                      </a:r>
                    </a:p>
                  </a:txBody>
                  <a:tcPr marL="164592" marR="109728" marT="91440" marB="64008" anchor="ctr">
                    <a:solidFill>
                      <a:srgbClr val="FFFFFF"/>
                    </a:solidFill>
                  </a:tcPr>
                </a:tc>
                <a:tc>
                  <a:txBody>
                    <a:bodyPr/>
                    <a:lstStyle/>
                    <a:p>
                      <a:pPr>
                        <a:lnSpc>
                          <a:spcPct val="106000"/>
                        </a:lnSpc>
                        <a:spcAft>
                          <a:spcPts val="0"/>
                        </a:spcAft>
                      </a:pPr>
                      <a:r>
                        <a:rPr sz="2000" b="0">
                          <a:solidFill>
                            <a:srgbClr val="1F2328"/>
                          </a:solidFill>
                          <a:latin typeface="Arial"/>
                        </a:rPr>
                        <a:t>Team</a:t>
                      </a:r>
                    </a:p>
                  </a:txBody>
                  <a:tcPr marL="164592" marR="109728" marT="91440" marB="64008" anchor="ctr">
                    <a:solidFill>
                      <a:srgbClr val="FFFFFF"/>
                    </a:solidFill>
                  </a:tcPr>
                </a:tc>
              </a:tr>
              <a:tr h="777240">
                <a:tc>
                  <a:txBody>
                    <a:bodyPr/>
                    <a:lstStyle/>
                    <a:p>
                      <a:pPr>
                        <a:lnSpc>
                          <a:spcPct val="106000"/>
                        </a:lnSpc>
                        <a:spcAft>
                          <a:spcPts val="0"/>
                        </a:spcAft>
                      </a:pPr>
                      <a:r>
                        <a:rPr sz="2000" b="0">
                          <a:solidFill>
                            <a:srgbClr val="1F2328"/>
                          </a:solidFill>
                          <a:latin typeface="Arial"/>
                        </a:rPr>
                        <a:t>#34</a:t>
                      </a:r>
                    </a:p>
                  </a:txBody>
                  <a:tcPr marL="164592" marR="109728" marT="91440" marB="64008" anchor="ctr">
                    <a:solidFill>
                      <a:srgbClr val="F3F4F6"/>
                    </a:solidFill>
                  </a:tcPr>
                </a:tc>
                <a:tc>
                  <a:txBody>
                    <a:bodyPr/>
                    <a:lstStyle/>
                    <a:p>
                      <a:pPr>
                        <a:lnSpc>
                          <a:spcPct val="106000"/>
                        </a:lnSpc>
                        <a:spcAft>
                          <a:spcPts val="0"/>
                        </a:spcAft>
                      </a:pPr>
                      <a:r>
                        <a:rPr sz="2000" b="0">
                          <a:solidFill>
                            <a:srgbClr val="1F2328"/>
                          </a:solidFill>
                          <a:latin typeface="Arial"/>
                        </a:rPr>
                        <a:t>Real devices + TestFlight / Play testing</a:t>
                      </a:r>
                    </a:p>
                  </a:txBody>
                  <a:tcPr marL="164592" marR="109728" marT="91440" marB="64008" anchor="ctr">
                    <a:solidFill>
                      <a:srgbClr val="F3F4F6"/>
                    </a:solidFill>
                  </a:tcPr>
                </a:tc>
                <a:tc>
                  <a:txBody>
                    <a:bodyPr/>
                    <a:lstStyle/>
                    <a:p>
                      <a:pPr>
                        <a:lnSpc>
                          <a:spcPct val="106000"/>
                        </a:lnSpc>
                        <a:spcAft>
                          <a:spcPts val="0"/>
                        </a:spcAft>
                      </a:pPr>
                      <a:r>
                        <a:rPr sz="2000" b="0">
                          <a:solidFill>
                            <a:srgbClr val="1F2328"/>
                          </a:solidFill>
                          <a:latin typeface="Arial"/>
                        </a:rPr>
                        <a:t>Team</a:t>
                      </a:r>
                    </a:p>
                  </a:txBody>
                  <a:tcPr marL="164592" marR="109728" marT="91440" marB="64008" anchor="ctr">
                    <a:solidFill>
                      <a:srgbClr val="F3F4F6"/>
                    </a:solidFill>
                  </a:tcPr>
                </a:tc>
              </a:tr>
              <a:tr h="777240">
                <a:tc>
                  <a:txBody>
                    <a:bodyPr/>
                    <a:lstStyle/>
                    <a:p>
                      <a:pPr>
                        <a:lnSpc>
                          <a:spcPct val="106000"/>
                        </a:lnSpc>
                        <a:spcAft>
                          <a:spcPts val="0"/>
                        </a:spcAft>
                      </a:pPr>
                      <a:r>
                        <a:rPr sz="2000" b="0">
                          <a:solidFill>
                            <a:srgbClr val="1F2328"/>
                          </a:solidFill>
                          <a:latin typeface="Arial"/>
                        </a:rPr>
                        <a:t>#35</a:t>
                      </a:r>
                    </a:p>
                  </a:txBody>
                  <a:tcPr marL="164592" marR="109728" marT="91440" marB="64008" anchor="ctr">
                    <a:solidFill>
                      <a:srgbClr val="FFFFFF"/>
                    </a:solidFill>
                  </a:tcPr>
                </a:tc>
                <a:tc>
                  <a:txBody>
                    <a:bodyPr/>
                    <a:lstStyle/>
                    <a:p>
                      <a:pPr>
                        <a:lnSpc>
                          <a:spcPct val="106000"/>
                        </a:lnSpc>
                        <a:spcAft>
                          <a:spcPts val="0"/>
                        </a:spcAft>
                      </a:pPr>
                      <a:r>
                        <a:rPr sz="2000" b="0">
                          <a:solidFill>
                            <a:srgbClr val="1F2328"/>
                          </a:solidFill>
                          <a:latin typeface="Arial"/>
                        </a:rPr>
                        <a:t>Report, MoMs, slides + demo video</a:t>
                      </a:r>
                    </a:p>
                  </a:txBody>
                  <a:tcPr marL="164592" marR="109728" marT="91440" marB="64008" anchor="ctr">
                    <a:solidFill>
                      <a:srgbClr val="FFFFFF"/>
                    </a:solidFill>
                  </a:tcPr>
                </a:tc>
                <a:tc>
                  <a:txBody>
                    <a:bodyPr/>
                    <a:lstStyle/>
                    <a:p>
                      <a:pPr>
                        <a:lnSpc>
                          <a:spcPct val="106000"/>
                        </a:lnSpc>
                        <a:spcAft>
                          <a:spcPts val="0"/>
                        </a:spcAft>
                      </a:pPr>
                      <a:r>
                        <a:rPr sz="2000" b="0">
                          <a:solidFill>
                            <a:srgbClr val="1F2328"/>
                          </a:solidFill>
                          <a:latin typeface="Arial"/>
                        </a:rPr>
                        <a:t>Melvin / team</a:t>
                      </a:r>
                    </a:p>
                  </a:txBody>
                  <a:tcPr marL="164592" marR="109728" marT="91440" marB="64008" anchor="ctr">
                    <a:solidFill>
                      <a:srgbClr val="FFFFFF"/>
                    </a:solidFill>
                  </a:tcPr>
                </a:tc>
              </a:tr>
            </a:tbl>
          </a:graphicData>
        </a:graphic>
      </p:graphicFrame>
      <p:sp>
        <p:nvSpPr>
          <p:cNvPr id="7" name="TextBox 6"/>
          <p:cNvSpPr txBox="1"/>
          <p:nvPr/>
        </p:nvSpPr>
        <p:spPr>
          <a:xfrm>
            <a:off x="548640" y="5989320"/>
            <a:ext cx="11064240" cy="347472"/>
          </a:xfrm>
          <a:prstGeom prst="rect">
            <a:avLst/>
          </a:prstGeom>
          <a:noFill/>
        </p:spPr>
        <p:txBody>
          <a:bodyPr wrap="square" lIns="0" rIns="0" tIns="0" bIns="0">
            <a:noAutofit/>
          </a:bodyPr>
          <a:lstStyle/>
          <a:p>
            <a:pPr algn="l">
              <a:lnSpc>
                <a:spcPct val="112000"/>
              </a:lnSpc>
              <a:spcBef>
                <a:spcPts val="0"/>
              </a:spcBef>
              <a:spcAft>
                <a:spcPts val="700"/>
              </a:spcAft>
            </a:pPr>
            <a:r>
              <a:rPr sz="1600" b="0">
                <a:solidFill>
                  <a:srgbClr val="5B6573"/>
                </a:solidFill>
                <a:latin typeface="Arial"/>
              </a:rPr>
              <a:t>Kaleb’s feature is complete; #31 is board reconciliation.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9184"/>
            <a:ext cx="11064240" cy="256032"/>
          </a:xfrm>
          <a:prstGeom prst="rect">
            <a:avLst/>
          </a:prstGeom>
          <a:noFill/>
        </p:spPr>
        <p:txBody>
          <a:bodyPr wrap="square" lIns="0" rIns="0" tIns="0" bIns="0">
            <a:noAutofit/>
          </a:bodyPr>
          <a:lstStyle/>
          <a:p>
            <a:pPr algn="l">
              <a:lnSpc>
                <a:spcPct val="112000"/>
              </a:lnSpc>
              <a:spcBef>
                <a:spcPts val="0"/>
              </a:spcBef>
              <a:spcAft>
                <a:spcPts val="700"/>
              </a:spcAft>
            </a:pPr>
            <a:r>
              <a:rPr sz="1200" b="1">
                <a:solidFill>
                  <a:srgbClr val="FF8A00"/>
                </a:solidFill>
                <a:latin typeface="Arial"/>
              </a:rPr>
              <a:t>KANBAN</a:t>
            </a:r>
          </a:p>
        </p:txBody>
      </p:sp>
      <p:sp>
        <p:nvSpPr>
          <p:cNvPr id="3" name="TextBox 2"/>
          <p:cNvSpPr txBox="1"/>
          <p:nvPr/>
        </p:nvSpPr>
        <p:spPr>
          <a:xfrm>
            <a:off x="548640" y="777240"/>
            <a:ext cx="11064240" cy="749808"/>
          </a:xfrm>
          <a:prstGeom prst="rect">
            <a:avLst/>
          </a:prstGeom>
          <a:noFill/>
        </p:spPr>
        <p:txBody>
          <a:bodyPr wrap="square" lIns="0" rIns="0" tIns="0" bIns="0">
            <a:noAutofit/>
          </a:bodyPr>
          <a:lstStyle/>
          <a:p>
            <a:pPr algn="l">
              <a:lnSpc>
                <a:spcPct val="112000"/>
              </a:lnSpc>
              <a:spcBef>
                <a:spcPts val="0"/>
              </a:spcBef>
              <a:spcAft>
                <a:spcPts val="700"/>
              </a:spcAft>
            </a:pPr>
            <a:r>
              <a:rPr sz="3400" b="1">
                <a:solidFill>
                  <a:srgbClr val="1F2328"/>
                </a:solidFill>
                <a:latin typeface="Arial"/>
              </a:rPr>
              <a:t>Sprint 6 ownership</a:t>
            </a:r>
          </a:p>
        </p:txBody>
      </p:sp>
      <p:sp>
        <p:nvSpPr>
          <p:cNvPr id="4" name="TextBox 3"/>
          <p:cNvSpPr txBox="1"/>
          <p:nvPr/>
        </p:nvSpPr>
        <p:spPr>
          <a:xfrm>
            <a:off x="548640" y="6528816"/>
            <a:ext cx="9144000" cy="182880"/>
          </a:xfrm>
          <a:prstGeom prst="rect">
            <a:avLst/>
          </a:prstGeom>
          <a:noFill/>
        </p:spPr>
        <p:txBody>
          <a:bodyPr wrap="square" lIns="0" rIns="0" tIns="0" bIns="0">
            <a:noAutofit/>
          </a:bodyPr>
          <a:lstStyle/>
          <a:p>
            <a:pPr algn="l">
              <a:lnSpc>
                <a:spcPct val="112000"/>
              </a:lnSpc>
              <a:spcBef>
                <a:spcPts val="0"/>
              </a:spcBef>
              <a:spcAft>
                <a:spcPts val="700"/>
              </a:spcAft>
            </a:pPr>
            <a:r>
              <a:rPr sz="1000" b="0">
                <a:solidFill>
                  <a:srgbClr val="5B6573"/>
                </a:solidFill>
                <a:latin typeface="Arial"/>
              </a:rPr>
              <a:t>SQUATCH SPORTS · TEAM 11</a:t>
            </a:r>
          </a:p>
        </p:txBody>
      </p:sp>
      <p:sp>
        <p:nvSpPr>
          <p:cNvPr id="5" name="TextBox 4"/>
          <p:cNvSpPr txBox="1"/>
          <p:nvPr/>
        </p:nvSpPr>
        <p:spPr>
          <a:xfrm>
            <a:off x="11091672" y="6510528"/>
            <a:ext cx="521207" cy="201168"/>
          </a:xfrm>
          <a:prstGeom prst="rect">
            <a:avLst/>
          </a:prstGeom>
          <a:noFill/>
        </p:spPr>
        <p:txBody>
          <a:bodyPr wrap="square" lIns="0" rIns="0" tIns="0" bIns="0">
            <a:noAutofit/>
          </a:bodyPr>
          <a:lstStyle/>
          <a:p>
            <a:pPr algn="r">
              <a:lnSpc>
                <a:spcPct val="112000"/>
              </a:lnSpc>
              <a:spcBef>
                <a:spcPts val="0"/>
              </a:spcBef>
              <a:spcAft>
                <a:spcPts val="700"/>
              </a:spcAft>
            </a:pPr>
            <a:r>
              <a:rPr sz="1000" b="0">
                <a:solidFill>
                  <a:srgbClr val="5B6573"/>
                </a:solidFill>
                <a:latin typeface="Arial"/>
              </a:rPr>
              <a:t>10</a:t>
            </a:r>
          </a:p>
        </p:txBody>
      </p:sp>
      <p:graphicFrame>
        <p:nvGraphicFramePr>
          <p:cNvPr id="6" name="Table 5"/>
          <p:cNvGraphicFramePr>
            <a:graphicFrameLocks noGrp="1"/>
          </p:cNvGraphicFramePr>
          <p:nvPr/>
        </p:nvGraphicFramePr>
        <p:xfrm>
          <a:off x="548640" y="1847088"/>
          <a:ext cx="11155680" cy="3886200"/>
        </p:xfrm>
        <a:graphic>
          <a:graphicData uri="http://schemas.openxmlformats.org/drawingml/2006/table">
            <a:tbl>
              <a:tblPr firstRow="1" bandRow="1">
                <a:tableStyleId>{5C22544A-7EE6-4342-B048-85BDC9FD1C3A}</a:tableStyleId>
              </a:tblPr>
              <a:tblGrid>
                <a:gridCol w="1051560"/>
                <a:gridCol w="7178040"/>
                <a:gridCol w="2926080"/>
              </a:tblGrid>
              <a:tr h="777240">
                <a:tc>
                  <a:txBody>
                    <a:bodyPr/>
                    <a:lstStyle/>
                    <a:p>
                      <a:pPr>
                        <a:lnSpc>
                          <a:spcPct val="106000"/>
                        </a:lnSpc>
                        <a:spcAft>
                          <a:spcPts val="0"/>
                        </a:spcAft>
                      </a:pPr>
                      <a:r>
                        <a:rPr sz="2000" b="1">
                          <a:solidFill>
                            <a:srgbClr val="FFFFFF"/>
                          </a:solidFill>
                          <a:latin typeface="Arial"/>
                        </a:rPr>
                        <a:t>Issue</a:t>
                      </a:r>
                    </a:p>
                  </a:txBody>
                  <a:tcPr marL="164592" marR="109728" marT="91440" marB="64008" anchor="ctr">
                    <a:solidFill>
                      <a:srgbClr val="16191D"/>
                    </a:solidFill>
                  </a:tcPr>
                </a:tc>
                <a:tc>
                  <a:txBody>
                    <a:bodyPr/>
                    <a:lstStyle/>
                    <a:p>
                      <a:pPr>
                        <a:lnSpc>
                          <a:spcPct val="106000"/>
                        </a:lnSpc>
                        <a:spcAft>
                          <a:spcPts val="0"/>
                        </a:spcAft>
                      </a:pPr>
                      <a:r>
                        <a:rPr sz="2000" b="1">
                          <a:solidFill>
                            <a:srgbClr val="FFFFFF"/>
                          </a:solidFill>
                          <a:latin typeface="Arial"/>
                        </a:rPr>
                        <a:t>Next task</a:t>
                      </a:r>
                    </a:p>
                  </a:txBody>
                  <a:tcPr marL="164592" marR="109728" marT="91440" marB="64008" anchor="ctr">
                    <a:solidFill>
                      <a:srgbClr val="16191D"/>
                    </a:solidFill>
                  </a:tcPr>
                </a:tc>
                <a:tc>
                  <a:txBody>
                    <a:bodyPr/>
                    <a:lstStyle/>
                    <a:p>
                      <a:pPr>
                        <a:lnSpc>
                          <a:spcPct val="106000"/>
                        </a:lnSpc>
                        <a:spcAft>
                          <a:spcPts val="0"/>
                        </a:spcAft>
                      </a:pPr>
                      <a:r>
                        <a:rPr sz="2000" b="1">
                          <a:solidFill>
                            <a:srgbClr val="FFFFFF"/>
                          </a:solidFill>
                          <a:latin typeface="Arial"/>
                        </a:rPr>
                        <a:t>Owner</a:t>
                      </a:r>
                    </a:p>
                  </a:txBody>
                  <a:tcPr marL="164592" marR="109728" marT="91440" marB="64008" anchor="ctr">
                    <a:solidFill>
                      <a:srgbClr val="16191D"/>
                    </a:solidFill>
                  </a:tcPr>
                </a:tc>
              </a:tr>
              <a:tr h="777240">
                <a:tc>
                  <a:txBody>
                    <a:bodyPr/>
                    <a:lstStyle/>
                    <a:p>
                      <a:pPr>
                        <a:lnSpc>
                          <a:spcPct val="106000"/>
                        </a:lnSpc>
                        <a:spcAft>
                          <a:spcPts val="0"/>
                        </a:spcAft>
                      </a:pPr>
                      <a:r>
                        <a:rPr sz="2000" b="0">
                          <a:solidFill>
                            <a:srgbClr val="1F2328"/>
                          </a:solidFill>
                          <a:latin typeface="Arial"/>
                        </a:rPr>
                        <a:t>#25</a:t>
                      </a:r>
                    </a:p>
                  </a:txBody>
                  <a:tcPr marL="164592" marR="109728" marT="91440" marB="64008" anchor="ctr">
                    <a:solidFill>
                      <a:srgbClr val="F3F4F6"/>
                    </a:solidFill>
                  </a:tcPr>
                </a:tc>
                <a:tc>
                  <a:txBody>
                    <a:bodyPr/>
                    <a:lstStyle/>
                    <a:p>
                      <a:pPr>
                        <a:lnSpc>
                          <a:spcPct val="106000"/>
                        </a:lnSpc>
                        <a:spcAft>
                          <a:spcPts val="0"/>
                        </a:spcAft>
                      </a:pPr>
                      <a:r>
                        <a:rPr sz="2000" b="0">
                          <a:solidFill>
                            <a:srgbClr val="1F2328"/>
                          </a:solidFill>
                          <a:latin typeface="Arial"/>
                        </a:rPr>
                        <a:t>Player / possession rules</a:t>
                      </a:r>
                    </a:p>
                  </a:txBody>
                  <a:tcPr marL="164592" marR="109728" marT="91440" marB="64008" anchor="ctr">
                    <a:solidFill>
                      <a:srgbClr val="F3F4F6"/>
                    </a:solidFill>
                  </a:tcPr>
                </a:tc>
                <a:tc>
                  <a:txBody>
                    <a:bodyPr/>
                    <a:lstStyle/>
                    <a:p>
                      <a:pPr>
                        <a:lnSpc>
                          <a:spcPct val="106000"/>
                        </a:lnSpc>
                        <a:spcAft>
                          <a:spcPts val="0"/>
                        </a:spcAft>
                      </a:pPr>
                      <a:r>
                        <a:rPr sz="2000" b="0">
                          <a:solidFill>
                            <a:srgbClr val="1F2328"/>
                          </a:solidFill>
                          <a:latin typeface="Arial"/>
                        </a:rPr>
                        <a:t>Kaleb</a:t>
                      </a:r>
                    </a:p>
                  </a:txBody>
                  <a:tcPr marL="164592" marR="109728" marT="91440" marB="64008" anchor="ctr">
                    <a:solidFill>
                      <a:srgbClr val="F3F4F6"/>
                    </a:solidFill>
                  </a:tcPr>
                </a:tc>
              </a:tr>
              <a:tr h="777240">
                <a:tc>
                  <a:txBody>
                    <a:bodyPr/>
                    <a:lstStyle/>
                    <a:p>
                      <a:pPr>
                        <a:lnSpc>
                          <a:spcPct val="106000"/>
                        </a:lnSpc>
                        <a:spcAft>
                          <a:spcPts val="0"/>
                        </a:spcAft>
                      </a:pPr>
                      <a:r>
                        <a:rPr sz="2000" b="0">
                          <a:solidFill>
                            <a:srgbClr val="1F2328"/>
                          </a:solidFill>
                          <a:latin typeface="Arial"/>
                        </a:rPr>
                        <a:t>#36</a:t>
                      </a:r>
                    </a:p>
                  </a:txBody>
                  <a:tcPr marL="164592" marR="109728" marT="91440" marB="64008" anchor="ctr">
                    <a:solidFill>
                      <a:srgbClr val="FFFFFF"/>
                    </a:solidFill>
                  </a:tcPr>
                </a:tc>
                <a:tc>
                  <a:txBody>
                    <a:bodyPr/>
                    <a:lstStyle/>
                    <a:p>
                      <a:pPr>
                        <a:lnSpc>
                          <a:spcPct val="106000"/>
                        </a:lnSpc>
                        <a:spcAft>
                          <a:spcPts val="0"/>
                        </a:spcAft>
                      </a:pPr>
                      <a:r>
                        <a:rPr sz="2000" b="0">
                          <a:solidFill>
                            <a:srgbClr val="1F2328"/>
                          </a:solidFill>
                          <a:latin typeface="Arial"/>
                        </a:rPr>
                        <a:t>Apple Watch keep-alive</a:t>
                      </a:r>
                    </a:p>
                  </a:txBody>
                  <a:tcPr marL="164592" marR="109728" marT="91440" marB="64008" anchor="ctr">
                    <a:solidFill>
                      <a:srgbClr val="FFFFFF"/>
                    </a:solidFill>
                  </a:tcPr>
                </a:tc>
                <a:tc>
                  <a:txBody>
                    <a:bodyPr/>
                    <a:lstStyle/>
                    <a:p>
                      <a:pPr>
                        <a:lnSpc>
                          <a:spcPct val="106000"/>
                        </a:lnSpc>
                        <a:spcAft>
                          <a:spcPts val="0"/>
                        </a:spcAft>
                      </a:pPr>
                      <a:r>
                        <a:rPr sz="2000" b="0">
                          <a:solidFill>
                            <a:srgbClr val="1F2328"/>
                          </a:solidFill>
                          <a:latin typeface="Arial"/>
                        </a:rPr>
                        <a:t>Kellam</a:t>
                      </a:r>
                    </a:p>
                  </a:txBody>
                  <a:tcPr marL="164592" marR="109728" marT="91440" marB="64008" anchor="ctr">
                    <a:solidFill>
                      <a:srgbClr val="FFFFFF"/>
                    </a:solidFill>
                  </a:tcPr>
                </a:tc>
              </a:tr>
              <a:tr h="777240">
                <a:tc>
                  <a:txBody>
                    <a:bodyPr/>
                    <a:lstStyle/>
                    <a:p>
                      <a:pPr>
                        <a:lnSpc>
                          <a:spcPct val="106000"/>
                        </a:lnSpc>
                        <a:spcAft>
                          <a:spcPts val="0"/>
                        </a:spcAft>
                      </a:pPr>
                      <a:r>
                        <a:rPr sz="2000" b="0">
                          <a:solidFill>
                            <a:srgbClr val="1F2328"/>
                          </a:solidFill>
                          <a:latin typeface="Arial"/>
                        </a:rPr>
                        <a:t>#37</a:t>
                      </a:r>
                    </a:p>
                  </a:txBody>
                  <a:tcPr marL="164592" marR="109728" marT="91440" marB="64008" anchor="ctr">
                    <a:solidFill>
                      <a:srgbClr val="F3F4F6"/>
                    </a:solidFill>
                  </a:tcPr>
                </a:tc>
                <a:tc>
                  <a:txBody>
                    <a:bodyPr/>
                    <a:lstStyle/>
                    <a:p>
                      <a:pPr>
                        <a:lnSpc>
                          <a:spcPct val="106000"/>
                        </a:lnSpc>
                        <a:spcAft>
                          <a:spcPts val="0"/>
                        </a:spcAft>
                      </a:pPr>
                      <a:r>
                        <a:rPr sz="2000" b="0">
                          <a:solidFill>
                            <a:srgbClr val="1F2328"/>
                          </a:solidFill>
                          <a:latin typeface="Arial"/>
                        </a:rPr>
                        <a:t>Remove duplicate iCloud files</a:t>
                      </a:r>
                    </a:p>
                  </a:txBody>
                  <a:tcPr marL="164592" marR="109728" marT="91440" marB="64008" anchor="ctr">
                    <a:solidFill>
                      <a:srgbClr val="F3F4F6"/>
                    </a:solidFill>
                  </a:tcPr>
                </a:tc>
                <a:tc>
                  <a:txBody>
                    <a:bodyPr/>
                    <a:lstStyle/>
                    <a:p>
                      <a:pPr>
                        <a:lnSpc>
                          <a:spcPct val="106000"/>
                        </a:lnSpc>
                        <a:spcAft>
                          <a:spcPts val="0"/>
                        </a:spcAft>
                      </a:pPr>
                      <a:r>
                        <a:rPr sz="2000" b="0">
                          <a:solidFill>
                            <a:srgbClr val="1F2328"/>
                          </a:solidFill>
                          <a:latin typeface="Arial"/>
                        </a:rPr>
                        <a:t>Kellam</a:t>
                      </a:r>
                    </a:p>
                  </a:txBody>
                  <a:tcPr marL="164592" marR="109728" marT="91440" marB="64008" anchor="ctr">
                    <a:solidFill>
                      <a:srgbClr val="F3F4F6"/>
                    </a:solidFill>
                  </a:tcPr>
                </a:tc>
              </a:tr>
              <a:tr h="777240">
                <a:tc>
                  <a:txBody>
                    <a:bodyPr/>
                    <a:lstStyle/>
                    <a:p>
                      <a:pPr>
                        <a:lnSpc>
                          <a:spcPct val="106000"/>
                        </a:lnSpc>
                        <a:spcAft>
                          <a:spcPts val="0"/>
                        </a:spcAft>
                      </a:pPr>
                      <a:r>
                        <a:rPr sz="2000" b="0">
                          <a:solidFill>
                            <a:srgbClr val="1F2328"/>
                          </a:solidFill>
                          <a:latin typeface="Arial"/>
                        </a:rPr>
                        <a:t>#19</a:t>
                      </a:r>
                    </a:p>
                  </a:txBody>
                  <a:tcPr marL="164592" marR="109728" marT="91440" marB="64008" anchor="ctr">
                    <a:solidFill>
                      <a:srgbClr val="FFFFFF"/>
                    </a:solidFill>
                  </a:tcPr>
                </a:tc>
                <a:tc>
                  <a:txBody>
                    <a:bodyPr/>
                    <a:lstStyle/>
                    <a:p>
                      <a:pPr>
                        <a:lnSpc>
                          <a:spcPct val="106000"/>
                        </a:lnSpc>
                        <a:spcAft>
                          <a:spcPts val="0"/>
                        </a:spcAft>
                      </a:pPr>
                      <a:r>
                        <a:rPr sz="2000" b="0">
                          <a:solidFill>
                            <a:srgbClr val="1F2328"/>
                          </a:solidFill>
                          <a:latin typeface="Arial"/>
                        </a:rPr>
                        <a:t>Fix repeated-shot bug on Apple Watch</a:t>
                      </a:r>
                    </a:p>
                  </a:txBody>
                  <a:tcPr marL="164592" marR="109728" marT="91440" marB="64008" anchor="ctr">
                    <a:solidFill>
                      <a:srgbClr val="FFFFFF"/>
                    </a:solidFill>
                  </a:tcPr>
                </a:tc>
                <a:tc>
                  <a:txBody>
                    <a:bodyPr/>
                    <a:lstStyle/>
                    <a:p>
                      <a:pPr>
                        <a:lnSpc>
                          <a:spcPct val="106000"/>
                        </a:lnSpc>
                        <a:spcAft>
                          <a:spcPts val="0"/>
                        </a:spcAft>
                      </a:pPr>
                      <a:r>
                        <a:rPr sz="2000" b="0">
                          <a:solidFill>
                            <a:srgbClr val="1F2328"/>
                          </a:solidFill>
                          <a:latin typeface="Arial"/>
                        </a:rPr>
                        <a:t>Team</a:t>
                      </a:r>
                    </a:p>
                  </a:txBody>
                  <a:tcPr marL="164592" marR="109728" marT="91440" marB="64008" anchor="ctr">
                    <a:solidFill>
                      <a:srgbClr val="FFFFFF"/>
                    </a:solidFill>
                  </a:tcPr>
                </a:tc>
              </a:tr>
            </a:tbl>
          </a:graphicData>
        </a:graphic>
      </p:graphicFrame>
      <p:sp>
        <p:nvSpPr>
          <p:cNvPr id="7" name="TextBox 6"/>
          <p:cNvSpPr txBox="1"/>
          <p:nvPr/>
        </p:nvSpPr>
        <p:spPr>
          <a:xfrm>
            <a:off x="548640" y="5989320"/>
            <a:ext cx="11064240" cy="347472"/>
          </a:xfrm>
          <a:prstGeom prst="rect">
            <a:avLst/>
          </a:prstGeom>
          <a:noFill/>
        </p:spPr>
        <p:txBody>
          <a:bodyPr wrap="square" lIns="0" rIns="0" tIns="0" bIns="0">
            <a:noAutofit/>
          </a:bodyPr>
          <a:lstStyle/>
          <a:p>
            <a:pPr algn="l">
              <a:lnSpc>
                <a:spcPct val="112000"/>
              </a:lnSpc>
              <a:spcBef>
                <a:spcPts val="0"/>
              </a:spcBef>
              <a:spcAft>
                <a:spcPts val="700"/>
              </a:spcAft>
            </a:pPr>
            <a:r>
              <a:rPr sz="1600" b="0">
                <a:solidFill>
                  <a:srgbClr val="5B6573"/>
                </a:solidFill>
                <a:latin typeface="Arial"/>
              </a:rPr>
              <a:t>Also tracked: Android / Wear OS UI and regression polish (#20).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9184"/>
            <a:ext cx="11064240" cy="256032"/>
          </a:xfrm>
          <a:prstGeom prst="rect">
            <a:avLst/>
          </a:prstGeom>
          <a:noFill/>
        </p:spPr>
        <p:txBody>
          <a:bodyPr wrap="square" lIns="0" rIns="0" tIns="0" bIns="0">
            <a:noAutofit/>
          </a:bodyPr>
          <a:lstStyle/>
          <a:p>
            <a:pPr algn="l">
              <a:lnSpc>
                <a:spcPct val="112000"/>
              </a:lnSpc>
              <a:spcBef>
                <a:spcPts val="0"/>
              </a:spcBef>
              <a:spcAft>
                <a:spcPts val="700"/>
              </a:spcAft>
            </a:pPr>
            <a:r>
              <a:rPr sz="1200" b="1">
                <a:solidFill>
                  <a:srgbClr val="FF8A00"/>
                </a:solidFill>
                <a:latin typeface="Arial"/>
              </a:rPr>
              <a:t>CLIENT MEETINGS</a:t>
            </a:r>
          </a:p>
        </p:txBody>
      </p:sp>
      <p:sp>
        <p:nvSpPr>
          <p:cNvPr id="3" name="TextBox 2"/>
          <p:cNvSpPr txBox="1"/>
          <p:nvPr/>
        </p:nvSpPr>
        <p:spPr>
          <a:xfrm>
            <a:off x="548640" y="777240"/>
            <a:ext cx="11064240" cy="749808"/>
          </a:xfrm>
          <a:prstGeom prst="rect">
            <a:avLst/>
          </a:prstGeom>
          <a:noFill/>
        </p:spPr>
        <p:txBody>
          <a:bodyPr wrap="square" lIns="0" rIns="0" tIns="0" bIns="0">
            <a:noAutofit/>
          </a:bodyPr>
          <a:lstStyle/>
          <a:p>
            <a:pPr algn="l">
              <a:lnSpc>
                <a:spcPct val="112000"/>
              </a:lnSpc>
              <a:spcBef>
                <a:spcPts val="0"/>
              </a:spcBef>
              <a:spcAft>
                <a:spcPts val="700"/>
              </a:spcAft>
            </a:pPr>
            <a:r>
              <a:rPr sz="3400" b="1">
                <a:solidFill>
                  <a:srgbClr val="1F2328"/>
                </a:solidFill>
                <a:latin typeface="Arial"/>
              </a:rPr>
              <a:t>Feedback shaped the feature</a:t>
            </a:r>
          </a:p>
        </p:txBody>
      </p:sp>
      <p:sp>
        <p:nvSpPr>
          <p:cNvPr id="4" name="TextBox 3"/>
          <p:cNvSpPr txBox="1"/>
          <p:nvPr/>
        </p:nvSpPr>
        <p:spPr>
          <a:xfrm>
            <a:off x="548640" y="6528816"/>
            <a:ext cx="9144000" cy="182880"/>
          </a:xfrm>
          <a:prstGeom prst="rect">
            <a:avLst/>
          </a:prstGeom>
          <a:noFill/>
        </p:spPr>
        <p:txBody>
          <a:bodyPr wrap="square" lIns="0" rIns="0" tIns="0" bIns="0">
            <a:noAutofit/>
          </a:bodyPr>
          <a:lstStyle/>
          <a:p>
            <a:pPr algn="l">
              <a:lnSpc>
                <a:spcPct val="112000"/>
              </a:lnSpc>
              <a:spcBef>
                <a:spcPts val="0"/>
              </a:spcBef>
              <a:spcAft>
                <a:spcPts val="700"/>
              </a:spcAft>
            </a:pPr>
            <a:r>
              <a:rPr sz="1000" b="0">
                <a:solidFill>
                  <a:srgbClr val="5B6573"/>
                </a:solidFill>
                <a:latin typeface="Arial"/>
              </a:rPr>
              <a:t>SQUATCH SPORTS · TEAM 11</a:t>
            </a:r>
          </a:p>
        </p:txBody>
      </p:sp>
      <p:sp>
        <p:nvSpPr>
          <p:cNvPr id="5" name="TextBox 4"/>
          <p:cNvSpPr txBox="1"/>
          <p:nvPr/>
        </p:nvSpPr>
        <p:spPr>
          <a:xfrm>
            <a:off x="11091672" y="6510528"/>
            <a:ext cx="521207" cy="201168"/>
          </a:xfrm>
          <a:prstGeom prst="rect">
            <a:avLst/>
          </a:prstGeom>
          <a:noFill/>
        </p:spPr>
        <p:txBody>
          <a:bodyPr wrap="square" lIns="0" rIns="0" tIns="0" bIns="0">
            <a:noAutofit/>
          </a:bodyPr>
          <a:lstStyle/>
          <a:p>
            <a:pPr algn="r">
              <a:lnSpc>
                <a:spcPct val="112000"/>
              </a:lnSpc>
              <a:spcBef>
                <a:spcPts val="0"/>
              </a:spcBef>
              <a:spcAft>
                <a:spcPts val="700"/>
              </a:spcAft>
            </a:pPr>
            <a:r>
              <a:rPr sz="1000" b="0">
                <a:solidFill>
                  <a:srgbClr val="5B6573"/>
                </a:solidFill>
                <a:latin typeface="Arial"/>
              </a:rPr>
              <a:t>11</a:t>
            </a:r>
          </a:p>
        </p:txBody>
      </p:sp>
      <p:sp>
        <p:nvSpPr>
          <p:cNvPr id="6" name="Rounded Rectangle 5"/>
          <p:cNvSpPr/>
          <p:nvPr/>
        </p:nvSpPr>
        <p:spPr>
          <a:xfrm>
            <a:off x="548640" y="1938528"/>
            <a:ext cx="5394960" cy="2761488"/>
          </a:xfrm>
          <a:prstGeom prst="roundRect">
            <a:avLst>
              <a:gd name="adj" fmla="val 10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267712"/>
            <a:ext cx="4846320" cy="329184"/>
          </a:xfrm>
          <a:prstGeom prst="rect">
            <a:avLst/>
          </a:prstGeom>
          <a:noFill/>
        </p:spPr>
        <p:txBody>
          <a:bodyPr wrap="square" lIns="0" rIns="0" tIns="0" bIns="0">
            <a:noAutofit/>
          </a:bodyPr>
          <a:lstStyle/>
          <a:p>
            <a:pPr algn="l">
              <a:lnSpc>
                <a:spcPct val="112000"/>
              </a:lnSpc>
              <a:spcBef>
                <a:spcPts val="0"/>
              </a:spcBef>
              <a:spcAft>
                <a:spcPts val="700"/>
              </a:spcAft>
            </a:pPr>
            <a:r>
              <a:rPr sz="1500" b="1">
                <a:solidFill>
                  <a:srgbClr val="FF8A00"/>
                </a:solidFill>
                <a:latin typeface="Arial"/>
              </a:rPr>
              <a:t>SEPTEMBER 30</a:t>
            </a:r>
          </a:p>
        </p:txBody>
      </p:sp>
      <p:sp>
        <p:nvSpPr>
          <p:cNvPr id="8" name="TextBox 7"/>
          <p:cNvSpPr txBox="1"/>
          <p:nvPr/>
        </p:nvSpPr>
        <p:spPr>
          <a:xfrm>
            <a:off x="822959" y="2889504"/>
            <a:ext cx="4846320" cy="521207"/>
          </a:xfrm>
          <a:prstGeom prst="rect">
            <a:avLst/>
          </a:prstGeom>
          <a:noFill/>
        </p:spPr>
        <p:txBody>
          <a:bodyPr wrap="square" lIns="0" rIns="0" tIns="0" bIns="0">
            <a:noAutofit/>
          </a:bodyPr>
          <a:lstStyle/>
          <a:p>
            <a:pPr algn="l">
              <a:lnSpc>
                <a:spcPct val="112000"/>
              </a:lnSpc>
              <a:spcBef>
                <a:spcPts val="0"/>
              </a:spcBef>
              <a:spcAft>
                <a:spcPts val="700"/>
              </a:spcAft>
            </a:pPr>
            <a:r>
              <a:rPr sz="2700" b="1">
                <a:solidFill>
                  <a:srgbClr val="1F2328"/>
                </a:solidFill>
                <a:latin typeface="Arial"/>
              </a:rPr>
              <a:t>Align the platforms</a:t>
            </a:r>
          </a:p>
        </p:txBody>
      </p:sp>
      <p:sp>
        <p:nvSpPr>
          <p:cNvPr id="9" name="TextBox 8"/>
          <p:cNvSpPr txBox="1"/>
          <p:nvPr/>
        </p:nvSpPr>
        <p:spPr>
          <a:xfrm>
            <a:off x="822959" y="3758184"/>
            <a:ext cx="4846320" cy="640080"/>
          </a:xfrm>
          <a:prstGeom prst="rect">
            <a:avLst/>
          </a:prstGeom>
          <a:noFill/>
        </p:spPr>
        <p:txBody>
          <a:bodyPr wrap="square" lIns="0" rIns="0" tIns="0" bIns="0">
            <a:noAutofit/>
          </a:bodyPr>
          <a:lstStyle/>
          <a:p>
            <a:pPr algn="l">
              <a:lnSpc>
                <a:spcPct val="112000"/>
              </a:lnSpc>
              <a:spcBef>
                <a:spcPts val="0"/>
              </a:spcBef>
              <a:spcAft>
                <a:spcPts val="700"/>
              </a:spcAft>
            </a:pPr>
            <a:r>
              <a:rPr sz="2000" b="0">
                <a:solidFill>
                  <a:srgbClr val="5B6573"/>
                </a:solidFill>
                <a:latin typeface="Arial"/>
              </a:rPr>
              <a:t>Gamification parity + a new 1v1 mode.</a:t>
            </a:r>
          </a:p>
        </p:txBody>
      </p:sp>
      <p:sp>
        <p:nvSpPr>
          <p:cNvPr id="10" name="Rounded Rectangle 9"/>
          <p:cNvSpPr/>
          <p:nvPr/>
        </p:nvSpPr>
        <p:spPr>
          <a:xfrm>
            <a:off x="6217920" y="1938528"/>
            <a:ext cx="5394960" cy="2761488"/>
          </a:xfrm>
          <a:prstGeom prst="roundRect">
            <a:avLst>
              <a:gd name="adj" fmla="val 10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2267712"/>
            <a:ext cx="4846320" cy="329184"/>
          </a:xfrm>
          <a:prstGeom prst="rect">
            <a:avLst/>
          </a:prstGeom>
          <a:noFill/>
        </p:spPr>
        <p:txBody>
          <a:bodyPr wrap="square" lIns="0" rIns="0" tIns="0" bIns="0">
            <a:noAutofit/>
          </a:bodyPr>
          <a:lstStyle/>
          <a:p>
            <a:pPr algn="l">
              <a:lnSpc>
                <a:spcPct val="112000"/>
              </a:lnSpc>
              <a:spcBef>
                <a:spcPts val="0"/>
              </a:spcBef>
              <a:spcAft>
                <a:spcPts val="700"/>
              </a:spcAft>
            </a:pPr>
            <a:r>
              <a:rPr sz="1500" b="1">
                <a:solidFill>
                  <a:srgbClr val="FF8A00"/>
                </a:solidFill>
                <a:latin typeface="Arial"/>
              </a:rPr>
              <a:t>OCTOBER 14</a:t>
            </a:r>
          </a:p>
        </p:txBody>
      </p:sp>
      <p:sp>
        <p:nvSpPr>
          <p:cNvPr id="12" name="TextBox 11"/>
          <p:cNvSpPr txBox="1"/>
          <p:nvPr/>
        </p:nvSpPr>
        <p:spPr>
          <a:xfrm>
            <a:off x="6492240" y="2889504"/>
            <a:ext cx="4846320" cy="521207"/>
          </a:xfrm>
          <a:prstGeom prst="rect">
            <a:avLst/>
          </a:prstGeom>
          <a:noFill/>
        </p:spPr>
        <p:txBody>
          <a:bodyPr wrap="square" lIns="0" rIns="0" tIns="0" bIns="0">
            <a:noAutofit/>
          </a:bodyPr>
          <a:lstStyle/>
          <a:p>
            <a:pPr algn="l">
              <a:lnSpc>
                <a:spcPct val="112000"/>
              </a:lnSpc>
              <a:spcBef>
                <a:spcPts val="0"/>
              </a:spcBef>
              <a:spcAft>
                <a:spcPts val="700"/>
              </a:spcAft>
            </a:pPr>
            <a:r>
              <a:rPr sz="2700" b="1">
                <a:solidFill>
                  <a:srgbClr val="1F2328"/>
                </a:solidFill>
                <a:latin typeface="Arial"/>
              </a:rPr>
              <a:t>Make it watch-first</a:t>
            </a:r>
          </a:p>
        </p:txBody>
      </p:sp>
      <p:sp>
        <p:nvSpPr>
          <p:cNvPr id="13" name="TextBox 12"/>
          <p:cNvSpPr txBox="1"/>
          <p:nvPr/>
        </p:nvSpPr>
        <p:spPr>
          <a:xfrm>
            <a:off x="6492240" y="3758184"/>
            <a:ext cx="4846320" cy="640080"/>
          </a:xfrm>
          <a:prstGeom prst="rect">
            <a:avLst/>
          </a:prstGeom>
          <a:noFill/>
        </p:spPr>
        <p:txBody>
          <a:bodyPr wrap="square" lIns="0" rIns="0" tIns="0" bIns="0">
            <a:noAutofit/>
          </a:bodyPr>
          <a:lstStyle/>
          <a:p>
            <a:pPr algn="l">
              <a:lnSpc>
                <a:spcPct val="112000"/>
              </a:lnSpc>
              <a:spcBef>
                <a:spcPts val="0"/>
              </a:spcBef>
              <a:spcAft>
                <a:spcPts val="700"/>
              </a:spcAft>
            </a:pPr>
            <a:r>
              <a:rPr sz="2000" b="0">
                <a:solidFill>
                  <a:srgbClr val="5B6573"/>
                </a:solidFill>
                <a:latin typeface="Arial"/>
              </a:rPr>
              <a:t>Keep the court. Let each player use a phone.</a:t>
            </a:r>
          </a:p>
        </p:txBody>
      </p:sp>
      <p:sp>
        <p:nvSpPr>
          <p:cNvPr id="14" name="TextBox 13"/>
          <p:cNvSpPr txBox="1"/>
          <p:nvPr/>
        </p:nvSpPr>
        <p:spPr>
          <a:xfrm>
            <a:off x="548640" y="5650992"/>
            <a:ext cx="11064240" cy="384048"/>
          </a:xfrm>
          <a:prstGeom prst="rect">
            <a:avLst/>
          </a:prstGeom>
          <a:noFill/>
        </p:spPr>
        <p:txBody>
          <a:bodyPr wrap="square" lIns="0" rIns="0" tIns="0" bIns="0">
            <a:noAutofit/>
          </a:bodyPr>
          <a:lstStyle/>
          <a:p>
            <a:pPr algn="l">
              <a:lnSpc>
                <a:spcPct val="112000"/>
              </a:lnSpc>
              <a:spcBef>
                <a:spcPts val="0"/>
              </a:spcBef>
              <a:spcAft>
                <a:spcPts val="700"/>
              </a:spcAft>
            </a:pPr>
            <a:r>
              <a:rPr sz="1700" b="0">
                <a:solidFill>
                  <a:srgbClr val="5B6573"/>
                </a:solidFill>
                <a:latin typeface="Arial"/>
              </a:rPr>
              <a:t>October 28 meeting cancelled.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9184"/>
            <a:ext cx="11064240" cy="256032"/>
          </a:xfrm>
          <a:prstGeom prst="rect">
            <a:avLst/>
          </a:prstGeom>
          <a:noFill/>
        </p:spPr>
        <p:txBody>
          <a:bodyPr wrap="square" lIns="0" rIns="0" tIns="0" bIns="0">
            <a:noAutofit/>
          </a:bodyPr>
          <a:lstStyle/>
          <a:p>
            <a:pPr algn="l">
              <a:lnSpc>
                <a:spcPct val="112000"/>
              </a:lnSpc>
              <a:spcBef>
                <a:spcPts val="0"/>
              </a:spcBef>
              <a:spcAft>
                <a:spcPts val="700"/>
              </a:spcAft>
            </a:pPr>
            <a:r>
              <a:rPr sz="1200" b="1">
                <a:solidFill>
                  <a:srgbClr val="FF8A00"/>
                </a:solidFill>
                <a:latin typeface="Arial"/>
              </a:rPr>
              <a:t>REPORT</a:t>
            </a:r>
          </a:p>
        </p:txBody>
      </p:sp>
      <p:sp>
        <p:nvSpPr>
          <p:cNvPr id="3" name="TextBox 2"/>
          <p:cNvSpPr txBox="1"/>
          <p:nvPr/>
        </p:nvSpPr>
        <p:spPr>
          <a:xfrm>
            <a:off x="548640" y="777240"/>
            <a:ext cx="11064240" cy="749808"/>
          </a:xfrm>
          <a:prstGeom prst="rect">
            <a:avLst/>
          </a:prstGeom>
          <a:noFill/>
        </p:spPr>
        <p:txBody>
          <a:bodyPr wrap="square" lIns="0" rIns="0" tIns="0" bIns="0">
            <a:noAutofit/>
          </a:bodyPr>
          <a:lstStyle/>
          <a:p>
            <a:pPr algn="l">
              <a:lnSpc>
                <a:spcPct val="112000"/>
              </a:lnSpc>
              <a:spcBef>
                <a:spcPts val="0"/>
              </a:spcBef>
              <a:spcAft>
                <a:spcPts val="700"/>
              </a:spcAft>
            </a:pPr>
            <a:r>
              <a:rPr sz="3400" b="1">
                <a:solidFill>
                  <a:srgbClr val="1F2328"/>
                </a:solidFill>
                <a:latin typeface="Arial"/>
              </a:rPr>
              <a:t>Documentation for handoff</a:t>
            </a:r>
          </a:p>
        </p:txBody>
      </p:sp>
      <p:sp>
        <p:nvSpPr>
          <p:cNvPr id="4" name="TextBox 3"/>
          <p:cNvSpPr txBox="1"/>
          <p:nvPr/>
        </p:nvSpPr>
        <p:spPr>
          <a:xfrm>
            <a:off x="548640" y="6528816"/>
            <a:ext cx="9144000" cy="182880"/>
          </a:xfrm>
          <a:prstGeom prst="rect">
            <a:avLst/>
          </a:prstGeom>
          <a:noFill/>
        </p:spPr>
        <p:txBody>
          <a:bodyPr wrap="square" lIns="0" rIns="0" tIns="0" bIns="0">
            <a:noAutofit/>
          </a:bodyPr>
          <a:lstStyle/>
          <a:p>
            <a:pPr algn="l">
              <a:lnSpc>
                <a:spcPct val="112000"/>
              </a:lnSpc>
              <a:spcBef>
                <a:spcPts val="0"/>
              </a:spcBef>
              <a:spcAft>
                <a:spcPts val="700"/>
              </a:spcAft>
            </a:pPr>
            <a:r>
              <a:rPr sz="1000" b="0">
                <a:solidFill>
                  <a:srgbClr val="5B6573"/>
                </a:solidFill>
                <a:latin typeface="Arial"/>
              </a:rPr>
              <a:t>SQUATCH SPORTS · TEAM 11</a:t>
            </a:r>
          </a:p>
        </p:txBody>
      </p:sp>
      <p:sp>
        <p:nvSpPr>
          <p:cNvPr id="5" name="TextBox 4"/>
          <p:cNvSpPr txBox="1"/>
          <p:nvPr/>
        </p:nvSpPr>
        <p:spPr>
          <a:xfrm>
            <a:off x="11091672" y="6510528"/>
            <a:ext cx="521207" cy="201168"/>
          </a:xfrm>
          <a:prstGeom prst="rect">
            <a:avLst/>
          </a:prstGeom>
          <a:noFill/>
        </p:spPr>
        <p:txBody>
          <a:bodyPr wrap="square" lIns="0" rIns="0" tIns="0" bIns="0">
            <a:noAutofit/>
          </a:bodyPr>
          <a:lstStyle/>
          <a:p>
            <a:pPr algn="r">
              <a:lnSpc>
                <a:spcPct val="112000"/>
              </a:lnSpc>
              <a:spcBef>
                <a:spcPts val="0"/>
              </a:spcBef>
              <a:spcAft>
                <a:spcPts val="700"/>
              </a:spcAft>
            </a:pPr>
            <a:r>
              <a:rPr sz="1000" b="0">
                <a:solidFill>
                  <a:srgbClr val="5B6573"/>
                </a:solidFill>
                <a:latin typeface="Arial"/>
              </a:rPr>
              <a:t>12</a:t>
            </a:r>
          </a:p>
        </p:txBody>
      </p:sp>
      <p:sp>
        <p:nvSpPr>
          <p:cNvPr id="6" name="Rounded Rectangle 5"/>
          <p:cNvSpPr/>
          <p:nvPr/>
        </p:nvSpPr>
        <p:spPr>
          <a:xfrm>
            <a:off x="548640" y="2048256"/>
            <a:ext cx="3566160" cy="2231136"/>
          </a:xfrm>
          <a:prstGeom prst="roundRect">
            <a:avLst>
              <a:gd name="adj" fmla="val 10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450592"/>
            <a:ext cx="3108960" cy="612648"/>
          </a:xfrm>
          <a:prstGeom prst="rect">
            <a:avLst/>
          </a:prstGeom>
          <a:noFill/>
        </p:spPr>
        <p:txBody>
          <a:bodyPr wrap="square" lIns="0" rIns="0" tIns="0" bIns="0">
            <a:noAutofit/>
          </a:bodyPr>
          <a:lstStyle/>
          <a:p>
            <a:pPr algn="l">
              <a:lnSpc>
                <a:spcPct val="112000"/>
              </a:lnSpc>
              <a:spcBef>
                <a:spcPts val="0"/>
              </a:spcBef>
              <a:spcAft>
                <a:spcPts val="700"/>
              </a:spcAft>
            </a:pPr>
            <a:r>
              <a:rPr sz="2500" b="1">
                <a:solidFill>
                  <a:srgbClr val="FF8A00"/>
                </a:solidFill>
                <a:latin typeface="Arial"/>
              </a:rPr>
              <a:t>Report</a:t>
            </a:r>
          </a:p>
        </p:txBody>
      </p:sp>
      <p:sp>
        <p:nvSpPr>
          <p:cNvPr id="8" name="TextBox 7"/>
          <p:cNvSpPr txBox="1"/>
          <p:nvPr/>
        </p:nvSpPr>
        <p:spPr>
          <a:xfrm>
            <a:off x="777240" y="3337560"/>
            <a:ext cx="3108960" cy="594360"/>
          </a:xfrm>
          <a:prstGeom prst="rect">
            <a:avLst/>
          </a:prstGeom>
          <a:noFill/>
        </p:spPr>
        <p:txBody>
          <a:bodyPr wrap="square" lIns="0" rIns="0" tIns="0" bIns="0">
            <a:noAutofit/>
          </a:bodyPr>
          <a:lstStyle/>
          <a:p>
            <a:pPr algn="l">
              <a:lnSpc>
                <a:spcPct val="112000"/>
              </a:lnSpc>
              <a:spcBef>
                <a:spcPts val="0"/>
              </a:spcBef>
              <a:spcAft>
                <a:spcPts val="700"/>
              </a:spcAft>
            </a:pPr>
            <a:r>
              <a:rPr sz="2000" b="0">
                <a:solidFill>
                  <a:srgbClr val="5B6573"/>
                </a:solidFill>
                <a:latin typeface="Arial"/>
              </a:rPr>
              <a:t>Features + team contributions</a:t>
            </a:r>
          </a:p>
        </p:txBody>
      </p:sp>
      <p:sp>
        <p:nvSpPr>
          <p:cNvPr id="9" name="Rounded Rectangle 8"/>
          <p:cNvSpPr/>
          <p:nvPr/>
        </p:nvSpPr>
        <p:spPr>
          <a:xfrm>
            <a:off x="4343400" y="2048256"/>
            <a:ext cx="3566160" cy="2231136"/>
          </a:xfrm>
          <a:prstGeom prst="roundRect">
            <a:avLst>
              <a:gd name="adj" fmla="val 10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2450592"/>
            <a:ext cx="3108960" cy="612648"/>
          </a:xfrm>
          <a:prstGeom prst="rect">
            <a:avLst/>
          </a:prstGeom>
          <a:noFill/>
        </p:spPr>
        <p:txBody>
          <a:bodyPr wrap="square" lIns="0" rIns="0" tIns="0" bIns="0">
            <a:noAutofit/>
          </a:bodyPr>
          <a:lstStyle/>
          <a:p>
            <a:pPr algn="l">
              <a:lnSpc>
                <a:spcPct val="112000"/>
              </a:lnSpc>
              <a:spcBef>
                <a:spcPts val="0"/>
              </a:spcBef>
              <a:spcAft>
                <a:spcPts val="700"/>
              </a:spcAft>
            </a:pPr>
            <a:r>
              <a:rPr sz="2500" b="1">
                <a:solidFill>
                  <a:srgbClr val="FF8A00"/>
                </a:solidFill>
                <a:latin typeface="Arial"/>
              </a:rPr>
              <a:t>Meeting minutes</a:t>
            </a:r>
          </a:p>
        </p:txBody>
      </p:sp>
      <p:sp>
        <p:nvSpPr>
          <p:cNvPr id="11" name="TextBox 10"/>
          <p:cNvSpPr txBox="1"/>
          <p:nvPr/>
        </p:nvSpPr>
        <p:spPr>
          <a:xfrm>
            <a:off x="4572000" y="3337560"/>
            <a:ext cx="3108960" cy="594360"/>
          </a:xfrm>
          <a:prstGeom prst="rect">
            <a:avLst/>
          </a:prstGeom>
          <a:noFill/>
        </p:spPr>
        <p:txBody>
          <a:bodyPr wrap="square" lIns="0" rIns="0" tIns="0" bIns="0">
            <a:noAutofit/>
          </a:bodyPr>
          <a:lstStyle/>
          <a:p>
            <a:pPr algn="l">
              <a:lnSpc>
                <a:spcPct val="112000"/>
              </a:lnSpc>
              <a:spcBef>
                <a:spcPts val="0"/>
              </a:spcBef>
              <a:spcAft>
                <a:spcPts val="700"/>
              </a:spcAft>
            </a:pPr>
            <a:r>
              <a:rPr sz="2000" b="0">
                <a:solidFill>
                  <a:srgbClr val="5B6573"/>
                </a:solidFill>
                <a:latin typeface="Arial"/>
              </a:rPr>
              <a:t>Decisions + action items</a:t>
            </a:r>
          </a:p>
        </p:txBody>
      </p:sp>
      <p:sp>
        <p:nvSpPr>
          <p:cNvPr id="12" name="Rounded Rectangle 11"/>
          <p:cNvSpPr/>
          <p:nvPr/>
        </p:nvSpPr>
        <p:spPr>
          <a:xfrm>
            <a:off x="8138160" y="2048256"/>
            <a:ext cx="3566160" cy="2231136"/>
          </a:xfrm>
          <a:prstGeom prst="roundRect">
            <a:avLst>
              <a:gd name="adj" fmla="val 10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66760" y="2450592"/>
            <a:ext cx="3108960" cy="612648"/>
          </a:xfrm>
          <a:prstGeom prst="rect">
            <a:avLst/>
          </a:prstGeom>
          <a:noFill/>
        </p:spPr>
        <p:txBody>
          <a:bodyPr wrap="square" lIns="0" rIns="0" tIns="0" bIns="0">
            <a:noAutofit/>
          </a:bodyPr>
          <a:lstStyle/>
          <a:p>
            <a:pPr algn="l">
              <a:lnSpc>
                <a:spcPct val="112000"/>
              </a:lnSpc>
              <a:spcBef>
                <a:spcPts val="0"/>
              </a:spcBef>
              <a:spcAft>
                <a:spcPts val="700"/>
              </a:spcAft>
            </a:pPr>
            <a:r>
              <a:rPr sz="2500" b="1">
                <a:solidFill>
                  <a:srgbClr val="FF8A00"/>
                </a:solidFill>
                <a:latin typeface="Arial"/>
              </a:rPr>
              <a:t>Test evidence</a:t>
            </a:r>
          </a:p>
        </p:txBody>
      </p:sp>
      <p:sp>
        <p:nvSpPr>
          <p:cNvPr id="14" name="TextBox 13"/>
          <p:cNvSpPr txBox="1"/>
          <p:nvPr/>
        </p:nvSpPr>
        <p:spPr>
          <a:xfrm>
            <a:off x="8366760" y="3337560"/>
            <a:ext cx="3108960" cy="594360"/>
          </a:xfrm>
          <a:prstGeom prst="rect">
            <a:avLst/>
          </a:prstGeom>
          <a:noFill/>
        </p:spPr>
        <p:txBody>
          <a:bodyPr wrap="square" lIns="0" rIns="0" tIns="0" bIns="0">
            <a:noAutofit/>
          </a:bodyPr>
          <a:lstStyle/>
          <a:p>
            <a:pPr algn="l">
              <a:lnSpc>
                <a:spcPct val="112000"/>
              </a:lnSpc>
              <a:spcBef>
                <a:spcPts val="0"/>
              </a:spcBef>
              <a:spcAft>
                <a:spcPts val="700"/>
              </a:spcAft>
            </a:pPr>
            <a:r>
              <a:rPr sz="2000" b="0">
                <a:solidFill>
                  <a:srgbClr val="5B6573"/>
                </a:solidFill>
                <a:latin typeface="Arial"/>
              </a:rPr>
              <a:t>Results + logs + screenshots</a:t>
            </a:r>
          </a:p>
        </p:txBody>
      </p:sp>
      <p:sp>
        <p:nvSpPr>
          <p:cNvPr id="15" name="TextBox 14"/>
          <p:cNvSpPr txBox="1"/>
          <p:nvPr/>
        </p:nvSpPr>
        <p:spPr>
          <a:xfrm>
            <a:off x="548640" y="5221224"/>
            <a:ext cx="11064240" cy="621792"/>
          </a:xfrm>
          <a:prstGeom prst="rect">
            <a:avLst/>
          </a:prstGeom>
          <a:noFill/>
        </p:spPr>
        <p:txBody>
          <a:bodyPr wrap="square" lIns="0" rIns="0" tIns="0" bIns="0">
            <a:noAutofit/>
          </a:bodyPr>
          <a:lstStyle/>
          <a:p>
            <a:pPr algn="ctr">
              <a:lnSpc>
                <a:spcPct val="112000"/>
              </a:lnSpc>
              <a:spcBef>
                <a:spcPts val="0"/>
              </a:spcBef>
              <a:spcAft>
                <a:spcPts val="700"/>
              </a:spcAft>
            </a:pPr>
            <a:r>
              <a:rPr sz="2600" b="1">
                <a:solidFill>
                  <a:srgbClr val="1F2328"/>
                </a:solidFill>
                <a:latin typeface="Arial"/>
              </a:rPr>
              <a:t>Next: recording + unlisted video link.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9184"/>
            <a:ext cx="11064240" cy="256032"/>
          </a:xfrm>
          <a:prstGeom prst="rect">
            <a:avLst/>
          </a:prstGeom>
          <a:noFill/>
        </p:spPr>
        <p:txBody>
          <a:bodyPr wrap="square" lIns="0" rIns="0" tIns="0" bIns="0">
            <a:noAutofit/>
          </a:bodyPr>
          <a:lstStyle/>
          <a:p>
            <a:pPr algn="l">
              <a:lnSpc>
                <a:spcPct val="112000"/>
              </a:lnSpc>
              <a:spcBef>
                <a:spcPts val="0"/>
              </a:spcBef>
              <a:spcAft>
                <a:spcPts val="700"/>
              </a:spcAft>
            </a:pPr>
            <a:r>
              <a:rPr sz="1200" b="1">
                <a:solidFill>
                  <a:srgbClr val="FF8A00"/>
                </a:solidFill>
                <a:latin typeface="Arial"/>
              </a:rPr>
              <a:t>AI</a:t>
            </a:r>
          </a:p>
        </p:txBody>
      </p:sp>
      <p:sp>
        <p:nvSpPr>
          <p:cNvPr id="3" name="TextBox 2"/>
          <p:cNvSpPr txBox="1"/>
          <p:nvPr/>
        </p:nvSpPr>
        <p:spPr>
          <a:xfrm>
            <a:off x="548640" y="777240"/>
            <a:ext cx="11064240" cy="749808"/>
          </a:xfrm>
          <a:prstGeom prst="rect">
            <a:avLst/>
          </a:prstGeom>
          <a:noFill/>
        </p:spPr>
        <p:txBody>
          <a:bodyPr wrap="square" lIns="0" rIns="0" tIns="0" bIns="0">
            <a:noAutofit/>
          </a:bodyPr>
          <a:lstStyle/>
          <a:p>
            <a:pPr algn="l">
              <a:lnSpc>
                <a:spcPct val="112000"/>
              </a:lnSpc>
              <a:spcBef>
                <a:spcPts val="0"/>
              </a:spcBef>
              <a:spcAft>
                <a:spcPts val="700"/>
              </a:spcAft>
            </a:pPr>
            <a:r>
              <a:rPr sz="3400" b="1">
                <a:solidFill>
                  <a:srgbClr val="1F2328"/>
                </a:solidFill>
                <a:latin typeface="Arial"/>
              </a:rPr>
              <a:t>AI accelerated. The team verified.</a:t>
            </a:r>
          </a:p>
        </p:txBody>
      </p:sp>
      <p:sp>
        <p:nvSpPr>
          <p:cNvPr id="4" name="TextBox 3"/>
          <p:cNvSpPr txBox="1"/>
          <p:nvPr/>
        </p:nvSpPr>
        <p:spPr>
          <a:xfrm>
            <a:off x="548640" y="6528816"/>
            <a:ext cx="9144000" cy="182880"/>
          </a:xfrm>
          <a:prstGeom prst="rect">
            <a:avLst/>
          </a:prstGeom>
          <a:noFill/>
        </p:spPr>
        <p:txBody>
          <a:bodyPr wrap="square" lIns="0" rIns="0" tIns="0" bIns="0">
            <a:noAutofit/>
          </a:bodyPr>
          <a:lstStyle/>
          <a:p>
            <a:pPr algn="l">
              <a:lnSpc>
                <a:spcPct val="112000"/>
              </a:lnSpc>
              <a:spcBef>
                <a:spcPts val="0"/>
              </a:spcBef>
              <a:spcAft>
                <a:spcPts val="700"/>
              </a:spcAft>
            </a:pPr>
            <a:r>
              <a:rPr sz="1000" b="0">
                <a:solidFill>
                  <a:srgbClr val="5B6573"/>
                </a:solidFill>
                <a:latin typeface="Arial"/>
              </a:rPr>
              <a:t>SQUATCH SPORTS · TEAM 11</a:t>
            </a:r>
          </a:p>
        </p:txBody>
      </p:sp>
      <p:sp>
        <p:nvSpPr>
          <p:cNvPr id="5" name="TextBox 4"/>
          <p:cNvSpPr txBox="1"/>
          <p:nvPr/>
        </p:nvSpPr>
        <p:spPr>
          <a:xfrm>
            <a:off x="11091672" y="6510528"/>
            <a:ext cx="521207" cy="201168"/>
          </a:xfrm>
          <a:prstGeom prst="rect">
            <a:avLst/>
          </a:prstGeom>
          <a:noFill/>
        </p:spPr>
        <p:txBody>
          <a:bodyPr wrap="square" lIns="0" rIns="0" tIns="0" bIns="0">
            <a:noAutofit/>
          </a:bodyPr>
          <a:lstStyle/>
          <a:p>
            <a:pPr algn="r">
              <a:lnSpc>
                <a:spcPct val="112000"/>
              </a:lnSpc>
              <a:spcBef>
                <a:spcPts val="0"/>
              </a:spcBef>
              <a:spcAft>
                <a:spcPts val="700"/>
              </a:spcAft>
            </a:pPr>
            <a:r>
              <a:rPr sz="1000" b="0">
                <a:solidFill>
                  <a:srgbClr val="5B6573"/>
                </a:solidFill>
                <a:latin typeface="Arial"/>
              </a:rPr>
              <a:t>13</a:t>
            </a:r>
          </a:p>
        </p:txBody>
      </p:sp>
      <p:sp>
        <p:nvSpPr>
          <p:cNvPr id="6" name="Rounded Rectangle 5"/>
          <p:cNvSpPr/>
          <p:nvPr/>
        </p:nvSpPr>
        <p:spPr>
          <a:xfrm>
            <a:off x="548640" y="1920240"/>
            <a:ext cx="3566160" cy="3136392"/>
          </a:xfrm>
          <a:prstGeom prst="roundRect">
            <a:avLst>
              <a:gd name="adj" fmla="val 10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240280"/>
            <a:ext cx="3017520" cy="594360"/>
          </a:xfrm>
          <a:prstGeom prst="rect">
            <a:avLst/>
          </a:prstGeom>
          <a:noFill/>
        </p:spPr>
        <p:txBody>
          <a:bodyPr wrap="square" lIns="0" rIns="0" tIns="0" bIns="0">
            <a:noAutofit/>
          </a:bodyPr>
          <a:lstStyle/>
          <a:p>
            <a:pPr algn="l">
              <a:lnSpc>
                <a:spcPct val="112000"/>
              </a:lnSpc>
              <a:spcBef>
                <a:spcPts val="0"/>
              </a:spcBef>
              <a:spcAft>
                <a:spcPts val="700"/>
              </a:spcAft>
            </a:pPr>
            <a:r>
              <a:rPr sz="3600" b="1">
                <a:solidFill>
                  <a:srgbClr val="FF8A00"/>
                </a:solidFill>
                <a:latin typeface="Arial"/>
              </a:rPr>
              <a:t>01</a:t>
            </a:r>
          </a:p>
        </p:txBody>
      </p:sp>
      <p:sp>
        <p:nvSpPr>
          <p:cNvPr id="8" name="TextBox 7"/>
          <p:cNvSpPr txBox="1"/>
          <p:nvPr/>
        </p:nvSpPr>
        <p:spPr>
          <a:xfrm>
            <a:off x="822959" y="3200400"/>
            <a:ext cx="3017520" cy="603504"/>
          </a:xfrm>
          <a:prstGeom prst="rect">
            <a:avLst/>
          </a:prstGeom>
          <a:noFill/>
        </p:spPr>
        <p:txBody>
          <a:bodyPr wrap="square" lIns="0" rIns="0" tIns="0" bIns="0">
            <a:noAutofit/>
          </a:bodyPr>
          <a:lstStyle/>
          <a:p>
            <a:pPr algn="l">
              <a:lnSpc>
                <a:spcPct val="112000"/>
              </a:lnSpc>
              <a:spcBef>
                <a:spcPts val="0"/>
              </a:spcBef>
              <a:spcAft>
                <a:spcPts val="700"/>
              </a:spcAft>
            </a:pPr>
            <a:r>
              <a:rPr sz="2400" b="1">
                <a:solidFill>
                  <a:srgbClr val="1F2328"/>
                </a:solidFill>
                <a:latin typeface="Arial"/>
              </a:rPr>
              <a:t>Build faster</a:t>
            </a:r>
          </a:p>
        </p:txBody>
      </p:sp>
      <p:sp>
        <p:nvSpPr>
          <p:cNvPr id="9" name="TextBox 8"/>
          <p:cNvSpPr txBox="1"/>
          <p:nvPr/>
        </p:nvSpPr>
        <p:spPr>
          <a:xfrm>
            <a:off x="822959" y="4123944"/>
            <a:ext cx="3017520" cy="640080"/>
          </a:xfrm>
          <a:prstGeom prst="rect">
            <a:avLst/>
          </a:prstGeom>
          <a:noFill/>
        </p:spPr>
        <p:txBody>
          <a:bodyPr wrap="square" lIns="0" rIns="0" tIns="0" bIns="0">
            <a:noAutofit/>
          </a:bodyPr>
          <a:lstStyle/>
          <a:p>
            <a:pPr algn="l">
              <a:lnSpc>
                <a:spcPct val="112000"/>
              </a:lnSpc>
              <a:spcBef>
                <a:spcPts val="0"/>
              </a:spcBef>
              <a:spcAft>
                <a:spcPts val="700"/>
              </a:spcAft>
            </a:pPr>
            <a:r>
              <a:rPr sz="2000" b="0">
                <a:solidFill>
                  <a:srgbClr val="5B6573"/>
                </a:solidFill>
                <a:latin typeface="Arial"/>
              </a:rPr>
              <a:t>Porting, tests and debugging</a:t>
            </a:r>
          </a:p>
        </p:txBody>
      </p:sp>
      <p:sp>
        <p:nvSpPr>
          <p:cNvPr id="10" name="Rounded Rectangle 9"/>
          <p:cNvSpPr/>
          <p:nvPr/>
        </p:nvSpPr>
        <p:spPr>
          <a:xfrm>
            <a:off x="4343400" y="1920240"/>
            <a:ext cx="3566160" cy="3136392"/>
          </a:xfrm>
          <a:prstGeom prst="roundRect">
            <a:avLst>
              <a:gd name="adj" fmla="val 10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2240280"/>
            <a:ext cx="3017520" cy="594360"/>
          </a:xfrm>
          <a:prstGeom prst="rect">
            <a:avLst/>
          </a:prstGeom>
          <a:noFill/>
        </p:spPr>
        <p:txBody>
          <a:bodyPr wrap="square" lIns="0" rIns="0" tIns="0" bIns="0">
            <a:noAutofit/>
          </a:bodyPr>
          <a:lstStyle/>
          <a:p>
            <a:pPr algn="l">
              <a:lnSpc>
                <a:spcPct val="112000"/>
              </a:lnSpc>
              <a:spcBef>
                <a:spcPts val="0"/>
              </a:spcBef>
              <a:spcAft>
                <a:spcPts val="700"/>
              </a:spcAft>
            </a:pPr>
            <a:r>
              <a:rPr sz="3600" b="1">
                <a:solidFill>
                  <a:srgbClr val="FF8A00"/>
                </a:solidFill>
                <a:latin typeface="Arial"/>
              </a:rPr>
              <a:t>02</a:t>
            </a:r>
          </a:p>
        </p:txBody>
      </p:sp>
      <p:sp>
        <p:nvSpPr>
          <p:cNvPr id="12" name="TextBox 11"/>
          <p:cNvSpPr txBox="1"/>
          <p:nvPr/>
        </p:nvSpPr>
        <p:spPr>
          <a:xfrm>
            <a:off x="4617720" y="3200400"/>
            <a:ext cx="3017520" cy="603504"/>
          </a:xfrm>
          <a:prstGeom prst="rect">
            <a:avLst/>
          </a:prstGeom>
          <a:noFill/>
        </p:spPr>
        <p:txBody>
          <a:bodyPr wrap="square" lIns="0" rIns="0" tIns="0" bIns="0">
            <a:noAutofit/>
          </a:bodyPr>
          <a:lstStyle/>
          <a:p>
            <a:pPr algn="l">
              <a:lnSpc>
                <a:spcPct val="112000"/>
              </a:lnSpc>
              <a:spcBef>
                <a:spcPts val="0"/>
              </a:spcBef>
              <a:spcAft>
                <a:spcPts val="700"/>
              </a:spcAft>
            </a:pPr>
            <a:r>
              <a:rPr sz="2400" b="1">
                <a:solidFill>
                  <a:srgbClr val="1F2328"/>
                </a:solidFill>
                <a:latin typeface="Arial"/>
              </a:rPr>
              <a:t>Review carefully</a:t>
            </a:r>
          </a:p>
        </p:txBody>
      </p:sp>
      <p:sp>
        <p:nvSpPr>
          <p:cNvPr id="13" name="TextBox 12"/>
          <p:cNvSpPr txBox="1"/>
          <p:nvPr/>
        </p:nvSpPr>
        <p:spPr>
          <a:xfrm>
            <a:off x="4617720" y="4123944"/>
            <a:ext cx="3017520" cy="640080"/>
          </a:xfrm>
          <a:prstGeom prst="rect">
            <a:avLst/>
          </a:prstGeom>
          <a:noFill/>
        </p:spPr>
        <p:txBody>
          <a:bodyPr wrap="square" lIns="0" rIns="0" tIns="0" bIns="0">
            <a:noAutofit/>
          </a:bodyPr>
          <a:lstStyle/>
          <a:p>
            <a:pPr algn="l">
              <a:lnSpc>
                <a:spcPct val="112000"/>
              </a:lnSpc>
              <a:spcBef>
                <a:spcPts val="0"/>
              </a:spcBef>
              <a:spcAft>
                <a:spcPts val="700"/>
              </a:spcAft>
            </a:pPr>
            <a:r>
              <a:rPr sz="2000" b="0">
                <a:solidFill>
                  <a:srgbClr val="5B6573"/>
                </a:solidFill>
                <a:latin typeface="Arial"/>
              </a:rPr>
              <a:t>Rules, code and UX decisions</a:t>
            </a:r>
          </a:p>
        </p:txBody>
      </p:sp>
      <p:sp>
        <p:nvSpPr>
          <p:cNvPr id="14" name="Rounded Rectangle 13"/>
          <p:cNvSpPr/>
          <p:nvPr/>
        </p:nvSpPr>
        <p:spPr>
          <a:xfrm>
            <a:off x="8138160" y="1920240"/>
            <a:ext cx="3566160" cy="3136392"/>
          </a:xfrm>
          <a:prstGeom prst="roundRect">
            <a:avLst>
              <a:gd name="adj" fmla="val 10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0" y="2240280"/>
            <a:ext cx="3017520" cy="594360"/>
          </a:xfrm>
          <a:prstGeom prst="rect">
            <a:avLst/>
          </a:prstGeom>
          <a:noFill/>
        </p:spPr>
        <p:txBody>
          <a:bodyPr wrap="square" lIns="0" rIns="0" tIns="0" bIns="0">
            <a:noAutofit/>
          </a:bodyPr>
          <a:lstStyle/>
          <a:p>
            <a:pPr algn="l">
              <a:lnSpc>
                <a:spcPct val="112000"/>
              </a:lnSpc>
              <a:spcBef>
                <a:spcPts val="0"/>
              </a:spcBef>
              <a:spcAft>
                <a:spcPts val="700"/>
              </a:spcAft>
            </a:pPr>
            <a:r>
              <a:rPr sz="3600" b="1">
                <a:solidFill>
                  <a:srgbClr val="FF8A00"/>
                </a:solidFill>
                <a:latin typeface="Arial"/>
              </a:rPr>
              <a:t>03</a:t>
            </a:r>
          </a:p>
        </p:txBody>
      </p:sp>
      <p:sp>
        <p:nvSpPr>
          <p:cNvPr id="16" name="TextBox 15"/>
          <p:cNvSpPr txBox="1"/>
          <p:nvPr/>
        </p:nvSpPr>
        <p:spPr>
          <a:xfrm>
            <a:off x="8412480" y="3200400"/>
            <a:ext cx="3017520" cy="603504"/>
          </a:xfrm>
          <a:prstGeom prst="rect">
            <a:avLst/>
          </a:prstGeom>
          <a:noFill/>
        </p:spPr>
        <p:txBody>
          <a:bodyPr wrap="square" lIns="0" rIns="0" tIns="0" bIns="0">
            <a:noAutofit/>
          </a:bodyPr>
          <a:lstStyle/>
          <a:p>
            <a:pPr algn="l">
              <a:lnSpc>
                <a:spcPct val="112000"/>
              </a:lnSpc>
              <a:spcBef>
                <a:spcPts val="0"/>
              </a:spcBef>
              <a:spcAft>
                <a:spcPts val="700"/>
              </a:spcAft>
            </a:pPr>
            <a:r>
              <a:rPr sz="2400" b="1">
                <a:solidFill>
                  <a:srgbClr val="1F2328"/>
                </a:solidFill>
                <a:latin typeface="Arial"/>
              </a:rPr>
              <a:t>Verify results</a:t>
            </a:r>
          </a:p>
        </p:txBody>
      </p:sp>
      <p:sp>
        <p:nvSpPr>
          <p:cNvPr id="17" name="TextBox 16"/>
          <p:cNvSpPr txBox="1"/>
          <p:nvPr/>
        </p:nvSpPr>
        <p:spPr>
          <a:xfrm>
            <a:off x="8412480" y="4123944"/>
            <a:ext cx="3017520" cy="640080"/>
          </a:xfrm>
          <a:prstGeom prst="rect">
            <a:avLst/>
          </a:prstGeom>
          <a:noFill/>
        </p:spPr>
        <p:txBody>
          <a:bodyPr wrap="square" lIns="0" rIns="0" tIns="0" bIns="0">
            <a:noAutofit/>
          </a:bodyPr>
          <a:lstStyle/>
          <a:p>
            <a:pPr algn="l">
              <a:lnSpc>
                <a:spcPct val="112000"/>
              </a:lnSpc>
              <a:spcBef>
                <a:spcPts val="0"/>
              </a:spcBef>
              <a:spcAft>
                <a:spcPts val="700"/>
              </a:spcAft>
            </a:pPr>
            <a:r>
              <a:rPr sz="2000" b="0">
                <a:solidFill>
                  <a:srgbClr val="5B6573"/>
                </a:solidFill>
                <a:latin typeface="Arial"/>
              </a:rPr>
              <a:t>Automated checks + device tests</a:t>
            </a:r>
          </a:p>
        </p:txBody>
      </p:sp>
      <p:sp>
        <p:nvSpPr>
          <p:cNvPr id="18" name="TextBox 17"/>
          <p:cNvSpPr txBox="1"/>
          <p:nvPr/>
        </p:nvSpPr>
        <p:spPr>
          <a:xfrm>
            <a:off x="548640" y="5641848"/>
            <a:ext cx="11064240" cy="420624"/>
          </a:xfrm>
          <a:prstGeom prst="rect">
            <a:avLst/>
          </a:prstGeom>
          <a:noFill/>
        </p:spPr>
        <p:txBody>
          <a:bodyPr wrap="square" lIns="0" rIns="0" tIns="0" bIns="0">
            <a:noAutofit/>
          </a:bodyPr>
          <a:lstStyle/>
          <a:p>
            <a:pPr algn="ctr">
              <a:lnSpc>
                <a:spcPct val="112000"/>
              </a:lnSpc>
              <a:spcBef>
                <a:spcPts val="0"/>
              </a:spcBef>
              <a:spcAft>
                <a:spcPts val="700"/>
              </a:spcAft>
            </a:pPr>
            <a:r>
              <a:rPr sz="1900" b="0">
                <a:solidFill>
                  <a:srgbClr val="5B6573"/>
                </a:solidFill>
                <a:latin typeface="Arial"/>
              </a:rPr>
              <a:t>Final decisions and deliverables remain our responsibility.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9184"/>
            <a:ext cx="11064240" cy="256032"/>
          </a:xfrm>
          <a:prstGeom prst="rect">
            <a:avLst/>
          </a:prstGeom>
          <a:noFill/>
        </p:spPr>
        <p:txBody>
          <a:bodyPr wrap="square" lIns="0" rIns="0" tIns="0" bIns="0">
            <a:noAutofit/>
          </a:bodyPr>
          <a:lstStyle/>
          <a:p>
            <a:pPr algn="l">
              <a:lnSpc>
                <a:spcPct val="112000"/>
              </a:lnSpc>
              <a:spcBef>
                <a:spcPts val="0"/>
              </a:spcBef>
              <a:spcAft>
                <a:spcPts val="700"/>
              </a:spcAft>
            </a:pPr>
            <a:r>
              <a:rPr sz="1200" b="1">
                <a:solidFill>
                  <a:srgbClr val="FF8A00"/>
                </a:solidFill>
                <a:latin typeface="Arial"/>
              </a:rPr>
              <a:t>ACHIEVEMENTS &amp; CHALLENGES</a:t>
            </a:r>
          </a:p>
        </p:txBody>
      </p:sp>
      <p:sp>
        <p:nvSpPr>
          <p:cNvPr id="3" name="TextBox 2"/>
          <p:cNvSpPr txBox="1"/>
          <p:nvPr/>
        </p:nvSpPr>
        <p:spPr>
          <a:xfrm>
            <a:off x="548640" y="777240"/>
            <a:ext cx="11064240" cy="749808"/>
          </a:xfrm>
          <a:prstGeom prst="rect">
            <a:avLst/>
          </a:prstGeom>
          <a:noFill/>
        </p:spPr>
        <p:txBody>
          <a:bodyPr wrap="square" lIns="0" rIns="0" tIns="0" bIns="0">
            <a:noAutofit/>
          </a:bodyPr>
          <a:lstStyle/>
          <a:p>
            <a:pPr algn="l">
              <a:lnSpc>
                <a:spcPct val="112000"/>
              </a:lnSpc>
              <a:spcBef>
                <a:spcPts val="0"/>
              </a:spcBef>
              <a:spcAft>
                <a:spcPts val="700"/>
              </a:spcAft>
            </a:pPr>
            <a:r>
              <a:rPr sz="3400" b="1">
                <a:solidFill>
                  <a:srgbClr val="1F2328"/>
                </a:solidFill>
                <a:latin typeface="Arial"/>
              </a:rPr>
              <a:t>What we delivered. What we learned.</a:t>
            </a:r>
          </a:p>
        </p:txBody>
      </p:sp>
      <p:sp>
        <p:nvSpPr>
          <p:cNvPr id="4" name="TextBox 3"/>
          <p:cNvSpPr txBox="1"/>
          <p:nvPr/>
        </p:nvSpPr>
        <p:spPr>
          <a:xfrm>
            <a:off x="548640" y="6528816"/>
            <a:ext cx="9144000" cy="182880"/>
          </a:xfrm>
          <a:prstGeom prst="rect">
            <a:avLst/>
          </a:prstGeom>
          <a:noFill/>
        </p:spPr>
        <p:txBody>
          <a:bodyPr wrap="square" lIns="0" rIns="0" tIns="0" bIns="0">
            <a:noAutofit/>
          </a:bodyPr>
          <a:lstStyle/>
          <a:p>
            <a:pPr algn="l">
              <a:lnSpc>
                <a:spcPct val="112000"/>
              </a:lnSpc>
              <a:spcBef>
                <a:spcPts val="0"/>
              </a:spcBef>
              <a:spcAft>
                <a:spcPts val="700"/>
              </a:spcAft>
            </a:pPr>
            <a:r>
              <a:rPr sz="1000" b="0">
                <a:solidFill>
                  <a:srgbClr val="5B6573"/>
                </a:solidFill>
                <a:latin typeface="Arial"/>
              </a:rPr>
              <a:t>SQUATCH SPORTS · TEAM 11</a:t>
            </a:r>
          </a:p>
        </p:txBody>
      </p:sp>
      <p:sp>
        <p:nvSpPr>
          <p:cNvPr id="5" name="TextBox 4"/>
          <p:cNvSpPr txBox="1"/>
          <p:nvPr/>
        </p:nvSpPr>
        <p:spPr>
          <a:xfrm>
            <a:off x="11091672" y="6510528"/>
            <a:ext cx="521207" cy="201168"/>
          </a:xfrm>
          <a:prstGeom prst="rect">
            <a:avLst/>
          </a:prstGeom>
          <a:noFill/>
        </p:spPr>
        <p:txBody>
          <a:bodyPr wrap="square" lIns="0" rIns="0" tIns="0" bIns="0">
            <a:noAutofit/>
          </a:bodyPr>
          <a:lstStyle/>
          <a:p>
            <a:pPr algn="r">
              <a:lnSpc>
                <a:spcPct val="112000"/>
              </a:lnSpc>
              <a:spcBef>
                <a:spcPts val="0"/>
              </a:spcBef>
              <a:spcAft>
                <a:spcPts val="700"/>
              </a:spcAft>
            </a:pPr>
            <a:r>
              <a:rPr sz="1000" b="0">
                <a:solidFill>
                  <a:srgbClr val="5B6573"/>
                </a:solidFill>
                <a:latin typeface="Arial"/>
              </a:rPr>
              <a:t>14</a:t>
            </a:r>
          </a:p>
        </p:txBody>
      </p:sp>
      <p:sp>
        <p:nvSpPr>
          <p:cNvPr id="6" name="Rounded Rectangle 5"/>
          <p:cNvSpPr/>
          <p:nvPr/>
        </p:nvSpPr>
        <p:spPr>
          <a:xfrm>
            <a:off x="548640" y="1856231"/>
            <a:ext cx="5394960" cy="4087368"/>
          </a:xfrm>
          <a:prstGeom prst="roundRect">
            <a:avLst>
              <a:gd name="adj" fmla="val 10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212848"/>
            <a:ext cx="4846320" cy="493776"/>
          </a:xfrm>
          <a:prstGeom prst="rect">
            <a:avLst/>
          </a:prstGeom>
          <a:noFill/>
        </p:spPr>
        <p:txBody>
          <a:bodyPr wrap="square" lIns="0" rIns="0" tIns="0" bIns="0">
            <a:noAutofit/>
          </a:bodyPr>
          <a:lstStyle/>
          <a:p>
            <a:pPr algn="l">
              <a:lnSpc>
                <a:spcPct val="112000"/>
              </a:lnSpc>
              <a:spcBef>
                <a:spcPts val="0"/>
              </a:spcBef>
              <a:spcAft>
                <a:spcPts val="700"/>
              </a:spcAft>
            </a:pPr>
            <a:r>
              <a:rPr sz="2700" b="1">
                <a:solidFill>
                  <a:srgbClr val="2FA85A"/>
                </a:solidFill>
                <a:latin typeface="Arial"/>
              </a:rPr>
              <a:t>Delivered</a:t>
            </a:r>
          </a:p>
        </p:txBody>
      </p:sp>
      <p:sp>
        <p:nvSpPr>
          <p:cNvPr id="8" name="Rectangle 7"/>
          <p:cNvSpPr/>
          <p:nvPr/>
        </p:nvSpPr>
        <p:spPr>
          <a:xfrm>
            <a:off x="822959" y="3255264"/>
            <a:ext cx="82296" cy="82296"/>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78992" y="3145536"/>
            <a:ext cx="4498848" cy="713232"/>
          </a:xfrm>
          <a:prstGeom prst="rect">
            <a:avLst/>
          </a:prstGeom>
          <a:noFill/>
        </p:spPr>
        <p:txBody>
          <a:bodyPr wrap="square" lIns="0" rIns="0" tIns="0" bIns="0">
            <a:noAutofit/>
          </a:bodyPr>
          <a:lstStyle/>
          <a:p>
            <a:pPr algn="l">
              <a:lnSpc>
                <a:spcPct val="112000"/>
              </a:lnSpc>
              <a:spcBef>
                <a:spcPts val="0"/>
              </a:spcBef>
              <a:spcAft>
                <a:spcPts val="700"/>
              </a:spcAft>
            </a:pPr>
            <a:r>
              <a:rPr sz="2200" b="0">
                <a:solidFill>
                  <a:srgbClr val="1F2328"/>
                </a:solidFill>
                <a:latin typeface="Arial"/>
              </a:rPr>
              <a:t>Aligned major features</a:t>
            </a:r>
          </a:p>
        </p:txBody>
      </p:sp>
      <p:sp>
        <p:nvSpPr>
          <p:cNvPr id="10" name="Rectangle 9"/>
          <p:cNvSpPr/>
          <p:nvPr/>
        </p:nvSpPr>
        <p:spPr>
          <a:xfrm>
            <a:off x="822959" y="4078224"/>
            <a:ext cx="82296" cy="82296"/>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78992" y="3968496"/>
            <a:ext cx="4498848" cy="713232"/>
          </a:xfrm>
          <a:prstGeom prst="rect">
            <a:avLst/>
          </a:prstGeom>
          <a:noFill/>
        </p:spPr>
        <p:txBody>
          <a:bodyPr wrap="square" lIns="0" rIns="0" tIns="0" bIns="0">
            <a:noAutofit/>
          </a:bodyPr>
          <a:lstStyle/>
          <a:p>
            <a:pPr algn="l">
              <a:lnSpc>
                <a:spcPct val="112000"/>
              </a:lnSpc>
              <a:spcBef>
                <a:spcPts val="0"/>
              </a:spcBef>
              <a:spcAft>
                <a:spcPts val="700"/>
              </a:spcAft>
            </a:pPr>
            <a:r>
              <a:rPr sz="2200" b="0">
                <a:solidFill>
                  <a:srgbClr val="1F2328"/>
                </a:solidFill>
                <a:latin typeface="Arial"/>
              </a:rPr>
              <a:t>Phone + watch 1v1</a:t>
            </a:r>
          </a:p>
        </p:txBody>
      </p:sp>
      <p:sp>
        <p:nvSpPr>
          <p:cNvPr id="12" name="Rectangle 11"/>
          <p:cNvSpPr/>
          <p:nvPr/>
        </p:nvSpPr>
        <p:spPr>
          <a:xfrm>
            <a:off x="822959" y="4901184"/>
            <a:ext cx="82296" cy="82296"/>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78992" y="4791456"/>
            <a:ext cx="4498848" cy="713232"/>
          </a:xfrm>
          <a:prstGeom prst="rect">
            <a:avLst/>
          </a:prstGeom>
          <a:noFill/>
        </p:spPr>
        <p:txBody>
          <a:bodyPr wrap="square" lIns="0" rIns="0" tIns="0" bIns="0">
            <a:noAutofit/>
          </a:bodyPr>
          <a:lstStyle/>
          <a:p>
            <a:pPr algn="l">
              <a:lnSpc>
                <a:spcPct val="112000"/>
              </a:lnSpc>
              <a:spcBef>
                <a:spcPts val="0"/>
              </a:spcBef>
              <a:spcAft>
                <a:spcPts val="700"/>
              </a:spcAft>
            </a:pPr>
            <a:r>
              <a:rPr sz="2200" b="0">
                <a:solidFill>
                  <a:srgbClr val="1F2328"/>
                </a:solidFill>
                <a:latin typeface="Arial"/>
              </a:rPr>
              <a:t>Nearby competition</a:t>
            </a:r>
          </a:p>
        </p:txBody>
      </p:sp>
      <p:sp>
        <p:nvSpPr>
          <p:cNvPr id="14" name="Rounded Rectangle 13"/>
          <p:cNvSpPr/>
          <p:nvPr/>
        </p:nvSpPr>
        <p:spPr>
          <a:xfrm>
            <a:off x="6217920" y="1856231"/>
            <a:ext cx="5394960" cy="4087368"/>
          </a:xfrm>
          <a:prstGeom prst="roundRect">
            <a:avLst>
              <a:gd name="adj" fmla="val 10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2212848"/>
            <a:ext cx="4846320" cy="493776"/>
          </a:xfrm>
          <a:prstGeom prst="rect">
            <a:avLst/>
          </a:prstGeom>
          <a:noFill/>
        </p:spPr>
        <p:txBody>
          <a:bodyPr wrap="square" lIns="0" rIns="0" tIns="0" bIns="0">
            <a:noAutofit/>
          </a:bodyPr>
          <a:lstStyle/>
          <a:p>
            <a:pPr algn="l">
              <a:lnSpc>
                <a:spcPct val="112000"/>
              </a:lnSpc>
              <a:spcBef>
                <a:spcPts val="0"/>
              </a:spcBef>
              <a:spcAft>
                <a:spcPts val="700"/>
              </a:spcAft>
            </a:pPr>
            <a:r>
              <a:rPr sz="2700" b="1">
                <a:solidFill>
                  <a:srgbClr val="FF8A00"/>
                </a:solidFill>
                <a:latin typeface="Arial"/>
              </a:rPr>
              <a:t>Learned</a:t>
            </a:r>
          </a:p>
        </p:txBody>
      </p:sp>
      <p:sp>
        <p:nvSpPr>
          <p:cNvPr id="16" name="Rectangle 15"/>
          <p:cNvSpPr/>
          <p:nvPr/>
        </p:nvSpPr>
        <p:spPr>
          <a:xfrm>
            <a:off x="6492240" y="3255264"/>
            <a:ext cx="82296" cy="82296"/>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48272" y="3145536"/>
            <a:ext cx="4498848" cy="713232"/>
          </a:xfrm>
          <a:prstGeom prst="rect">
            <a:avLst/>
          </a:prstGeom>
          <a:noFill/>
        </p:spPr>
        <p:txBody>
          <a:bodyPr wrap="square" lIns="0" rIns="0" tIns="0" bIns="0">
            <a:noAutofit/>
          </a:bodyPr>
          <a:lstStyle/>
          <a:p>
            <a:pPr algn="l">
              <a:lnSpc>
                <a:spcPct val="112000"/>
              </a:lnSpc>
              <a:spcBef>
                <a:spcPts val="0"/>
              </a:spcBef>
              <a:spcAft>
                <a:spcPts val="700"/>
              </a:spcAft>
            </a:pPr>
            <a:r>
              <a:rPr sz="2200" b="0">
                <a:solidFill>
                  <a:srgbClr val="1F2328"/>
                </a:solidFill>
                <a:latin typeface="Arial"/>
              </a:rPr>
              <a:t>Order plays in one place</a:t>
            </a:r>
          </a:p>
        </p:txBody>
      </p:sp>
      <p:sp>
        <p:nvSpPr>
          <p:cNvPr id="18" name="Rectangle 17"/>
          <p:cNvSpPr/>
          <p:nvPr/>
        </p:nvSpPr>
        <p:spPr>
          <a:xfrm>
            <a:off x="6492240" y="4078224"/>
            <a:ext cx="82296" cy="82296"/>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48272" y="3968496"/>
            <a:ext cx="4498848" cy="713232"/>
          </a:xfrm>
          <a:prstGeom prst="rect">
            <a:avLst/>
          </a:prstGeom>
          <a:noFill/>
        </p:spPr>
        <p:txBody>
          <a:bodyPr wrap="square" lIns="0" rIns="0" tIns="0" bIns="0">
            <a:noAutofit/>
          </a:bodyPr>
          <a:lstStyle/>
          <a:p>
            <a:pPr algn="l">
              <a:lnSpc>
                <a:spcPct val="112000"/>
              </a:lnSpc>
              <a:spcBef>
                <a:spcPts val="0"/>
              </a:spcBef>
              <a:spcAft>
                <a:spcPts val="700"/>
              </a:spcAft>
            </a:pPr>
            <a:r>
              <a:rPr sz="2200" b="0">
                <a:solidFill>
                  <a:srgbClr val="1F2328"/>
                </a:solidFill>
                <a:latin typeface="Arial"/>
              </a:rPr>
              <a:t>Design for round screens</a:t>
            </a:r>
          </a:p>
        </p:txBody>
      </p:sp>
      <p:sp>
        <p:nvSpPr>
          <p:cNvPr id="20" name="Rectangle 19"/>
          <p:cNvSpPr/>
          <p:nvPr/>
        </p:nvSpPr>
        <p:spPr>
          <a:xfrm>
            <a:off x="6492240" y="4901184"/>
            <a:ext cx="82296" cy="82296"/>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48272" y="4791456"/>
            <a:ext cx="4498848" cy="713232"/>
          </a:xfrm>
          <a:prstGeom prst="rect">
            <a:avLst/>
          </a:prstGeom>
          <a:noFill/>
        </p:spPr>
        <p:txBody>
          <a:bodyPr wrap="square" lIns="0" rIns="0" tIns="0" bIns="0">
            <a:noAutofit/>
          </a:bodyPr>
          <a:lstStyle/>
          <a:p>
            <a:pPr algn="l">
              <a:lnSpc>
                <a:spcPct val="112000"/>
              </a:lnSpc>
              <a:spcBef>
                <a:spcPts val="0"/>
              </a:spcBef>
              <a:spcAft>
                <a:spcPts val="700"/>
              </a:spcAft>
            </a:pPr>
            <a:r>
              <a:rPr sz="2200" b="0">
                <a:solidFill>
                  <a:srgbClr val="1F2328"/>
                </a:solidFill>
                <a:latin typeface="Arial"/>
              </a:rPr>
              <a:t>Test on hardware earlier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9184"/>
            <a:ext cx="11064240" cy="256032"/>
          </a:xfrm>
          <a:prstGeom prst="rect">
            <a:avLst/>
          </a:prstGeom>
          <a:noFill/>
        </p:spPr>
        <p:txBody>
          <a:bodyPr wrap="square" lIns="0" rIns="0" tIns="0" bIns="0">
            <a:noAutofit/>
          </a:bodyPr>
          <a:lstStyle/>
          <a:p>
            <a:pPr algn="l">
              <a:lnSpc>
                <a:spcPct val="112000"/>
              </a:lnSpc>
              <a:spcBef>
                <a:spcPts val="0"/>
              </a:spcBef>
              <a:spcAft>
                <a:spcPts val="700"/>
              </a:spcAft>
            </a:pPr>
            <a:r>
              <a:rPr sz="1200" b="1">
                <a:solidFill>
                  <a:srgbClr val="FF8A00"/>
                </a:solidFill>
                <a:latin typeface="Arial"/>
              </a:rPr>
              <a:t>NEXT STEPS</a:t>
            </a:r>
          </a:p>
        </p:txBody>
      </p:sp>
      <p:sp>
        <p:nvSpPr>
          <p:cNvPr id="3" name="TextBox 2"/>
          <p:cNvSpPr txBox="1"/>
          <p:nvPr/>
        </p:nvSpPr>
        <p:spPr>
          <a:xfrm>
            <a:off x="548640" y="777240"/>
            <a:ext cx="11064240" cy="749808"/>
          </a:xfrm>
          <a:prstGeom prst="rect">
            <a:avLst/>
          </a:prstGeom>
          <a:noFill/>
        </p:spPr>
        <p:txBody>
          <a:bodyPr wrap="square" lIns="0" rIns="0" tIns="0" bIns="0">
            <a:noAutofit/>
          </a:bodyPr>
          <a:lstStyle/>
          <a:p>
            <a:pPr algn="l">
              <a:lnSpc>
                <a:spcPct val="112000"/>
              </a:lnSpc>
              <a:spcBef>
                <a:spcPts val="0"/>
              </a:spcBef>
              <a:spcAft>
                <a:spcPts val="700"/>
              </a:spcAft>
            </a:pPr>
            <a:r>
              <a:rPr sz="3400" b="1">
                <a:solidFill>
                  <a:srgbClr val="1F2328"/>
                </a:solidFill>
                <a:latin typeface="Arial"/>
              </a:rPr>
              <a:t>Validate. Refine. Hand off.</a:t>
            </a:r>
          </a:p>
        </p:txBody>
      </p:sp>
      <p:sp>
        <p:nvSpPr>
          <p:cNvPr id="4" name="TextBox 3"/>
          <p:cNvSpPr txBox="1"/>
          <p:nvPr/>
        </p:nvSpPr>
        <p:spPr>
          <a:xfrm>
            <a:off x="548640" y="6528816"/>
            <a:ext cx="9144000" cy="182880"/>
          </a:xfrm>
          <a:prstGeom prst="rect">
            <a:avLst/>
          </a:prstGeom>
          <a:noFill/>
        </p:spPr>
        <p:txBody>
          <a:bodyPr wrap="square" lIns="0" rIns="0" tIns="0" bIns="0">
            <a:noAutofit/>
          </a:bodyPr>
          <a:lstStyle/>
          <a:p>
            <a:pPr algn="l">
              <a:lnSpc>
                <a:spcPct val="112000"/>
              </a:lnSpc>
              <a:spcBef>
                <a:spcPts val="0"/>
              </a:spcBef>
              <a:spcAft>
                <a:spcPts val="700"/>
              </a:spcAft>
            </a:pPr>
            <a:r>
              <a:rPr sz="1000" b="0">
                <a:solidFill>
                  <a:srgbClr val="5B6573"/>
                </a:solidFill>
                <a:latin typeface="Arial"/>
              </a:rPr>
              <a:t>SQUATCH SPORTS · TEAM 11</a:t>
            </a:r>
          </a:p>
        </p:txBody>
      </p:sp>
      <p:sp>
        <p:nvSpPr>
          <p:cNvPr id="5" name="TextBox 4"/>
          <p:cNvSpPr txBox="1"/>
          <p:nvPr/>
        </p:nvSpPr>
        <p:spPr>
          <a:xfrm>
            <a:off x="11091672" y="6510528"/>
            <a:ext cx="521207" cy="201168"/>
          </a:xfrm>
          <a:prstGeom prst="rect">
            <a:avLst/>
          </a:prstGeom>
          <a:noFill/>
        </p:spPr>
        <p:txBody>
          <a:bodyPr wrap="square" lIns="0" rIns="0" tIns="0" bIns="0">
            <a:noAutofit/>
          </a:bodyPr>
          <a:lstStyle/>
          <a:p>
            <a:pPr algn="r">
              <a:lnSpc>
                <a:spcPct val="112000"/>
              </a:lnSpc>
              <a:spcBef>
                <a:spcPts val="0"/>
              </a:spcBef>
              <a:spcAft>
                <a:spcPts val="700"/>
              </a:spcAft>
            </a:pPr>
            <a:r>
              <a:rPr sz="1000" b="0">
                <a:solidFill>
                  <a:srgbClr val="5B6573"/>
                </a:solidFill>
                <a:latin typeface="Arial"/>
              </a:rPr>
              <a:t>15</a:t>
            </a:r>
          </a:p>
        </p:txBody>
      </p:sp>
      <p:sp>
        <p:nvSpPr>
          <p:cNvPr id="6" name="Rounded Rectangle 5"/>
          <p:cNvSpPr/>
          <p:nvPr/>
        </p:nvSpPr>
        <p:spPr>
          <a:xfrm>
            <a:off x="548640" y="1965960"/>
            <a:ext cx="11064240" cy="987552"/>
          </a:xfrm>
          <a:prstGeom prst="roundRect">
            <a:avLst>
              <a:gd name="adj" fmla="val 10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2157984"/>
            <a:ext cx="786384" cy="566928"/>
          </a:xfrm>
          <a:prstGeom prst="rect">
            <a:avLst/>
          </a:prstGeom>
          <a:noFill/>
        </p:spPr>
        <p:txBody>
          <a:bodyPr wrap="square" lIns="0" rIns="0" tIns="0" bIns="0">
            <a:noAutofit/>
          </a:bodyPr>
          <a:lstStyle/>
          <a:p>
            <a:pPr algn="l">
              <a:lnSpc>
                <a:spcPct val="112000"/>
              </a:lnSpc>
              <a:spcBef>
                <a:spcPts val="0"/>
              </a:spcBef>
              <a:spcAft>
                <a:spcPts val="700"/>
              </a:spcAft>
            </a:pPr>
            <a:r>
              <a:rPr sz="3000" b="1">
                <a:solidFill>
                  <a:srgbClr val="FF8A00"/>
                </a:solidFill>
                <a:latin typeface="Arial"/>
              </a:rPr>
              <a:t>01</a:t>
            </a:r>
          </a:p>
        </p:txBody>
      </p:sp>
      <p:sp>
        <p:nvSpPr>
          <p:cNvPr id="8" name="TextBox 7"/>
          <p:cNvSpPr txBox="1"/>
          <p:nvPr/>
        </p:nvSpPr>
        <p:spPr>
          <a:xfrm>
            <a:off x="1883664" y="2231136"/>
            <a:ext cx="9235440" cy="484632"/>
          </a:xfrm>
          <a:prstGeom prst="rect">
            <a:avLst/>
          </a:prstGeom>
          <a:noFill/>
        </p:spPr>
        <p:txBody>
          <a:bodyPr wrap="square" lIns="0" rIns="0" tIns="0" bIns="0">
            <a:noAutofit/>
          </a:bodyPr>
          <a:lstStyle/>
          <a:p>
            <a:pPr algn="l">
              <a:lnSpc>
                <a:spcPct val="112000"/>
              </a:lnSpc>
              <a:spcBef>
                <a:spcPts val="0"/>
              </a:spcBef>
              <a:spcAft>
                <a:spcPts val="700"/>
              </a:spcAft>
            </a:pPr>
            <a:r>
              <a:rPr sz="2500" b="1">
                <a:solidFill>
                  <a:srgbClr val="1F2328"/>
                </a:solidFill>
                <a:latin typeface="Arial"/>
              </a:rPr>
              <a:t>Validate Android Nearby on hardware</a:t>
            </a:r>
          </a:p>
        </p:txBody>
      </p:sp>
      <p:sp>
        <p:nvSpPr>
          <p:cNvPr id="9" name="Rounded Rectangle 8"/>
          <p:cNvSpPr/>
          <p:nvPr/>
        </p:nvSpPr>
        <p:spPr>
          <a:xfrm>
            <a:off x="548640" y="3227832"/>
            <a:ext cx="11064240" cy="987552"/>
          </a:xfrm>
          <a:prstGeom prst="roundRect">
            <a:avLst>
              <a:gd name="adj" fmla="val 10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3419856"/>
            <a:ext cx="786384" cy="566928"/>
          </a:xfrm>
          <a:prstGeom prst="rect">
            <a:avLst/>
          </a:prstGeom>
          <a:noFill/>
        </p:spPr>
        <p:txBody>
          <a:bodyPr wrap="square" lIns="0" rIns="0" tIns="0" bIns="0">
            <a:noAutofit/>
          </a:bodyPr>
          <a:lstStyle/>
          <a:p>
            <a:pPr algn="l">
              <a:lnSpc>
                <a:spcPct val="112000"/>
              </a:lnSpc>
              <a:spcBef>
                <a:spcPts val="0"/>
              </a:spcBef>
              <a:spcAft>
                <a:spcPts val="700"/>
              </a:spcAft>
            </a:pPr>
            <a:r>
              <a:rPr sz="3000" b="1">
                <a:solidFill>
                  <a:srgbClr val="FF8A00"/>
                </a:solidFill>
                <a:latin typeface="Arial"/>
              </a:rPr>
              <a:t>02</a:t>
            </a:r>
          </a:p>
        </p:txBody>
      </p:sp>
      <p:sp>
        <p:nvSpPr>
          <p:cNvPr id="11" name="TextBox 10"/>
          <p:cNvSpPr txBox="1"/>
          <p:nvPr/>
        </p:nvSpPr>
        <p:spPr>
          <a:xfrm>
            <a:off x="1883664" y="3493008"/>
            <a:ext cx="9235440" cy="484632"/>
          </a:xfrm>
          <a:prstGeom prst="rect">
            <a:avLst/>
          </a:prstGeom>
          <a:noFill/>
        </p:spPr>
        <p:txBody>
          <a:bodyPr wrap="square" lIns="0" rIns="0" tIns="0" bIns="0">
            <a:noAutofit/>
          </a:bodyPr>
          <a:lstStyle/>
          <a:p>
            <a:pPr algn="l">
              <a:lnSpc>
                <a:spcPct val="112000"/>
              </a:lnSpc>
              <a:spcBef>
                <a:spcPts val="0"/>
              </a:spcBef>
              <a:spcAft>
                <a:spcPts val="700"/>
              </a:spcAft>
            </a:pPr>
            <a:r>
              <a:rPr sz="2500" b="1">
                <a:solidFill>
                  <a:srgbClr val="1F2328"/>
                </a:solidFill>
                <a:latin typeface="Arial"/>
              </a:rPr>
              <a:t>Collect player feedback</a:t>
            </a:r>
          </a:p>
        </p:txBody>
      </p:sp>
      <p:sp>
        <p:nvSpPr>
          <p:cNvPr id="12" name="Rounded Rectangle 11"/>
          <p:cNvSpPr/>
          <p:nvPr/>
        </p:nvSpPr>
        <p:spPr>
          <a:xfrm>
            <a:off x="548640" y="4489704"/>
            <a:ext cx="11064240" cy="987552"/>
          </a:xfrm>
          <a:prstGeom prst="roundRect">
            <a:avLst>
              <a:gd name="adj" fmla="val 10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 y="4681728"/>
            <a:ext cx="786384" cy="566928"/>
          </a:xfrm>
          <a:prstGeom prst="rect">
            <a:avLst/>
          </a:prstGeom>
          <a:noFill/>
        </p:spPr>
        <p:txBody>
          <a:bodyPr wrap="square" lIns="0" rIns="0" tIns="0" bIns="0">
            <a:noAutofit/>
          </a:bodyPr>
          <a:lstStyle/>
          <a:p>
            <a:pPr algn="l">
              <a:lnSpc>
                <a:spcPct val="112000"/>
              </a:lnSpc>
              <a:spcBef>
                <a:spcPts val="0"/>
              </a:spcBef>
              <a:spcAft>
                <a:spcPts val="700"/>
              </a:spcAft>
            </a:pPr>
            <a:r>
              <a:rPr sz="3000" b="1">
                <a:solidFill>
                  <a:srgbClr val="FF8A00"/>
                </a:solidFill>
                <a:latin typeface="Arial"/>
              </a:rPr>
              <a:t>03</a:t>
            </a:r>
          </a:p>
        </p:txBody>
      </p:sp>
      <p:sp>
        <p:nvSpPr>
          <p:cNvPr id="14" name="TextBox 13"/>
          <p:cNvSpPr txBox="1"/>
          <p:nvPr/>
        </p:nvSpPr>
        <p:spPr>
          <a:xfrm>
            <a:off x="1883664" y="4754880"/>
            <a:ext cx="9235440" cy="484632"/>
          </a:xfrm>
          <a:prstGeom prst="rect">
            <a:avLst/>
          </a:prstGeom>
          <a:noFill/>
        </p:spPr>
        <p:txBody>
          <a:bodyPr wrap="square" lIns="0" rIns="0" tIns="0" bIns="0">
            <a:noAutofit/>
          </a:bodyPr>
          <a:lstStyle/>
          <a:p>
            <a:pPr algn="l">
              <a:lnSpc>
                <a:spcPct val="112000"/>
              </a:lnSpc>
              <a:spcBef>
                <a:spcPts val="0"/>
              </a:spcBef>
              <a:spcAft>
                <a:spcPts val="700"/>
              </a:spcAft>
            </a:pPr>
            <a:r>
              <a:rPr sz="2500" b="1">
                <a:solidFill>
                  <a:srgbClr val="1F2328"/>
                </a:solidFill>
                <a:latin typeface="Arial"/>
              </a:rPr>
              <a:t>Prepare client testing + final handoff</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6191D"/>
        </a:solidFill>
        <a:effectLst/>
      </p:bgPr>
    </p:bg>
    <p:spTree>
      <p:nvGrpSpPr>
        <p:cNvPr id="1" name=""/>
        <p:cNvGrpSpPr/>
        <p:nvPr/>
      </p:nvGrpSpPr>
      <p:grpSpPr/>
      <p:sp>
        <p:nvSpPr>
          <p:cNvPr id="2" name="TextBox 1"/>
          <p:cNvSpPr txBox="1"/>
          <p:nvPr/>
        </p:nvSpPr>
        <p:spPr>
          <a:xfrm>
            <a:off x="731520" y="1143000"/>
            <a:ext cx="10698480" cy="1060704"/>
          </a:xfrm>
          <a:prstGeom prst="rect">
            <a:avLst/>
          </a:prstGeom>
          <a:noFill/>
        </p:spPr>
        <p:txBody>
          <a:bodyPr wrap="square" lIns="0" rIns="0" tIns="0" bIns="0">
            <a:noAutofit/>
          </a:bodyPr>
          <a:lstStyle/>
          <a:p>
            <a:pPr algn="l">
              <a:lnSpc>
                <a:spcPct val="112000"/>
              </a:lnSpc>
              <a:spcBef>
                <a:spcPts val="0"/>
              </a:spcBef>
              <a:spcAft>
                <a:spcPts val="700"/>
              </a:spcAft>
            </a:pPr>
            <a:r>
              <a:rPr sz="6000" b="1">
                <a:solidFill>
                  <a:srgbClr val="FFFFFF"/>
                </a:solidFill>
                <a:latin typeface="Arial"/>
              </a:rPr>
              <a:t>Thank you</a:t>
            </a:r>
          </a:p>
        </p:txBody>
      </p:sp>
      <p:sp>
        <p:nvSpPr>
          <p:cNvPr id="3" name="TextBox 2"/>
          <p:cNvSpPr txBox="1"/>
          <p:nvPr/>
        </p:nvSpPr>
        <p:spPr>
          <a:xfrm>
            <a:off x="731520" y="2834640"/>
            <a:ext cx="10698480" cy="1417320"/>
          </a:xfrm>
          <a:prstGeom prst="rect">
            <a:avLst/>
          </a:prstGeom>
          <a:noFill/>
        </p:spPr>
        <p:txBody>
          <a:bodyPr wrap="square" lIns="0" rIns="0" tIns="0" bIns="0">
            <a:noAutofit/>
          </a:bodyPr>
          <a:lstStyle/>
          <a:p>
            <a:pPr algn="l">
              <a:lnSpc>
                <a:spcPct val="112000"/>
              </a:lnSpc>
              <a:spcBef>
                <a:spcPts val="0"/>
              </a:spcBef>
              <a:spcAft>
                <a:spcPts val="700"/>
              </a:spcAft>
            </a:pPr>
            <a:r>
              <a:rPr sz="3400" b="0">
                <a:solidFill>
                  <a:srgbClr val="FFFFFF"/>
                </a:solidFill>
                <a:latin typeface="Arial"/>
              </a:rPr>
              <a:t>More ways to train.</a:t>
            </a:r>
          </a:p>
          <a:p>
            <a:pPr algn="l">
              <a:lnSpc>
                <a:spcPct val="112000"/>
              </a:lnSpc>
              <a:spcBef>
                <a:spcPts val="0"/>
              </a:spcBef>
              <a:spcAft>
                <a:spcPts val="700"/>
              </a:spcAft>
            </a:pPr>
            <a:r>
              <a:rPr sz="3400" b="0">
                <a:solidFill>
                  <a:srgbClr val="FFFFFF"/>
                </a:solidFill>
                <a:latin typeface="Arial"/>
              </a:rPr>
              <a:t>More reasons to return.</a:t>
            </a:r>
          </a:p>
        </p:txBody>
      </p:sp>
      <p:sp>
        <p:nvSpPr>
          <p:cNvPr id="4" name="TextBox 3"/>
          <p:cNvSpPr txBox="1"/>
          <p:nvPr/>
        </p:nvSpPr>
        <p:spPr>
          <a:xfrm>
            <a:off x="731520" y="5047488"/>
            <a:ext cx="10698480" cy="896112"/>
          </a:xfrm>
          <a:prstGeom prst="rect">
            <a:avLst/>
          </a:prstGeom>
          <a:noFill/>
        </p:spPr>
        <p:txBody>
          <a:bodyPr wrap="square" lIns="0" rIns="0" tIns="0" bIns="0">
            <a:noAutofit/>
          </a:bodyPr>
          <a:lstStyle/>
          <a:p>
            <a:pPr algn="l">
              <a:lnSpc>
                <a:spcPct val="112000"/>
              </a:lnSpc>
              <a:spcBef>
                <a:spcPts val="0"/>
              </a:spcBef>
              <a:spcAft>
                <a:spcPts val="700"/>
              </a:spcAft>
            </a:pPr>
            <a:r>
              <a:rPr sz="2000" b="1">
                <a:solidFill>
                  <a:srgbClr val="FF8A00"/>
                </a:solidFill>
                <a:latin typeface="Arial"/>
              </a:rPr>
              <a:t>Mike Niehl · Preston David</a:t>
            </a:r>
          </a:p>
          <a:p>
            <a:pPr algn="l">
              <a:lnSpc>
                <a:spcPct val="112000"/>
              </a:lnSpc>
              <a:spcBef>
                <a:spcPts val="0"/>
              </a:spcBef>
              <a:spcAft>
                <a:spcPts val="700"/>
              </a:spcAft>
            </a:pPr>
            <a:r>
              <a:rPr sz="2000" b="1">
                <a:solidFill>
                  <a:srgbClr val="FF8A00"/>
                </a:solidFill>
                <a:latin typeface="Arial"/>
              </a:rPr>
              <a:t>Squatch Sports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Squatch Sports — Sprint 5 Review</dc:title>
  <dc:subject>CptS 423 · Team 11 · Minimal sprint review</dc:subject>
  <dc:creator>Kellam Adams; Melvin Sanare; Kaleb Kebede</dc:creator>
  <cp:lastModifiedBy>Team 11</cp:lastModifiedBy>
  <cp:revision>1</cp:revision>
  <dcterms:created xsi:type="dcterms:W3CDTF">2026-09-30T22:31:43Z</dcterms:created>
  <dcterms:modified xsi:type="dcterms:W3CDTF">2026-09-30T22:31:43Z</dcterms:modified>
</cp:coreProperties>
</file>