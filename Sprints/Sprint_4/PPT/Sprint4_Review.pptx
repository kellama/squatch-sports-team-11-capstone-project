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Arial"/>
              </a:defRPr>
            </a:pPr>
            <a:r>
              <a:rPr sz="1400" b="0" i="0" u="none" strike="noStrike">
                <a:solidFill>
                  <a:srgbClr val="1F2328"/>
                </a:solidFill>
                <a:latin typeface="Arial"/>
              </a:rPr>
              <a:t>Unit tests by suite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FF8A00"/>
            </a:solidFill>
            <a:effectLst/>
          </c:spPr>
          <c:invertIfNegative val="0"/>
          <c:dLbls>
            <c:numFmt formatCode="#,##0" sourceLinked="0"/>
            <c:txPr>
              <a:bodyPr/>
              <a:lstStyle/>
              <a:p>
                <a:pPr>
                  <a:defRPr b="0" i="0" strike="noStrike" sz="1200" u="none">
                    <a:solidFill>
                      <a:srgbClr val="1F2328"/>
                    </a:solidFill>
                    <a:latin typeface="Arial"/>
                  </a:defRPr>
                </a:pPr>
              </a:p>
            </c:txPr>
            <c:showLegendKey val="0"/>
            <c:showVal val="1"/>
            <c:showCatName val="0"/>
            <c:showSerName val="0"/>
            <c:showPercent val="0"/>
            <c:showBubbleSize val="0"/>
            <c:showLeaderLines val="0"/>
          </c:dLbls>
          <c:cat>
            <c:multiLvlStrRef>
              <c:f>Sheet1!$A$2:$A$6</c:f>
              <c:multiLvlStrCache>
                <c:ptCount val="5"/>
                <c:lvl>
                  <c:pt idx="0">
                    <c:v>Streak rules</c:v>
                  </c:pt>
                  <c:pt idx="1">
                    <c:v>Goal progress</c:v>
                  </c:pt>
                  <c:pt idx="2">
                    <c:v>Phone/watch sync</c:v>
                  </c:pt>
                  <c:pt idx="3">
                    <c:v>Models &amp; protocol</c:v>
                  </c:pt>
                  <c:pt idx="4">
                    <c:v>Example</c:v>
                  </c:pt>
                </c:lvl>
              </c:multiLvlStrCache>
            </c:multiLvlStrRef>
          </c:cat>
          <c:val>
            <c:numRef>
              <c:f>Sheet1!$B$2:$B$6</c:f>
              <c:numCache>
                <c:formatCode>General</c:formatCode>
                <c:ptCount val="5"/>
                <c:pt idx="0">
                  <c:v>17</c:v>
                </c:pt>
                <c:pt idx="1">
                  <c:v>10</c:v>
                </c:pt>
                <c:pt idx="2">
                  <c:v>5</c:v>
                </c:pt>
                <c:pt idx="3">
                  <c:v>3</c:v>
                </c:pt>
                <c:pt idx="4">
                  <c:v>1</c:v>
                </c:pt>
              </c:numCache>
            </c:numRef>
          </c:val>
        </c:ser>
        <c:dLbls>
          <c:numFmt formatCode="#,##0" sourceLinked="0"/>
          <c:txPr>
            <a:bodyPr/>
            <a:lstStyle/>
            <a:p>
              <a:pPr>
                <a:defRPr b="0" i="0" strike="noStrike" sz="1200" u="none">
                  <a:solidFill>
                    <a:srgbClr val="1F23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328"/>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Arial"/>
              </a:defRPr>
            </a:pPr>
            <a:r>
              <a:rPr sz="1400" b="0" i="0" u="none" strike="noStrike">
                <a:solidFill>
                  <a:srgbClr val="1F2328"/>
                </a:solidFill>
                <a:latin typeface="Arial"/>
              </a:rPr>
              <a:t>Story points completed</a:t>
            </a:r>
          </a:p>
        </c:rich>
      </c:tx>
      <c:layout/>
      <c:overlay val="0"/>
    </c:title>
    <c:autoTitleDeleted val="0"/>
    <c:plotArea>
      <c:layout/>
      <c:barChart>
        <c:barDir val="col"/>
        <c:grouping val="clustered"/>
        <c:varyColors val="0"/>
        <c:ser>
          <c:idx val="0"/>
          <c:order val="0"/>
          <c:tx>
            <c:strRef>
              <c:f>Sheet1!$B$1</c:f>
              <c:strCache>
                <c:ptCount val="1"/>
                <c:pt idx="0">
                  <c:v>Story points</c:v>
                </c:pt>
              </c:strCache>
            </c:strRef>
          </c:tx>
          <c:spPr>
            <a:solidFill>
              <a:srgbClr val="FF8A00"/>
            </a:solidFill>
            <a:effectLst/>
          </c:spPr>
          <c:invertIfNegative val="0"/>
          <c:dLbls>
            <c:numFmt formatCode="#,##0" sourceLinked="0"/>
            <c:txPr>
              <a:bodyPr/>
              <a:lstStyle/>
              <a:p>
                <a:pPr>
                  <a:defRPr b="0" i="0" strike="noStrike" sz="1400" u="none">
                    <a:solidFill>
                      <a:srgbClr val="1F2328"/>
                    </a:solidFill>
                    <a:latin typeface="Arial"/>
                  </a:defRPr>
                </a:pPr>
              </a:p>
            </c:txPr>
            <c:showLegendKey val="0"/>
            <c:showVal val="1"/>
            <c:showCatName val="0"/>
            <c:showSerName val="0"/>
            <c:showPercent val="0"/>
            <c:showBubbleSize val="0"/>
            <c:showLeaderLines val="0"/>
          </c:dLbls>
          <c:cat>
            <c:multiLvlStrRef>
              <c:f>Sheet1!$A$2:$A$4</c:f>
              <c:multiLvlStrCache>
                <c:ptCount val="3"/>
                <c:lvl>
                  <c:pt idx="0">
                    <c:v>Kellam</c:v>
                  </c:pt>
                  <c:pt idx="1">
                    <c:v>Melvin</c:v>
                  </c:pt>
                  <c:pt idx="2">
                    <c:v>Kaleb</c:v>
                  </c:pt>
                </c:lvl>
              </c:multiLvlStrCache>
            </c:multiLvlStrRef>
          </c:cat>
          <c:val>
            <c:numRef>
              <c:f>Sheet1!$B$2:$B$4</c:f>
              <c:numCache>
                <c:formatCode>General</c:formatCode>
                <c:ptCount val="3"/>
                <c:pt idx="0">
                  <c:v>14</c:v>
                </c:pt>
                <c:pt idx="1">
                  <c:v>10</c:v>
                </c:pt>
                <c:pt idx="2">
                  <c:v>7</c:v>
                </c:pt>
              </c:numCache>
            </c:numRef>
          </c:val>
        </c:ser>
        <c:dLbls>
          <c:numFmt formatCode="#,##0" sourceLinked="0"/>
          <c:txPr>
            <a:bodyPr/>
            <a:lstStyle/>
            <a:p>
              <a:pPr>
                <a:defRPr b="0" i="0" strike="noStrike" sz="1400" u="none">
                  <a:solidFill>
                    <a:srgbClr val="1F2328"/>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328"/>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11. This is our Sprint 4 review for the Squatch Sports basketball training app. This semester we're expanding the app to Android phones and Wear OS watches and adding gamification to make training more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Squatch Sports helps basketball players practice shooting on their own. The phone runs the drill and the watch records every shot with a swipe. Our first-semester iOS and watchOS work is now in the Squatch Sports production app. The client's theme for this semester is 'hide the broccoli': the tracking is the healthy part players need, and our job is to make it enjoyable. Kellam led the Android and Wear OS port, Melvin built streaks and goal progress on the Android phone and watch and managed testing and the GitHub board, and Kaleb built the XP and level system on 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Sprint 4 goal was to implement two gamification features and complete about 90% of the Android and Wear OS port with all major flows working. That broke into four objectives: streak tracking, goal progress, the Android port, and Wear OS integration. All four were completed this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Kellam ported the iOS and watchOS app to Android using AI tools, as the client asked. It's a Kotlin and Jetpack Compose project with a phone app, a Wear OS app, and a shared module. All eight phone screens were ported, and the watch has the court view, swipe-to-log shots, and the workout summary. We kept the same shot codes and drill data as the Apple version. 14 of 16 features are at full parity, which puts the port at about 90%. DEMO: start a drill on the phone and log shots on the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streak tracking on the Android phone. A training day is any day with at least one workout. Because this is a workout app, one missed day counts as a rest day and keeps the streak alive, but two missed days in a row reset it, and the best streak is always kept. The dashboard shows the streak, the best streak, a 7-day calendar, and progress toward the next milestone. After a workout, a popup celebrates a new streak, a continued streak, a new personal best, or a milestone. DEMO: Settings, Load Demo History, then finish a workout to hit the 7-day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progress gives players daily and weekly targets: daily shots, daily makes, weekly sessions, and today's shooting percentage, which only counts after at least ten shots so one lucky make doesn't count. Progress shows as animated rings that turn green when the goal is done. Goals can be edited and are saved, and completing a goal shows a trophy popup once per day or week so it doesn't repeat after every workout. DEMO: edit a goal, finish a workout, show the rings and popup.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client suggested gamification fits the watch, I brought it to Wear OS. The phone calculates the streak and goals and syncs a snapshot to the watch through the Wear OS Data Layer, so the watch shows your streak and goal rings as soon as it opens. When the phone celebrates, the watch shows the same popup and vibrates. Every message between phone and watch is logged, which you can see here in Logcat. DEMO: show the watch home screen and the Logcat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Kaleb built an XP and leveling system on iOS. Players earn 25 XP for completing a workout, 1 XP per make, 2 bonus XP per swish, and 15 bonus XP for shooting 75% or better. Every 100 XP is a new level. The dashboard shows a Player Progress card, and after each workout an alert shows the XP earned or a Level Up message. The goal is to make finishing every workout feel rewarding and give players something to keep progressing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36 automated unit tests, all passing. The streak tests use known workout dates, and the goal tests compare expected versus calculated progress with known data. We also tested on paired phone and watch emulators, changing the phone's date to check the next day, a rest day, and two missed days. Testing also caught a real problem: an endless flame animation kept the app using over half a CPU core and made the emulators unresponsive. Limiting it to three pulses brought idle CPU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work is tracked on our GitHub board with a Sprint 4 milestone, story-point labels, and acceptance criteria on each issue. SHOW: the GitHub issues page filtered by the Sprint 4 milestone. Kellam completed the Android port and Wear OS integration, I completed streak tracking, goal progress, and the watch sync, and Kaleb completed goal progress and the iOS XP system. Two issues, the Apple Watch repeated-shot bug and Android polish, move to Sprint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met with Mike Niehl and Preston David from Squatch Sports twice this sprint. On September 2 they told us our iOS work is live in their production app and set the new direction: Android and Wear OS, a stats review, and gamification. On September 17 they accepted our Sprint 4 through 6 plan. Their guiding idea is 'hide the broccoli.' Minutes for both meetings are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client requested, we used AI heavily this sprint. Kellam used AI to convert the iOS app to Android, and I used Claude Code to write the streak, goal, and watch-sync code and unit tests, and to diagnose problems from device logs. It let us move fast while learning Android. But it has limits: an AI-written animation passed every test and still froze the emulators, which we only caught by testing on devices. AI also only follows the rules we give it, so the team designed the streak rules. Every feature was reviewed and tested by us, and all final decisions are the team's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achievements: the Android phone and Wear OS apps work end to end, streaks and goals run on the phone and watch, XP and levels run on iOS, 36 unit tests pass, and our GitHub board shows everyone's work. Challenges: none of us had built for Android before, so we had to set up Android Studio and paired emulators; testing streaks across days required changing the emulator's date; and the emulators became unresponsive until we found and fixed the animation. Compared to Sprint 3, the data-saving and recovery items we left open are now handled on Android.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Sprint 5 we'll finish the Android and Wear OS polish and disconnect handling, fix the Apple Watch repeated-shot bug, improve stats and charts and add practice-time tracking, refine gamification based on client feedback, and run integration and defect testing. Looking back, the port came together quickly and every member shipped a feature. Next time we want to agree on platforms earlier, test on devices sooner, and commit in smaller pieces. Based on client feedback, we built gamification around 'hide the broccoli' and used AI for the port as they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Squatch Sports now runs on Android phones and Wear OS watches, and streaks, goals, and XP make every workout feel more rewarding. Next sprint we'll finish the port, improve stats, and refine gamification. Thank you to Mike and Preston at Squatch Sports for their guidance, and thank you for watching. We welcome any questions 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Shape 0"/>
          <p:cNvSpPr/>
          <p:nvPr/>
        </p:nvSpPr>
        <p:spPr>
          <a:xfrm>
            <a:off x="731520" y="1097280"/>
            <a:ext cx="868680" cy="868680"/>
          </a:xfrm>
          <a:prstGeom prst="ellipse">
            <a:avLst/>
          </a:prstGeom>
          <a:solidFill>
            <a:srgbClr val="FF8A00"/>
          </a:solidFill>
          <a:ln w="12700">
            <a:solidFill>
              <a:srgbClr val="FF8A00"/>
            </a:solidFill>
            <a:prstDash val="solid"/>
          </a:ln>
        </p:spPr>
      </p:sp>
      <p:pic>
        <p:nvPicPr>
          <p:cNvPr id="3" name="Image 0" descr="preencoded.png">    </p:cNvPr>
          <p:cNvPicPr>
            <a:picLocks noChangeAspect="1"/>
          </p:cNvPicPr>
          <p:nvPr/>
        </p:nvPicPr>
        <p:blipFill>
          <a:blip r:embed="rId1"/>
          <a:stretch>
            <a:fillRect/>
          </a:stretch>
        </p:blipFill>
        <p:spPr>
          <a:xfrm>
            <a:off x="940003" y="1305763"/>
            <a:ext cx="451714" cy="451714"/>
          </a:xfrm>
          <a:prstGeom prst="rect">
            <a:avLst/>
          </a:prstGeom>
        </p:spPr>
      </p:pic>
      <p:sp>
        <p:nvSpPr>
          <p:cNvPr id="4" name="Text 1"/>
          <p:cNvSpPr txBox="1"/>
          <p:nvPr/>
        </p:nvSpPr>
        <p:spPr>
          <a:xfrm>
            <a:off x="731520" y="2240280"/>
            <a:ext cx="6858000" cy="365760"/>
          </a:xfrm>
          <a:prstGeom prst="rect">
            <a:avLst/>
          </a:prstGeom>
          <a:noFill/>
          <a:ln/>
        </p:spPr>
        <p:txBody>
          <a:bodyPr wrap="square" lIns="0" tIns="0" rIns="0" bIns="0" rtlCol="0" anchor="ctr"/>
          <a:lstStyle/>
          <a:p>
            <a:pPr indent="0" marL="0">
              <a:buNone/>
            </a:pPr>
            <a:r>
              <a:rPr lang="en-US" sz="1400" b="1" spc="200" kern="0" dirty="0">
                <a:solidFill>
                  <a:srgbClr val="FF8A00"/>
                </a:solidFill>
                <a:latin typeface="Arial" pitchFamily="34" charset="0"/>
                <a:ea typeface="Arial" pitchFamily="34" charset="-122"/>
                <a:cs typeface="Arial" pitchFamily="34" charset="-120"/>
              </a:rPr>
              <a:t>SQUATCH SPORTS · CPTS 423 · TEAM 11</a:t>
            </a:r>
            <a:endParaRPr lang="en-US" sz="1400" dirty="0"/>
          </a:p>
        </p:txBody>
      </p:sp>
      <p:sp>
        <p:nvSpPr>
          <p:cNvPr id="5" name="Text 2"/>
          <p:cNvSpPr txBox="1"/>
          <p:nvPr/>
        </p:nvSpPr>
        <p:spPr>
          <a:xfrm>
            <a:off x="731520" y="2651760"/>
            <a:ext cx="685800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Sprint 4 Review</a:t>
            </a:r>
            <a:endParaRPr lang="en-US" sz="5400" dirty="0"/>
          </a:p>
        </p:txBody>
      </p:sp>
      <p:sp>
        <p:nvSpPr>
          <p:cNvPr id="6" name="Text 3"/>
          <p:cNvSpPr txBox="1"/>
          <p:nvPr/>
        </p:nvSpPr>
        <p:spPr>
          <a:xfrm>
            <a:off x="731520" y="3657600"/>
            <a:ext cx="6858000" cy="548640"/>
          </a:xfrm>
          <a:prstGeom prst="rect">
            <a:avLst/>
          </a:prstGeom>
          <a:noFill/>
          <a:ln/>
        </p:spPr>
        <p:txBody>
          <a:bodyPr wrap="square" lIns="0" tIns="0" rIns="0" bIns="0" rtlCol="0" anchor="ctr"/>
          <a:lstStyle/>
          <a:p>
            <a:pPr indent="0" marL="0">
              <a:buNone/>
            </a:pPr>
            <a:r>
              <a:rPr lang="en-US" sz="2400" dirty="0">
                <a:solidFill>
                  <a:srgbClr val="C9CED6"/>
                </a:solidFill>
                <a:latin typeface="Calibri" pitchFamily="34" charset="0"/>
                <a:ea typeface="Calibri" pitchFamily="34" charset="-122"/>
                <a:cs typeface="Calibri" pitchFamily="34" charset="-120"/>
              </a:rPr>
              <a:t>Android &amp; Wear OS expansion + gamification</a:t>
            </a:r>
            <a:endParaRPr lang="en-US" sz="2400" dirty="0"/>
          </a:p>
        </p:txBody>
      </p:sp>
      <p:sp>
        <p:nvSpPr>
          <p:cNvPr id="7" name="Text 4"/>
          <p:cNvSpPr txBox="1"/>
          <p:nvPr/>
        </p:nvSpPr>
        <p:spPr>
          <a:xfrm>
            <a:off x="731520" y="4754880"/>
            <a:ext cx="68580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Kellam Adams  ·  Melvin Sanare  ·  Kaleb Kebede</a:t>
            </a:r>
            <a:endParaRPr lang="en-US" sz="1800" dirty="0"/>
          </a:p>
        </p:txBody>
      </p:sp>
      <p:sp>
        <p:nvSpPr>
          <p:cNvPr id="8" name="Text 5"/>
          <p:cNvSpPr txBox="1"/>
          <p:nvPr/>
        </p:nvSpPr>
        <p:spPr>
          <a:xfrm>
            <a:off x="731520" y="5166360"/>
            <a:ext cx="6858000" cy="365760"/>
          </a:xfrm>
          <a:prstGeom prst="rect">
            <a:avLst/>
          </a:prstGeom>
          <a:noFill/>
          <a:ln/>
        </p:spPr>
        <p:txBody>
          <a:bodyPr wrap="square" lIns="0" tIns="0" rIns="0" bIns="0" rtlCol="0" anchor="ctr"/>
          <a:lstStyle/>
          <a:p>
            <a:pPr indent="0" marL="0">
              <a:buNone/>
            </a:pPr>
            <a:r>
              <a:rPr lang="en-US" sz="1400" dirty="0">
                <a:solidFill>
                  <a:srgbClr val="9AA3AF"/>
                </a:solidFill>
                <a:latin typeface="Calibri" pitchFamily="34" charset="0"/>
                <a:ea typeface="Calibri" pitchFamily="34" charset="-122"/>
                <a:cs typeface="Calibri" pitchFamily="34" charset="-120"/>
              </a:rPr>
              <a:t>Sprint 4: August 27 – September 30, 2026</a:t>
            </a:r>
            <a:endParaRPr lang="en-US" sz="1400" dirty="0"/>
          </a:p>
        </p:txBody>
      </p:sp>
      <p:pic>
        <p:nvPicPr>
          <p:cNvPr id="9" name="Image 1" descr="preencoded.png">    </p:cNvPr>
          <p:cNvPicPr>
            <a:picLocks noChangeAspect="1"/>
          </p:cNvPicPr>
          <p:nvPr/>
        </p:nvPicPr>
        <p:blipFill>
          <a:blip r:embed="rId2"/>
          <a:stretch>
            <a:fillRect/>
          </a:stretch>
        </p:blipFill>
        <p:spPr>
          <a:xfrm>
            <a:off x="7955280" y="1417320"/>
            <a:ext cx="3840480" cy="3840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INTRODUCTION</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Project and team</a:t>
            </a:r>
            <a:endParaRPr lang="en-US" sz="3400" dirty="0"/>
          </a:p>
        </p:txBody>
      </p:sp>
      <p:sp>
        <p:nvSpPr>
          <p:cNvPr id="4" name="Text 2"/>
          <p:cNvSpPr txBox="1"/>
          <p:nvPr/>
        </p:nvSpPr>
        <p:spPr>
          <a:xfrm>
            <a:off x="548640" y="1600200"/>
            <a:ext cx="5120640" cy="4206240"/>
          </a:xfrm>
          <a:prstGeom prst="rect">
            <a:avLst/>
          </a:prstGeom>
          <a:noFill/>
          <a:ln/>
        </p:spPr>
        <p:txBody>
          <a:bodyPr wrap="square" lIns="0" tIns="0" rIns="0" bIns="0" rtlCol="0" anchor="t"/>
          <a:lstStyle/>
          <a:p>
            <a:pPr indent="0" marL="0">
              <a:spcAft>
                <a:spcPts val="1200"/>
              </a:spcAft>
              <a:buNone/>
            </a:pPr>
            <a:r>
              <a:rPr lang="en-US" sz="1700" dirty="0">
                <a:solidFill>
                  <a:srgbClr val="1F2328"/>
                </a:solidFill>
                <a:latin typeface="Calibri" pitchFamily="34" charset="0"/>
                <a:ea typeface="Calibri" pitchFamily="34" charset="-122"/>
                <a:cs typeface="Calibri" pitchFamily="34" charset="-120"/>
              </a:rPr>
              <a:t>Squatch Sports is a basketball shooting-practice app. Players pick a drill on their phone and log every make, miss, and swish on their watch with a quick swipe.</a:t>
            </a:r>
            <a:endParaRPr lang="en-US" sz="1700" dirty="0"/>
          </a:p>
          <a:p>
            <a:pPr indent="0" marL="0">
              <a:spcAft>
                <a:spcPts val="1200"/>
              </a:spcAft>
              <a:buNone/>
            </a:pPr>
            <a:r>
              <a:rPr lang="en-US" sz="1700" dirty="0">
                <a:solidFill>
                  <a:srgbClr val="1F2328"/>
                </a:solidFill>
                <a:latin typeface="Calibri" pitchFamily="34" charset="0"/>
                <a:ea typeface="Calibri" pitchFamily="34" charset="-122"/>
                <a:cs typeface="Calibri" pitchFamily="34" charset="-120"/>
              </a:rPr>
              <a:t>Our iOS and watchOS work from last semester is now in Squatch Sports' production app. This semester we're bringing it to Android and Wear OS and adding gamification.</a:t>
            </a:r>
            <a:endParaRPr lang="en-US" sz="1700" dirty="0"/>
          </a:p>
          <a:p>
            <a:pPr indent="0" marL="0">
              <a:buNone/>
            </a:pPr>
            <a:r>
              <a:rPr lang="en-US" sz="1700" b="1" i="1" dirty="0">
                <a:solidFill>
                  <a:srgbClr val="FF8A00"/>
                </a:solidFill>
                <a:latin typeface="Calibri" pitchFamily="34" charset="0"/>
                <a:ea typeface="Calibri" pitchFamily="34" charset="-122"/>
                <a:cs typeface="Calibri" pitchFamily="34" charset="-120"/>
              </a:rPr>
              <a:t>Client goal: “hide the broccoli.” Make logging and reviewing workouts fun enough that players keep coming back.</a:t>
            </a:r>
            <a:endParaRPr lang="en-US" sz="1700" dirty="0"/>
          </a:p>
        </p:txBody>
      </p:sp>
      <p:sp>
        <p:nvSpPr>
          <p:cNvPr id="5" name="Shape 3"/>
          <p:cNvSpPr/>
          <p:nvPr/>
        </p:nvSpPr>
        <p:spPr>
          <a:xfrm>
            <a:off x="6126480" y="1600200"/>
            <a:ext cx="5532120" cy="1371600"/>
          </a:xfrm>
          <a:prstGeom prst="roundRect">
            <a:avLst>
              <a:gd name="adj" fmla="val 8000"/>
            </a:avLst>
          </a:prstGeom>
          <a:solidFill>
            <a:srgbClr val="F2F3F5"/>
          </a:solidFill>
          <a:ln w="12700">
            <a:solidFill>
              <a:srgbClr val="F2F3F5"/>
            </a:solidFill>
            <a:prstDash val="solid"/>
          </a:ln>
        </p:spPr>
      </p:sp>
      <p:sp>
        <p:nvSpPr>
          <p:cNvPr id="6" name="Shape 4"/>
          <p:cNvSpPr/>
          <p:nvPr/>
        </p:nvSpPr>
        <p:spPr>
          <a:xfrm>
            <a:off x="6355080" y="1874520"/>
            <a:ext cx="822960" cy="822960"/>
          </a:xfrm>
          <a:prstGeom prst="ellipse">
            <a:avLst/>
          </a:prstGeom>
          <a:solidFill>
            <a:srgbClr val="FF8A00"/>
          </a:solidFill>
          <a:ln w="12700">
            <a:solidFill>
              <a:srgbClr val="FF8A00"/>
            </a:solidFill>
            <a:prstDash val="solid"/>
          </a:ln>
        </p:spPr>
      </p:sp>
      <p:pic>
        <p:nvPicPr>
          <p:cNvPr id="7" name="Image 0" descr="preencoded.png">    </p:cNvPr>
          <p:cNvPicPr>
            <a:picLocks noChangeAspect="1"/>
          </p:cNvPicPr>
          <p:nvPr/>
        </p:nvPicPr>
        <p:blipFill>
          <a:blip r:embed="rId1"/>
          <a:stretch>
            <a:fillRect/>
          </a:stretch>
        </p:blipFill>
        <p:spPr>
          <a:xfrm>
            <a:off x="6552590" y="2072030"/>
            <a:ext cx="427939" cy="427939"/>
          </a:xfrm>
          <a:prstGeom prst="rect">
            <a:avLst/>
          </a:prstGeom>
        </p:spPr>
      </p:pic>
      <p:sp>
        <p:nvSpPr>
          <p:cNvPr id="8" name="Text 5"/>
          <p:cNvSpPr txBox="1"/>
          <p:nvPr/>
        </p:nvSpPr>
        <p:spPr>
          <a:xfrm>
            <a:off x="7406640" y="1783080"/>
            <a:ext cx="4023360" cy="41148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Kellam Adams</a:t>
            </a:r>
            <a:endParaRPr lang="en-US" sz="1900" dirty="0"/>
          </a:p>
        </p:txBody>
      </p:sp>
      <p:sp>
        <p:nvSpPr>
          <p:cNvPr id="9" name="Text 6"/>
          <p:cNvSpPr txBox="1"/>
          <p:nvPr/>
        </p:nvSpPr>
        <p:spPr>
          <a:xfrm>
            <a:off x="7406640" y="2194560"/>
            <a:ext cx="40690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Android &amp; Wear OS port lead: phone app, watch app, and phone/watch messaging</a:t>
            </a:r>
            <a:endParaRPr lang="en-US" sz="1400" dirty="0"/>
          </a:p>
        </p:txBody>
      </p:sp>
      <p:sp>
        <p:nvSpPr>
          <p:cNvPr id="10" name="Shape 7"/>
          <p:cNvSpPr/>
          <p:nvPr/>
        </p:nvSpPr>
        <p:spPr>
          <a:xfrm>
            <a:off x="6126480" y="3200400"/>
            <a:ext cx="5532120" cy="1371600"/>
          </a:xfrm>
          <a:prstGeom prst="roundRect">
            <a:avLst>
              <a:gd name="adj" fmla="val 8000"/>
            </a:avLst>
          </a:prstGeom>
          <a:solidFill>
            <a:srgbClr val="F2F3F5"/>
          </a:solidFill>
          <a:ln w="12700">
            <a:solidFill>
              <a:srgbClr val="F2F3F5"/>
            </a:solidFill>
            <a:prstDash val="solid"/>
          </a:ln>
        </p:spPr>
      </p:sp>
      <p:sp>
        <p:nvSpPr>
          <p:cNvPr id="11" name="Shape 8"/>
          <p:cNvSpPr/>
          <p:nvPr/>
        </p:nvSpPr>
        <p:spPr>
          <a:xfrm>
            <a:off x="6355080" y="3474720"/>
            <a:ext cx="822960" cy="822960"/>
          </a:xfrm>
          <a:prstGeom prst="ellipse">
            <a:avLst/>
          </a:prstGeom>
          <a:solidFill>
            <a:srgbClr val="FF8A00"/>
          </a:solidFill>
          <a:ln w="12700">
            <a:solidFill>
              <a:srgbClr val="FF8A00"/>
            </a:solidFill>
            <a:prstDash val="solid"/>
          </a:ln>
        </p:spPr>
      </p:sp>
      <p:pic>
        <p:nvPicPr>
          <p:cNvPr id="12" name="Image 1" descr="preencoded.png">    </p:cNvPr>
          <p:cNvPicPr>
            <a:picLocks noChangeAspect="1"/>
          </p:cNvPicPr>
          <p:nvPr/>
        </p:nvPicPr>
        <p:blipFill>
          <a:blip r:embed="rId2"/>
          <a:stretch>
            <a:fillRect/>
          </a:stretch>
        </p:blipFill>
        <p:spPr>
          <a:xfrm>
            <a:off x="6552590" y="3672230"/>
            <a:ext cx="427939" cy="427939"/>
          </a:xfrm>
          <a:prstGeom prst="rect">
            <a:avLst/>
          </a:prstGeom>
        </p:spPr>
      </p:pic>
      <p:sp>
        <p:nvSpPr>
          <p:cNvPr id="13" name="Text 9"/>
          <p:cNvSpPr txBox="1"/>
          <p:nvPr/>
        </p:nvSpPr>
        <p:spPr>
          <a:xfrm>
            <a:off x="7406640" y="3383280"/>
            <a:ext cx="4023360" cy="41148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Melvin Sanare</a:t>
            </a:r>
            <a:endParaRPr lang="en-US" sz="1900" dirty="0"/>
          </a:p>
        </p:txBody>
      </p:sp>
      <p:sp>
        <p:nvSpPr>
          <p:cNvPr id="14" name="Text 10"/>
          <p:cNvSpPr txBox="1"/>
          <p:nvPr/>
        </p:nvSpPr>
        <p:spPr>
          <a:xfrm>
            <a:off x="7406640" y="3794760"/>
            <a:ext cx="40690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Android gamification: streaks, goal progress, watch sync, testing, and the GitHub board</a:t>
            </a:r>
            <a:endParaRPr lang="en-US" sz="1400" dirty="0"/>
          </a:p>
        </p:txBody>
      </p:sp>
      <p:sp>
        <p:nvSpPr>
          <p:cNvPr id="15" name="Shape 11"/>
          <p:cNvSpPr/>
          <p:nvPr/>
        </p:nvSpPr>
        <p:spPr>
          <a:xfrm>
            <a:off x="6126480" y="4800600"/>
            <a:ext cx="5532120" cy="1371600"/>
          </a:xfrm>
          <a:prstGeom prst="roundRect">
            <a:avLst>
              <a:gd name="adj" fmla="val 8000"/>
            </a:avLst>
          </a:prstGeom>
          <a:solidFill>
            <a:srgbClr val="F2F3F5"/>
          </a:solidFill>
          <a:ln w="12700">
            <a:solidFill>
              <a:srgbClr val="F2F3F5"/>
            </a:solidFill>
            <a:prstDash val="solid"/>
          </a:ln>
        </p:spPr>
      </p:sp>
      <p:sp>
        <p:nvSpPr>
          <p:cNvPr id="16" name="Shape 12"/>
          <p:cNvSpPr/>
          <p:nvPr/>
        </p:nvSpPr>
        <p:spPr>
          <a:xfrm>
            <a:off x="6355080" y="5074920"/>
            <a:ext cx="822960" cy="822960"/>
          </a:xfrm>
          <a:prstGeom prst="ellipse">
            <a:avLst/>
          </a:prstGeom>
          <a:solidFill>
            <a:srgbClr val="FF8A00"/>
          </a:solidFill>
          <a:ln w="12700">
            <a:solidFill>
              <a:srgbClr val="FF8A00"/>
            </a:solidFill>
            <a:prstDash val="solid"/>
          </a:ln>
        </p:spPr>
      </p:sp>
      <p:pic>
        <p:nvPicPr>
          <p:cNvPr id="17" name="Image 2" descr="preencoded.png">    </p:cNvPr>
          <p:cNvPicPr>
            <a:picLocks noChangeAspect="1"/>
          </p:cNvPicPr>
          <p:nvPr/>
        </p:nvPicPr>
        <p:blipFill>
          <a:blip r:embed="rId3"/>
          <a:stretch>
            <a:fillRect/>
          </a:stretch>
        </p:blipFill>
        <p:spPr>
          <a:xfrm>
            <a:off x="6552590" y="5272430"/>
            <a:ext cx="427939" cy="427939"/>
          </a:xfrm>
          <a:prstGeom prst="rect">
            <a:avLst/>
          </a:prstGeom>
        </p:spPr>
      </p:pic>
      <p:sp>
        <p:nvSpPr>
          <p:cNvPr id="18" name="Text 13"/>
          <p:cNvSpPr txBox="1"/>
          <p:nvPr/>
        </p:nvSpPr>
        <p:spPr>
          <a:xfrm>
            <a:off x="7406640" y="4983480"/>
            <a:ext cx="4023360" cy="411480"/>
          </a:xfrm>
          <a:prstGeom prst="rect">
            <a:avLst/>
          </a:prstGeom>
          <a:noFill/>
          <a:ln/>
        </p:spPr>
        <p:txBody>
          <a:bodyPr wrap="square" lIns="0" tIns="0" rIns="0" bIns="0" rtlCol="0" anchor="ctr"/>
          <a:lstStyle/>
          <a:p>
            <a:pPr indent="0" marL="0">
              <a:buNone/>
            </a:pPr>
            <a:r>
              <a:rPr lang="en-US" sz="1900" b="1" dirty="0">
                <a:solidFill>
                  <a:srgbClr val="1F2328"/>
                </a:solidFill>
                <a:latin typeface="Arial" pitchFamily="34" charset="0"/>
                <a:ea typeface="Arial" pitchFamily="34" charset="-122"/>
                <a:cs typeface="Arial" pitchFamily="34" charset="-120"/>
              </a:rPr>
              <a:t>Kaleb Kebede</a:t>
            </a:r>
            <a:endParaRPr lang="en-US" sz="1900" dirty="0"/>
          </a:p>
        </p:txBody>
      </p:sp>
      <p:sp>
        <p:nvSpPr>
          <p:cNvPr id="19" name="Text 14"/>
          <p:cNvSpPr txBox="1"/>
          <p:nvPr/>
        </p:nvSpPr>
        <p:spPr>
          <a:xfrm>
            <a:off x="7406640" y="5394960"/>
            <a:ext cx="40690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iOS gamification: XP and level system; goal progress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SPRINT 4 OBJECTIVES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Two gamification features + a 90% Android port</a:t>
            </a:r>
            <a:endParaRPr lang="en-US" sz="3400" dirty="0"/>
          </a:p>
        </p:txBody>
      </p:sp>
      <p:sp>
        <p:nvSpPr>
          <p:cNvPr id="4" name="Shape 2"/>
          <p:cNvSpPr/>
          <p:nvPr/>
        </p:nvSpPr>
        <p:spPr>
          <a:xfrm>
            <a:off x="548640" y="1645920"/>
            <a:ext cx="5394960" cy="2057400"/>
          </a:xfrm>
          <a:prstGeom prst="roundRect">
            <a:avLst>
              <a:gd name="adj" fmla="val 5333"/>
            </a:avLst>
          </a:prstGeom>
          <a:solidFill>
            <a:srgbClr val="F2F3F5"/>
          </a:solidFill>
          <a:ln w="12700">
            <a:solidFill>
              <a:srgbClr val="F2F3F5"/>
            </a:solidFill>
            <a:prstDash val="solid"/>
          </a:ln>
        </p:spPr>
      </p:sp>
      <p:sp>
        <p:nvSpPr>
          <p:cNvPr id="5" name="Text 3"/>
          <p:cNvSpPr txBox="1"/>
          <p:nvPr/>
        </p:nvSpPr>
        <p:spPr>
          <a:xfrm>
            <a:off x="868680" y="1920240"/>
            <a:ext cx="914400" cy="640080"/>
          </a:xfrm>
          <a:prstGeom prst="rect">
            <a:avLst/>
          </a:prstGeom>
          <a:noFill/>
          <a:ln/>
        </p:spPr>
        <p:txBody>
          <a:bodyPr wrap="square" lIns="0" tIns="0" rIns="0" bIns="0" rtlCol="0" anchor="ctr"/>
          <a:lstStyle/>
          <a:p>
            <a:pPr indent="0" marL="0">
              <a:buNone/>
            </a:pPr>
            <a:r>
              <a:rPr lang="en-US" sz="3600" b="1" dirty="0">
                <a:solidFill>
                  <a:srgbClr val="FF8A00"/>
                </a:solidFill>
                <a:latin typeface="Arial" pitchFamily="34" charset="0"/>
                <a:ea typeface="Arial" pitchFamily="34" charset="-122"/>
                <a:cs typeface="Arial" pitchFamily="34" charset="-120"/>
              </a:rPr>
              <a:t>01</a:t>
            </a:r>
            <a:endParaRPr lang="en-US" sz="3600" dirty="0"/>
          </a:p>
        </p:txBody>
      </p:sp>
      <p:sp>
        <p:nvSpPr>
          <p:cNvPr id="6" name="Text 4"/>
          <p:cNvSpPr txBox="1"/>
          <p:nvPr/>
        </p:nvSpPr>
        <p:spPr>
          <a:xfrm>
            <a:off x="1874520" y="1920240"/>
            <a:ext cx="3840480" cy="411480"/>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Streak tracking</a:t>
            </a:r>
            <a:endParaRPr lang="en-US" sz="2000" dirty="0"/>
          </a:p>
        </p:txBody>
      </p:sp>
      <p:sp>
        <p:nvSpPr>
          <p:cNvPr id="7" name="Text 5"/>
          <p:cNvSpPr txBox="1"/>
          <p:nvPr/>
        </p:nvSpPr>
        <p:spPr>
          <a:xfrm>
            <a:off x="1874520" y="2377440"/>
            <a:ext cx="38404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Current and best streak, milestones, and celebration feedback</a:t>
            </a:r>
            <a:endParaRPr lang="en-US" sz="1400" dirty="0"/>
          </a:p>
        </p:txBody>
      </p:sp>
      <p:sp>
        <p:nvSpPr>
          <p:cNvPr id="8" name="Text 6"/>
          <p:cNvSpPr txBox="1"/>
          <p:nvPr/>
        </p:nvSpPr>
        <p:spPr>
          <a:xfrm>
            <a:off x="1874520" y="3154680"/>
            <a:ext cx="237744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Owner: Melvin</a:t>
            </a:r>
            <a:endParaRPr lang="en-US" sz="1300" dirty="0"/>
          </a:p>
        </p:txBody>
      </p:sp>
      <p:sp>
        <p:nvSpPr>
          <p:cNvPr id="9" name="Shape 7"/>
          <p:cNvSpPr/>
          <p:nvPr/>
        </p:nvSpPr>
        <p:spPr>
          <a:xfrm>
            <a:off x="4343400" y="3127248"/>
            <a:ext cx="1325880" cy="365760"/>
          </a:xfrm>
          <a:prstGeom prst="roundRect">
            <a:avLst>
              <a:gd name="adj" fmla="val 50000"/>
            </a:avLst>
          </a:prstGeom>
          <a:solidFill>
            <a:srgbClr val="2FA85A"/>
          </a:solidFill>
          <a:ln w="12700">
            <a:solidFill>
              <a:srgbClr val="2FA85A"/>
            </a:solidFill>
            <a:prstDash val="solid"/>
          </a:ln>
        </p:spPr>
      </p:sp>
      <p:sp>
        <p:nvSpPr>
          <p:cNvPr id="10" name="Text 8"/>
          <p:cNvSpPr txBox="1"/>
          <p:nvPr/>
        </p:nvSpPr>
        <p:spPr>
          <a:xfrm>
            <a:off x="4343400" y="3127248"/>
            <a:ext cx="1325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COMPLETE</a:t>
            </a:r>
            <a:endParaRPr lang="en-US" sz="1100" dirty="0"/>
          </a:p>
        </p:txBody>
      </p:sp>
      <p:sp>
        <p:nvSpPr>
          <p:cNvPr id="11" name="Shape 9"/>
          <p:cNvSpPr/>
          <p:nvPr/>
        </p:nvSpPr>
        <p:spPr>
          <a:xfrm>
            <a:off x="6217920" y="1645920"/>
            <a:ext cx="5394960" cy="2057400"/>
          </a:xfrm>
          <a:prstGeom prst="roundRect">
            <a:avLst>
              <a:gd name="adj" fmla="val 5333"/>
            </a:avLst>
          </a:prstGeom>
          <a:solidFill>
            <a:srgbClr val="F2F3F5"/>
          </a:solidFill>
          <a:ln w="12700">
            <a:solidFill>
              <a:srgbClr val="F2F3F5"/>
            </a:solidFill>
            <a:prstDash val="solid"/>
          </a:ln>
        </p:spPr>
      </p:sp>
      <p:sp>
        <p:nvSpPr>
          <p:cNvPr id="12" name="Text 10"/>
          <p:cNvSpPr txBox="1"/>
          <p:nvPr/>
        </p:nvSpPr>
        <p:spPr>
          <a:xfrm>
            <a:off x="6537960" y="1920240"/>
            <a:ext cx="914400" cy="640080"/>
          </a:xfrm>
          <a:prstGeom prst="rect">
            <a:avLst/>
          </a:prstGeom>
          <a:noFill/>
          <a:ln/>
        </p:spPr>
        <p:txBody>
          <a:bodyPr wrap="square" lIns="0" tIns="0" rIns="0" bIns="0" rtlCol="0" anchor="ctr"/>
          <a:lstStyle/>
          <a:p>
            <a:pPr indent="0" marL="0">
              <a:buNone/>
            </a:pPr>
            <a:r>
              <a:rPr lang="en-US" sz="3600" b="1" dirty="0">
                <a:solidFill>
                  <a:srgbClr val="FF8A00"/>
                </a:solidFill>
                <a:latin typeface="Arial" pitchFamily="34" charset="0"/>
                <a:ea typeface="Arial" pitchFamily="34" charset="-122"/>
                <a:cs typeface="Arial" pitchFamily="34" charset="-120"/>
              </a:rPr>
              <a:t>02</a:t>
            </a:r>
            <a:endParaRPr lang="en-US" sz="3600" dirty="0"/>
          </a:p>
        </p:txBody>
      </p:sp>
      <p:sp>
        <p:nvSpPr>
          <p:cNvPr id="13" name="Text 11"/>
          <p:cNvSpPr txBox="1"/>
          <p:nvPr/>
        </p:nvSpPr>
        <p:spPr>
          <a:xfrm>
            <a:off x="7543800" y="1920240"/>
            <a:ext cx="3840480" cy="411480"/>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Goal progress</a:t>
            </a:r>
            <a:endParaRPr lang="en-US" sz="2000" dirty="0"/>
          </a:p>
        </p:txBody>
      </p:sp>
      <p:sp>
        <p:nvSpPr>
          <p:cNvPr id="14" name="Text 12"/>
          <p:cNvSpPr txBox="1"/>
          <p:nvPr/>
        </p:nvSpPr>
        <p:spPr>
          <a:xfrm>
            <a:off x="7543800" y="2377440"/>
            <a:ext cx="38404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Shot goals with progress rings and completion feedback, plus XP and levels on iOS</a:t>
            </a:r>
            <a:endParaRPr lang="en-US" sz="1400" dirty="0"/>
          </a:p>
        </p:txBody>
      </p:sp>
      <p:sp>
        <p:nvSpPr>
          <p:cNvPr id="15" name="Text 13"/>
          <p:cNvSpPr txBox="1"/>
          <p:nvPr/>
        </p:nvSpPr>
        <p:spPr>
          <a:xfrm>
            <a:off x="7543800" y="3154680"/>
            <a:ext cx="237744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Owner: Kaleb &amp; Melvin</a:t>
            </a:r>
            <a:endParaRPr lang="en-US" sz="1300" dirty="0"/>
          </a:p>
        </p:txBody>
      </p:sp>
      <p:sp>
        <p:nvSpPr>
          <p:cNvPr id="16" name="Shape 14"/>
          <p:cNvSpPr/>
          <p:nvPr/>
        </p:nvSpPr>
        <p:spPr>
          <a:xfrm>
            <a:off x="10012680" y="3127248"/>
            <a:ext cx="1325880" cy="365760"/>
          </a:xfrm>
          <a:prstGeom prst="roundRect">
            <a:avLst>
              <a:gd name="adj" fmla="val 50000"/>
            </a:avLst>
          </a:prstGeom>
          <a:solidFill>
            <a:srgbClr val="2FA85A"/>
          </a:solidFill>
          <a:ln w="12700">
            <a:solidFill>
              <a:srgbClr val="2FA85A"/>
            </a:solidFill>
            <a:prstDash val="solid"/>
          </a:ln>
        </p:spPr>
      </p:sp>
      <p:sp>
        <p:nvSpPr>
          <p:cNvPr id="17" name="Text 15"/>
          <p:cNvSpPr txBox="1"/>
          <p:nvPr/>
        </p:nvSpPr>
        <p:spPr>
          <a:xfrm>
            <a:off x="10012680" y="3127248"/>
            <a:ext cx="1325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COMPLETE</a:t>
            </a:r>
            <a:endParaRPr lang="en-US" sz="1100" dirty="0"/>
          </a:p>
        </p:txBody>
      </p:sp>
      <p:sp>
        <p:nvSpPr>
          <p:cNvPr id="18" name="Shape 16"/>
          <p:cNvSpPr/>
          <p:nvPr/>
        </p:nvSpPr>
        <p:spPr>
          <a:xfrm>
            <a:off x="548640" y="3977640"/>
            <a:ext cx="5394960" cy="2057400"/>
          </a:xfrm>
          <a:prstGeom prst="roundRect">
            <a:avLst>
              <a:gd name="adj" fmla="val 5333"/>
            </a:avLst>
          </a:prstGeom>
          <a:solidFill>
            <a:srgbClr val="F2F3F5"/>
          </a:solidFill>
          <a:ln w="12700">
            <a:solidFill>
              <a:srgbClr val="F2F3F5"/>
            </a:solidFill>
            <a:prstDash val="solid"/>
          </a:ln>
        </p:spPr>
      </p:sp>
      <p:sp>
        <p:nvSpPr>
          <p:cNvPr id="19" name="Text 17"/>
          <p:cNvSpPr txBox="1"/>
          <p:nvPr/>
        </p:nvSpPr>
        <p:spPr>
          <a:xfrm>
            <a:off x="868680" y="4251960"/>
            <a:ext cx="914400" cy="640080"/>
          </a:xfrm>
          <a:prstGeom prst="rect">
            <a:avLst/>
          </a:prstGeom>
          <a:noFill/>
          <a:ln/>
        </p:spPr>
        <p:txBody>
          <a:bodyPr wrap="square" lIns="0" tIns="0" rIns="0" bIns="0" rtlCol="0" anchor="ctr"/>
          <a:lstStyle/>
          <a:p>
            <a:pPr indent="0" marL="0">
              <a:buNone/>
            </a:pPr>
            <a:r>
              <a:rPr lang="en-US" sz="3600" b="1" dirty="0">
                <a:solidFill>
                  <a:srgbClr val="FF8A00"/>
                </a:solidFill>
                <a:latin typeface="Arial" pitchFamily="34" charset="0"/>
                <a:ea typeface="Arial" pitchFamily="34" charset="-122"/>
                <a:cs typeface="Arial" pitchFamily="34" charset="-120"/>
              </a:rPr>
              <a:t>03</a:t>
            </a:r>
            <a:endParaRPr lang="en-US" sz="3600" dirty="0"/>
          </a:p>
        </p:txBody>
      </p:sp>
      <p:sp>
        <p:nvSpPr>
          <p:cNvPr id="20" name="Text 18"/>
          <p:cNvSpPr txBox="1"/>
          <p:nvPr/>
        </p:nvSpPr>
        <p:spPr>
          <a:xfrm>
            <a:off x="1874520" y="4251960"/>
            <a:ext cx="3840480" cy="411480"/>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Android port (~90%)</a:t>
            </a:r>
            <a:endParaRPr lang="en-US" sz="2000" dirty="0"/>
          </a:p>
        </p:txBody>
      </p:sp>
      <p:sp>
        <p:nvSpPr>
          <p:cNvPr id="21" name="Text 19"/>
          <p:cNvSpPr txBox="1"/>
          <p:nvPr/>
        </p:nvSpPr>
        <p:spPr>
          <a:xfrm>
            <a:off x="1874520" y="4709160"/>
            <a:ext cx="38404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All major iOS flows working in the Android emulator</a:t>
            </a:r>
            <a:endParaRPr lang="en-US" sz="1400" dirty="0"/>
          </a:p>
        </p:txBody>
      </p:sp>
      <p:sp>
        <p:nvSpPr>
          <p:cNvPr id="22" name="Text 20"/>
          <p:cNvSpPr txBox="1"/>
          <p:nvPr/>
        </p:nvSpPr>
        <p:spPr>
          <a:xfrm>
            <a:off x="1874520" y="5486400"/>
            <a:ext cx="237744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Owner: Kellam</a:t>
            </a:r>
            <a:endParaRPr lang="en-US" sz="1300" dirty="0"/>
          </a:p>
        </p:txBody>
      </p:sp>
      <p:sp>
        <p:nvSpPr>
          <p:cNvPr id="23" name="Shape 21"/>
          <p:cNvSpPr/>
          <p:nvPr/>
        </p:nvSpPr>
        <p:spPr>
          <a:xfrm>
            <a:off x="4343400" y="5458968"/>
            <a:ext cx="1325880" cy="365760"/>
          </a:xfrm>
          <a:prstGeom prst="roundRect">
            <a:avLst>
              <a:gd name="adj" fmla="val 50000"/>
            </a:avLst>
          </a:prstGeom>
          <a:solidFill>
            <a:srgbClr val="2FA85A"/>
          </a:solidFill>
          <a:ln w="12700">
            <a:solidFill>
              <a:srgbClr val="2FA85A"/>
            </a:solidFill>
            <a:prstDash val="solid"/>
          </a:ln>
        </p:spPr>
      </p:sp>
      <p:sp>
        <p:nvSpPr>
          <p:cNvPr id="24" name="Text 22"/>
          <p:cNvSpPr txBox="1"/>
          <p:nvPr/>
        </p:nvSpPr>
        <p:spPr>
          <a:xfrm>
            <a:off x="4343400" y="5458968"/>
            <a:ext cx="1325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COMPLETE</a:t>
            </a:r>
            <a:endParaRPr lang="en-US" sz="1100" dirty="0"/>
          </a:p>
        </p:txBody>
      </p:sp>
      <p:sp>
        <p:nvSpPr>
          <p:cNvPr id="25" name="Shape 23"/>
          <p:cNvSpPr/>
          <p:nvPr/>
        </p:nvSpPr>
        <p:spPr>
          <a:xfrm>
            <a:off x="6217920" y="3977640"/>
            <a:ext cx="5394960" cy="2057400"/>
          </a:xfrm>
          <a:prstGeom prst="roundRect">
            <a:avLst>
              <a:gd name="adj" fmla="val 5333"/>
            </a:avLst>
          </a:prstGeom>
          <a:solidFill>
            <a:srgbClr val="F2F3F5"/>
          </a:solidFill>
          <a:ln w="12700">
            <a:solidFill>
              <a:srgbClr val="F2F3F5"/>
            </a:solidFill>
            <a:prstDash val="solid"/>
          </a:ln>
        </p:spPr>
      </p:sp>
      <p:sp>
        <p:nvSpPr>
          <p:cNvPr id="26" name="Text 24"/>
          <p:cNvSpPr txBox="1"/>
          <p:nvPr/>
        </p:nvSpPr>
        <p:spPr>
          <a:xfrm>
            <a:off x="6537960" y="4251960"/>
            <a:ext cx="914400" cy="640080"/>
          </a:xfrm>
          <a:prstGeom prst="rect">
            <a:avLst/>
          </a:prstGeom>
          <a:noFill/>
          <a:ln/>
        </p:spPr>
        <p:txBody>
          <a:bodyPr wrap="square" lIns="0" tIns="0" rIns="0" bIns="0" rtlCol="0" anchor="ctr"/>
          <a:lstStyle/>
          <a:p>
            <a:pPr indent="0" marL="0">
              <a:buNone/>
            </a:pPr>
            <a:r>
              <a:rPr lang="en-US" sz="3600" b="1" dirty="0">
                <a:solidFill>
                  <a:srgbClr val="FF8A00"/>
                </a:solidFill>
                <a:latin typeface="Arial" pitchFamily="34" charset="0"/>
                <a:ea typeface="Arial" pitchFamily="34" charset="-122"/>
                <a:cs typeface="Arial" pitchFamily="34" charset="-120"/>
              </a:rPr>
              <a:t>04</a:t>
            </a:r>
            <a:endParaRPr lang="en-US" sz="3600" dirty="0"/>
          </a:p>
        </p:txBody>
      </p:sp>
      <p:sp>
        <p:nvSpPr>
          <p:cNvPr id="27" name="Text 25"/>
          <p:cNvSpPr txBox="1"/>
          <p:nvPr/>
        </p:nvSpPr>
        <p:spPr>
          <a:xfrm>
            <a:off x="7543800" y="4251960"/>
            <a:ext cx="3840480" cy="411480"/>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Wear OS integration</a:t>
            </a:r>
            <a:endParaRPr lang="en-US" sz="2000" dirty="0"/>
          </a:p>
        </p:txBody>
      </p:sp>
      <p:sp>
        <p:nvSpPr>
          <p:cNvPr id="28" name="Text 26"/>
          <p:cNvSpPr txBox="1"/>
          <p:nvPr/>
        </p:nvSpPr>
        <p:spPr>
          <a:xfrm>
            <a:off x="7543800" y="4709160"/>
            <a:ext cx="3840480" cy="68580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Watch logs shots and syncs with the Android phone</a:t>
            </a:r>
            <a:endParaRPr lang="en-US" sz="1400" dirty="0"/>
          </a:p>
        </p:txBody>
      </p:sp>
      <p:sp>
        <p:nvSpPr>
          <p:cNvPr id="29" name="Text 27"/>
          <p:cNvSpPr txBox="1"/>
          <p:nvPr/>
        </p:nvSpPr>
        <p:spPr>
          <a:xfrm>
            <a:off x="7543800" y="5486400"/>
            <a:ext cx="2377440" cy="320040"/>
          </a:xfrm>
          <a:prstGeom prst="rect">
            <a:avLst/>
          </a:prstGeom>
          <a:noFill/>
          <a:ln/>
        </p:spPr>
        <p:txBody>
          <a:bodyPr wrap="square" lIns="0" tIns="0" rIns="0" bIns="0" rtlCol="0" anchor="ctr"/>
          <a:lstStyle/>
          <a:p>
            <a:pPr indent="0" marL="0">
              <a:buNone/>
            </a:pPr>
            <a:r>
              <a:rPr lang="en-US" sz="1300" b="1" dirty="0">
                <a:solidFill>
                  <a:srgbClr val="1F2328"/>
                </a:solidFill>
                <a:latin typeface="Calibri" pitchFamily="34" charset="0"/>
                <a:ea typeface="Calibri" pitchFamily="34" charset="-122"/>
                <a:cs typeface="Calibri" pitchFamily="34" charset="-120"/>
              </a:rPr>
              <a:t>Owner: Kellam</a:t>
            </a:r>
            <a:endParaRPr lang="en-US" sz="1300" dirty="0"/>
          </a:p>
        </p:txBody>
      </p:sp>
      <p:sp>
        <p:nvSpPr>
          <p:cNvPr id="30" name="Shape 28"/>
          <p:cNvSpPr/>
          <p:nvPr/>
        </p:nvSpPr>
        <p:spPr>
          <a:xfrm>
            <a:off x="10012680" y="5458968"/>
            <a:ext cx="1325880" cy="365760"/>
          </a:xfrm>
          <a:prstGeom prst="roundRect">
            <a:avLst>
              <a:gd name="adj" fmla="val 50000"/>
            </a:avLst>
          </a:prstGeom>
          <a:solidFill>
            <a:srgbClr val="2FA85A"/>
          </a:solidFill>
          <a:ln w="12700">
            <a:solidFill>
              <a:srgbClr val="2FA85A"/>
            </a:solidFill>
            <a:prstDash val="solid"/>
          </a:ln>
        </p:spPr>
      </p:sp>
      <p:sp>
        <p:nvSpPr>
          <p:cNvPr id="31" name="Text 29"/>
          <p:cNvSpPr txBox="1"/>
          <p:nvPr/>
        </p:nvSpPr>
        <p:spPr>
          <a:xfrm>
            <a:off x="10012680" y="5458968"/>
            <a:ext cx="13258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COMPLETE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FEATURE · KELLAM ADAMS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Android &amp; Wear OS port</a:t>
            </a:r>
            <a:endParaRPr lang="en-US" sz="3400" dirty="0"/>
          </a:p>
        </p:txBody>
      </p:sp>
      <p:sp>
        <p:nvSpPr>
          <p:cNvPr id="4" name="Text 2"/>
          <p:cNvSpPr txBox="1"/>
          <p:nvPr/>
        </p:nvSpPr>
        <p:spPr>
          <a:xfrm>
            <a:off x="548640" y="1600200"/>
            <a:ext cx="55778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Kotlin + Jetpack Compose project with phone, watch, and shared modules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8 phone screens ported: Dashboard, Drills, Drill Details, Workout, History, Analytics, Goals, Settings</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Watch: court view, swipe to log shots (up = make, down = miss, right = swish), workout summary</a:t>
            </a:r>
            <a:endParaRPr lang="en-US" sz="1600" dirty="0"/>
          </a:p>
          <a:p>
            <a:pPr marL="342900" indent="-342900">
              <a:spcAft>
                <a:spcPts val="1000"/>
              </a:spcAft>
              <a:buSzPct val="100000"/>
              <a:buChar char="•"/>
            </a:pPr>
            <a:r>
              <a:rPr lang="en-US" sz="1600" dirty="0">
                <a:solidFill>
                  <a:srgbClr val="1F2328"/>
                </a:solidFill>
                <a:latin typeface="Calibri" pitchFamily="34" charset="0"/>
                <a:ea typeface="Calibri" pitchFamily="34" charset="-122"/>
                <a:cs typeface="Calibri" pitchFamily="34" charset="-120"/>
              </a:rPr>
              <a:t>Same shot codes and drill data as the Apple version</a:t>
            </a:r>
            <a:endParaRPr lang="en-US" sz="1600" dirty="0"/>
          </a:p>
        </p:txBody>
      </p:sp>
      <p:sp>
        <p:nvSpPr>
          <p:cNvPr id="5" name="Shape 3"/>
          <p:cNvSpPr/>
          <p:nvPr/>
        </p:nvSpPr>
        <p:spPr>
          <a:xfrm>
            <a:off x="548640" y="4892040"/>
            <a:ext cx="5577840" cy="1325880"/>
          </a:xfrm>
          <a:prstGeom prst="roundRect">
            <a:avLst>
              <a:gd name="adj" fmla="val 8276"/>
            </a:avLst>
          </a:prstGeom>
          <a:solidFill>
            <a:srgbClr val="F2F3F5"/>
          </a:solidFill>
          <a:ln w="12700">
            <a:solidFill>
              <a:srgbClr val="F2F3F5"/>
            </a:solidFill>
            <a:prstDash val="solid"/>
          </a:ln>
        </p:spPr>
      </p:sp>
      <p:sp>
        <p:nvSpPr>
          <p:cNvPr id="6" name="Text 4"/>
          <p:cNvSpPr txBox="1"/>
          <p:nvPr/>
        </p:nvSpPr>
        <p:spPr>
          <a:xfrm>
            <a:off x="822960" y="5029200"/>
            <a:ext cx="2194560" cy="1005840"/>
          </a:xfrm>
          <a:prstGeom prst="rect">
            <a:avLst/>
          </a:prstGeom>
          <a:noFill/>
          <a:ln/>
        </p:spPr>
        <p:txBody>
          <a:bodyPr wrap="square" lIns="0" tIns="0" rIns="0" bIns="0" rtlCol="0" anchor="ctr"/>
          <a:lstStyle/>
          <a:p>
            <a:pPr indent="0" marL="0">
              <a:buNone/>
            </a:pPr>
            <a:r>
              <a:rPr lang="en-US" sz="4400" b="1" dirty="0">
                <a:solidFill>
                  <a:srgbClr val="FF8A00"/>
                </a:solidFill>
                <a:latin typeface="Arial" pitchFamily="34" charset="0"/>
                <a:ea typeface="Arial" pitchFamily="34" charset="-122"/>
                <a:cs typeface="Arial" pitchFamily="34" charset="-120"/>
              </a:rPr>
              <a:t>14 / 16</a:t>
            </a:r>
            <a:endParaRPr lang="en-US" sz="4400" dirty="0"/>
          </a:p>
        </p:txBody>
      </p:sp>
      <p:sp>
        <p:nvSpPr>
          <p:cNvPr id="7" name="Text 5"/>
          <p:cNvSpPr txBox="1"/>
          <p:nvPr/>
        </p:nvSpPr>
        <p:spPr>
          <a:xfrm>
            <a:off x="3063240" y="5029200"/>
            <a:ext cx="2880360" cy="1005840"/>
          </a:xfrm>
          <a:prstGeom prst="rect">
            <a:avLst/>
          </a:prstGeom>
          <a:noFill/>
          <a:ln/>
        </p:spPr>
        <p:txBody>
          <a:bodyPr wrap="square" lIns="0" tIns="0" rIns="0" bIns="0" rtlCol="0" anchor="ctr"/>
          <a:lstStyle/>
          <a:p>
            <a:pPr indent="0" marL="0">
              <a:buNone/>
            </a:pPr>
            <a:r>
              <a:rPr lang="en-US" sz="1400" dirty="0">
                <a:solidFill>
                  <a:srgbClr val="5B6573"/>
                </a:solidFill>
                <a:latin typeface="Calibri" pitchFamily="34" charset="0"/>
                <a:ea typeface="Calibri" pitchFamily="34" charset="-122"/>
                <a:cs typeface="Calibri" pitchFamily="34" charset="-120"/>
              </a:rPr>
              <a:t>iOS/watchOS features at full parity (~90%). Settings polish and disconnect recovery are next.</a:t>
            </a:r>
            <a:endParaRPr lang="en-US" sz="1400" dirty="0"/>
          </a:p>
        </p:txBody>
      </p:sp>
      <p:pic>
        <p:nvPicPr>
          <p:cNvPr id="8" name="Image 0" descr="preencoded.png">    </p:cNvPr>
          <p:cNvPicPr>
            <a:picLocks noChangeAspect="1"/>
          </p:cNvPicPr>
          <p:nvPr/>
        </p:nvPicPr>
        <p:blipFill>
          <a:blip r:embed="rId1"/>
          <a:stretch>
            <a:fillRect/>
          </a:stretch>
        </p:blipFill>
        <p:spPr>
          <a:xfrm>
            <a:off x="6583680" y="1463040"/>
            <a:ext cx="3200400" cy="4385733"/>
          </a:xfrm>
          <a:prstGeom prst="rect">
            <a:avLst/>
          </a:prstGeom>
          <a:effectLst>
            <a:outerShdw sx="100000" sy="100000" kx="0" ky="0" algn="bl" rotWithShape="0" blurRad="101600" dist="38100" dir="5400000">
              <a:srgbClr val="000000">
                <a:alpha val="25000"/>
              </a:srgbClr>
            </a:outerShdw>
          </a:effectLst>
        </p:spPr>
      </p:pic>
      <p:pic>
        <p:nvPicPr>
          <p:cNvPr id="9" name="Image 1" descr="preencoded.png">    </p:cNvPr>
          <p:cNvPicPr>
            <a:picLocks noChangeAspect="1"/>
          </p:cNvPicPr>
          <p:nvPr/>
        </p:nvPicPr>
        <p:blipFill>
          <a:blip r:embed="rId2"/>
          <a:stretch>
            <a:fillRect/>
          </a:stretch>
        </p:blipFill>
        <p:spPr>
          <a:xfrm>
            <a:off x="10012680" y="2286000"/>
            <a:ext cx="1874520" cy="1874520"/>
          </a:xfrm>
          <a:prstGeom prst="rect">
            <a:avLst/>
          </a:prstGeom>
        </p:spPr>
      </p:pic>
      <p:sp>
        <p:nvSpPr>
          <p:cNvPr id="10" name="Text 6"/>
          <p:cNvSpPr txBox="1"/>
          <p:nvPr/>
        </p:nvSpPr>
        <p:spPr>
          <a:xfrm>
            <a:off x="9692640" y="4343400"/>
            <a:ext cx="2468880" cy="548640"/>
          </a:xfrm>
          <a:prstGeom prst="rect">
            <a:avLst/>
          </a:prstGeom>
          <a:noFill/>
          <a:ln/>
        </p:spPr>
        <p:txBody>
          <a:bodyPr wrap="square" lIns="0" tIns="0" rIns="0" bIns="0" rtlCol="0" anchor="ctr"/>
          <a:lstStyle/>
          <a:p>
            <a:pPr algn="ctr" indent="0" marL="0">
              <a:buNone/>
            </a:pPr>
            <a:r>
              <a:rPr lang="en-US" sz="1200" dirty="0">
                <a:solidFill>
                  <a:srgbClr val="5B6573"/>
                </a:solidFill>
                <a:latin typeface="Calibri" pitchFamily="34" charset="0"/>
                <a:ea typeface="Calibri" pitchFamily="34" charset="-122"/>
                <a:cs typeface="Calibri" pitchFamily="34" charset="-120"/>
              </a:rPr>
              <a:t>Pixel phone + Wear OS emulator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FEATURE · MELVIN SANARE</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Streak tracking</a:t>
            </a:r>
            <a:endParaRPr lang="en-US" sz="3400" dirty="0"/>
          </a:p>
        </p:txBody>
      </p:sp>
      <p:pic>
        <p:nvPicPr>
          <p:cNvPr id="4" name="Image 0" descr="preencoded.png">    </p:cNvPr>
          <p:cNvPicPr>
            <a:picLocks noChangeAspect="1"/>
          </p:cNvPicPr>
          <p:nvPr/>
        </p:nvPicPr>
        <p:blipFill>
          <a:blip r:embed="rId1"/>
          <a:stretch>
            <a:fillRect/>
          </a:stretch>
        </p:blipFill>
        <p:spPr>
          <a:xfrm>
            <a:off x="548640" y="1645920"/>
            <a:ext cx="5577840" cy="2788920"/>
          </a:xfrm>
          <a:prstGeom prst="rect">
            <a:avLst/>
          </a:prstGeom>
          <a:effectLst>
            <a:outerShdw sx="100000" sy="100000" kx="0" ky="0" algn="bl" rotWithShape="0" blurRad="101600" dist="38100" dir="5400000">
              <a:srgbClr val="000000">
                <a:alpha val="25000"/>
              </a:srgbClr>
            </a:outerShdw>
          </a:effectLst>
        </p:spPr>
      </p:pic>
      <p:sp>
        <p:nvSpPr>
          <p:cNvPr id="5" name="Text 2"/>
          <p:cNvSpPr txBox="1"/>
          <p:nvPr/>
        </p:nvSpPr>
        <p:spPr>
          <a:xfrm>
            <a:off x="548640" y="4709160"/>
            <a:ext cx="5577840" cy="731520"/>
          </a:xfrm>
          <a:prstGeom prst="rect">
            <a:avLst/>
          </a:prstGeom>
          <a:noFill/>
          <a:ln/>
        </p:spPr>
        <p:txBody>
          <a:bodyPr wrap="square" lIns="0" tIns="0" rIns="0" bIns="0" rtlCol="0" anchor="t"/>
          <a:lstStyle/>
          <a:p>
            <a:pPr indent="0" marL="0">
              <a:buNone/>
            </a:pPr>
            <a:r>
              <a:rPr lang="en-US" sz="1500" b="1" dirty="0">
                <a:solidFill>
                  <a:srgbClr val="1F2328"/>
                </a:solidFill>
                <a:latin typeface="Calibri" pitchFamily="34" charset="0"/>
                <a:ea typeface="Calibri" pitchFamily="34" charset="-122"/>
                <a:cs typeface="Calibri" pitchFamily="34" charset="-120"/>
              </a:rPr>
              <a:t>After a workout: </a:t>
            </a:r>
            <a:pPr indent="0" marL="0">
              <a:buNone/>
            </a:pPr>
            <a:r>
              <a:rPr lang="en-US" sz="1500" dirty="0">
                <a:solidFill>
                  <a:srgbClr val="5B6573"/>
                </a:solidFill>
                <a:latin typeface="Calibri" pitchFamily="34" charset="0"/>
                <a:ea typeface="Calibri" pitchFamily="34" charset="-122"/>
                <a:cs typeface="Calibri" pitchFamily="34" charset="-120"/>
              </a:rPr>
              <a:t>“Streak started!” · “Streak continued!” · “New personal best!” · “Milestone reached!”</a:t>
            </a:r>
            <a:endParaRPr lang="en-US" sz="1500" dirty="0"/>
          </a:p>
        </p:txBody>
      </p:sp>
      <p:sp>
        <p:nvSpPr>
          <p:cNvPr id="6" name="Shape 3"/>
          <p:cNvSpPr/>
          <p:nvPr/>
        </p:nvSpPr>
        <p:spPr>
          <a:xfrm>
            <a:off x="6583680" y="1645920"/>
            <a:ext cx="685800" cy="685800"/>
          </a:xfrm>
          <a:prstGeom prst="ellipse">
            <a:avLst/>
          </a:prstGeom>
          <a:solidFill>
            <a:srgbClr val="FF8A00"/>
          </a:solidFill>
          <a:ln w="12700">
            <a:solidFill>
              <a:srgbClr val="FF8A00"/>
            </a:solidFill>
            <a:prstDash val="solid"/>
          </a:ln>
        </p:spPr>
      </p:sp>
      <p:pic>
        <p:nvPicPr>
          <p:cNvPr id="7" name="Image 1" descr="preencoded.png">    </p:cNvPr>
          <p:cNvPicPr>
            <a:picLocks noChangeAspect="1"/>
          </p:cNvPicPr>
          <p:nvPr/>
        </p:nvPicPr>
        <p:blipFill>
          <a:blip r:embed="rId2"/>
          <a:stretch>
            <a:fillRect/>
          </a:stretch>
        </p:blipFill>
        <p:spPr>
          <a:xfrm>
            <a:off x="6748272" y="1810512"/>
            <a:ext cx="356616" cy="356616"/>
          </a:xfrm>
          <a:prstGeom prst="rect">
            <a:avLst/>
          </a:prstGeom>
        </p:spPr>
      </p:pic>
      <p:sp>
        <p:nvSpPr>
          <p:cNvPr id="8" name="Text 4"/>
          <p:cNvSpPr txBox="1"/>
          <p:nvPr/>
        </p:nvSpPr>
        <p:spPr>
          <a:xfrm>
            <a:off x="7452360" y="1627632"/>
            <a:ext cx="4206240" cy="36576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Training day</a:t>
            </a:r>
            <a:endParaRPr lang="en-US" sz="1700" dirty="0"/>
          </a:p>
        </p:txBody>
      </p:sp>
      <p:sp>
        <p:nvSpPr>
          <p:cNvPr id="9" name="Text 5"/>
          <p:cNvSpPr txBox="1"/>
          <p:nvPr/>
        </p:nvSpPr>
        <p:spPr>
          <a:xfrm>
            <a:off x="7452360" y="1993392"/>
            <a:ext cx="420624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Any day with 1+ workout. Two sessions on one day still count as 1 day.</a:t>
            </a:r>
            <a:endParaRPr lang="en-US" sz="1400" dirty="0"/>
          </a:p>
        </p:txBody>
      </p:sp>
      <p:sp>
        <p:nvSpPr>
          <p:cNvPr id="10" name="Shape 6"/>
          <p:cNvSpPr/>
          <p:nvPr/>
        </p:nvSpPr>
        <p:spPr>
          <a:xfrm>
            <a:off x="6583680" y="2788920"/>
            <a:ext cx="685800" cy="685800"/>
          </a:xfrm>
          <a:prstGeom prst="ellipse">
            <a:avLst/>
          </a:prstGeom>
          <a:solidFill>
            <a:srgbClr val="FF8A00"/>
          </a:solidFill>
          <a:ln w="12700">
            <a:solidFill>
              <a:srgbClr val="FF8A00"/>
            </a:solidFill>
            <a:prstDash val="solid"/>
          </a:ln>
        </p:spPr>
      </p:sp>
      <p:pic>
        <p:nvPicPr>
          <p:cNvPr id="11" name="Image 2" descr="preencoded.png">    </p:cNvPr>
          <p:cNvPicPr>
            <a:picLocks noChangeAspect="1"/>
          </p:cNvPicPr>
          <p:nvPr/>
        </p:nvPicPr>
        <p:blipFill>
          <a:blip r:embed="rId3"/>
          <a:stretch>
            <a:fillRect/>
          </a:stretch>
        </p:blipFill>
        <p:spPr>
          <a:xfrm>
            <a:off x="6748272" y="2953512"/>
            <a:ext cx="356616" cy="356616"/>
          </a:xfrm>
          <a:prstGeom prst="rect">
            <a:avLst/>
          </a:prstGeom>
        </p:spPr>
      </p:pic>
      <p:sp>
        <p:nvSpPr>
          <p:cNvPr id="12" name="Text 7"/>
          <p:cNvSpPr txBox="1"/>
          <p:nvPr/>
        </p:nvSpPr>
        <p:spPr>
          <a:xfrm>
            <a:off x="7452360" y="2770632"/>
            <a:ext cx="4206240" cy="36576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Rest day</a:t>
            </a:r>
            <a:endParaRPr lang="en-US" sz="1700" dirty="0"/>
          </a:p>
        </p:txBody>
      </p:sp>
      <p:sp>
        <p:nvSpPr>
          <p:cNvPr id="13" name="Text 8"/>
          <p:cNvSpPr txBox="1"/>
          <p:nvPr/>
        </p:nvSpPr>
        <p:spPr>
          <a:xfrm>
            <a:off x="7452360" y="3136392"/>
            <a:ext cx="420624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One missed day keeps the streak alive, since rest is part of training.</a:t>
            </a:r>
            <a:endParaRPr lang="en-US" sz="1400" dirty="0"/>
          </a:p>
        </p:txBody>
      </p:sp>
      <p:sp>
        <p:nvSpPr>
          <p:cNvPr id="14" name="Shape 9"/>
          <p:cNvSpPr/>
          <p:nvPr/>
        </p:nvSpPr>
        <p:spPr>
          <a:xfrm>
            <a:off x="6583680" y="3931920"/>
            <a:ext cx="685800" cy="685800"/>
          </a:xfrm>
          <a:prstGeom prst="ellipse">
            <a:avLst/>
          </a:prstGeom>
          <a:solidFill>
            <a:srgbClr val="FF8A00"/>
          </a:solidFill>
          <a:ln w="12700">
            <a:solidFill>
              <a:srgbClr val="FF8A00"/>
            </a:solidFill>
            <a:prstDash val="solid"/>
          </a:ln>
        </p:spPr>
      </p:sp>
      <p:pic>
        <p:nvPicPr>
          <p:cNvPr id="15" name="Image 3" descr="preencoded.png">    </p:cNvPr>
          <p:cNvPicPr>
            <a:picLocks noChangeAspect="1"/>
          </p:cNvPicPr>
          <p:nvPr/>
        </p:nvPicPr>
        <p:blipFill>
          <a:blip r:embed="rId4"/>
          <a:stretch>
            <a:fillRect/>
          </a:stretch>
        </p:blipFill>
        <p:spPr>
          <a:xfrm>
            <a:off x="6748272" y="4096512"/>
            <a:ext cx="356616" cy="356616"/>
          </a:xfrm>
          <a:prstGeom prst="rect">
            <a:avLst/>
          </a:prstGeom>
        </p:spPr>
      </p:pic>
      <p:sp>
        <p:nvSpPr>
          <p:cNvPr id="16" name="Text 10"/>
          <p:cNvSpPr txBox="1"/>
          <p:nvPr/>
        </p:nvSpPr>
        <p:spPr>
          <a:xfrm>
            <a:off x="7452360" y="3913632"/>
            <a:ext cx="4206240" cy="36576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Reset</a:t>
            </a:r>
            <a:endParaRPr lang="en-US" sz="1700" dirty="0"/>
          </a:p>
        </p:txBody>
      </p:sp>
      <p:sp>
        <p:nvSpPr>
          <p:cNvPr id="17" name="Text 11"/>
          <p:cNvSpPr txBox="1"/>
          <p:nvPr/>
        </p:nvSpPr>
        <p:spPr>
          <a:xfrm>
            <a:off x="7452360" y="4279392"/>
            <a:ext cx="420624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Two missed days in a row reset the streak. The best streak is kept.</a:t>
            </a:r>
            <a:endParaRPr lang="en-US" sz="1400" dirty="0"/>
          </a:p>
        </p:txBody>
      </p:sp>
      <p:sp>
        <p:nvSpPr>
          <p:cNvPr id="18" name="Shape 12"/>
          <p:cNvSpPr/>
          <p:nvPr/>
        </p:nvSpPr>
        <p:spPr>
          <a:xfrm>
            <a:off x="6583680" y="5074920"/>
            <a:ext cx="685800" cy="685800"/>
          </a:xfrm>
          <a:prstGeom prst="ellipse">
            <a:avLst/>
          </a:prstGeom>
          <a:solidFill>
            <a:srgbClr val="FF8A00"/>
          </a:solidFill>
          <a:ln w="12700">
            <a:solidFill>
              <a:srgbClr val="FF8A00"/>
            </a:solidFill>
            <a:prstDash val="solid"/>
          </a:ln>
        </p:spPr>
      </p:sp>
      <p:pic>
        <p:nvPicPr>
          <p:cNvPr id="19" name="Image 4" descr="preencoded.png">    </p:cNvPr>
          <p:cNvPicPr>
            <a:picLocks noChangeAspect="1"/>
          </p:cNvPicPr>
          <p:nvPr/>
        </p:nvPicPr>
        <p:blipFill>
          <a:blip r:embed="rId5"/>
          <a:stretch>
            <a:fillRect/>
          </a:stretch>
        </p:blipFill>
        <p:spPr>
          <a:xfrm>
            <a:off x="6748272" y="5239512"/>
            <a:ext cx="356616" cy="356616"/>
          </a:xfrm>
          <a:prstGeom prst="rect">
            <a:avLst/>
          </a:prstGeom>
        </p:spPr>
      </p:pic>
      <p:sp>
        <p:nvSpPr>
          <p:cNvPr id="20" name="Text 13"/>
          <p:cNvSpPr txBox="1"/>
          <p:nvPr/>
        </p:nvSpPr>
        <p:spPr>
          <a:xfrm>
            <a:off x="7452360" y="5056632"/>
            <a:ext cx="4206240" cy="365760"/>
          </a:xfrm>
          <a:prstGeom prst="rect">
            <a:avLst/>
          </a:prstGeom>
          <a:noFill/>
          <a:ln/>
        </p:spPr>
        <p:txBody>
          <a:bodyPr wrap="square" lIns="0" tIns="0" rIns="0" bIns="0" rtlCol="0" anchor="ctr"/>
          <a:lstStyle/>
          <a:p>
            <a:pPr indent="0" marL="0">
              <a:buNone/>
            </a:pPr>
            <a:r>
              <a:rPr lang="en-US" sz="1700" b="1" dirty="0">
                <a:solidFill>
                  <a:srgbClr val="1F2328"/>
                </a:solidFill>
                <a:latin typeface="Arial" pitchFamily="34" charset="0"/>
                <a:ea typeface="Arial" pitchFamily="34" charset="-122"/>
                <a:cs typeface="Arial" pitchFamily="34" charset="-120"/>
              </a:rPr>
              <a:t>Milestones</a:t>
            </a:r>
            <a:endParaRPr lang="en-US" sz="1700" dirty="0"/>
          </a:p>
        </p:txBody>
      </p:sp>
      <p:sp>
        <p:nvSpPr>
          <p:cNvPr id="21" name="Text 14"/>
          <p:cNvSpPr txBox="1"/>
          <p:nvPr/>
        </p:nvSpPr>
        <p:spPr>
          <a:xfrm>
            <a:off x="7452360" y="5422392"/>
            <a:ext cx="420624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3, 7, 14, 30, 50, 100, and 365 days trigger a celebration.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FEATURE · MELVIN SANARE &amp; KALEB KEBEDE</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Goal progress</a:t>
            </a:r>
            <a:endParaRPr lang="en-US" sz="3400" dirty="0"/>
          </a:p>
        </p:txBody>
      </p:sp>
      <p:sp>
        <p:nvSpPr>
          <p:cNvPr id="4" name="Shape 2"/>
          <p:cNvSpPr/>
          <p:nvPr/>
        </p:nvSpPr>
        <p:spPr>
          <a:xfrm>
            <a:off x="548640" y="1645920"/>
            <a:ext cx="2606040" cy="1280160"/>
          </a:xfrm>
          <a:prstGeom prst="roundRect">
            <a:avLst>
              <a:gd name="adj" fmla="val 8571"/>
            </a:avLst>
          </a:prstGeom>
          <a:solidFill>
            <a:srgbClr val="F2F3F5"/>
          </a:solidFill>
          <a:ln w="12700">
            <a:solidFill>
              <a:srgbClr val="F2F3F5"/>
            </a:solidFill>
            <a:prstDash val="solid"/>
          </a:ln>
        </p:spPr>
      </p:sp>
      <p:sp>
        <p:nvSpPr>
          <p:cNvPr id="5" name="Text 3"/>
          <p:cNvSpPr txBox="1"/>
          <p:nvPr/>
        </p:nvSpPr>
        <p:spPr>
          <a:xfrm>
            <a:off x="777240" y="1783080"/>
            <a:ext cx="2194560" cy="640080"/>
          </a:xfrm>
          <a:prstGeom prst="rect">
            <a:avLst/>
          </a:prstGeom>
          <a:noFill/>
          <a:ln/>
        </p:spPr>
        <p:txBody>
          <a:bodyPr wrap="square" lIns="0" tIns="0" rIns="0" bIns="0" rtlCol="0" anchor="ctr"/>
          <a:lstStyle/>
          <a:p>
            <a:pPr indent="0" marL="0">
              <a:buNone/>
            </a:pPr>
            <a:r>
              <a:rPr lang="en-US" sz="3200" b="1" dirty="0">
                <a:solidFill>
                  <a:srgbClr val="FF8A00"/>
                </a:solidFill>
                <a:latin typeface="Arial" pitchFamily="34" charset="0"/>
                <a:ea typeface="Arial" pitchFamily="34" charset="-122"/>
                <a:cs typeface="Arial" pitchFamily="34" charset="-120"/>
              </a:rPr>
              <a:t>200</a:t>
            </a:r>
            <a:endParaRPr lang="en-US" sz="3200" dirty="0"/>
          </a:p>
        </p:txBody>
      </p:sp>
      <p:sp>
        <p:nvSpPr>
          <p:cNvPr id="6" name="Text 4"/>
          <p:cNvSpPr txBox="1"/>
          <p:nvPr/>
        </p:nvSpPr>
        <p:spPr>
          <a:xfrm>
            <a:off x="777240" y="2423160"/>
            <a:ext cx="2240280" cy="365760"/>
          </a:xfrm>
          <a:prstGeom prst="rect">
            <a:avLst/>
          </a:prstGeom>
          <a:noFill/>
          <a:ln/>
        </p:spPr>
        <p:txBody>
          <a:bodyPr wrap="square" lIns="0" tIns="0" rIns="0" bIns="0" rtlCol="0" anchor="ctr"/>
          <a:lstStyle/>
          <a:p>
            <a:pPr indent="0" marL="0">
              <a:buNone/>
            </a:pPr>
            <a:r>
              <a:rPr lang="en-US" sz="1400" dirty="0">
                <a:solidFill>
                  <a:srgbClr val="5B6573"/>
                </a:solidFill>
                <a:latin typeface="Calibri" pitchFamily="34" charset="0"/>
                <a:ea typeface="Calibri" pitchFamily="34" charset="-122"/>
                <a:cs typeface="Calibri" pitchFamily="34" charset="-120"/>
              </a:rPr>
              <a:t>Daily shots</a:t>
            </a:r>
            <a:endParaRPr lang="en-US" sz="1400" dirty="0"/>
          </a:p>
        </p:txBody>
      </p:sp>
      <p:sp>
        <p:nvSpPr>
          <p:cNvPr id="7" name="Shape 5"/>
          <p:cNvSpPr/>
          <p:nvPr/>
        </p:nvSpPr>
        <p:spPr>
          <a:xfrm>
            <a:off x="3383280" y="1645920"/>
            <a:ext cx="2606040" cy="1280160"/>
          </a:xfrm>
          <a:prstGeom prst="roundRect">
            <a:avLst>
              <a:gd name="adj" fmla="val 8571"/>
            </a:avLst>
          </a:prstGeom>
          <a:solidFill>
            <a:srgbClr val="F2F3F5"/>
          </a:solidFill>
          <a:ln w="12700">
            <a:solidFill>
              <a:srgbClr val="F2F3F5"/>
            </a:solidFill>
            <a:prstDash val="solid"/>
          </a:ln>
        </p:spPr>
      </p:sp>
      <p:sp>
        <p:nvSpPr>
          <p:cNvPr id="8" name="Text 6"/>
          <p:cNvSpPr txBox="1"/>
          <p:nvPr/>
        </p:nvSpPr>
        <p:spPr>
          <a:xfrm>
            <a:off x="3611880" y="1783080"/>
            <a:ext cx="2194560" cy="640080"/>
          </a:xfrm>
          <a:prstGeom prst="rect">
            <a:avLst/>
          </a:prstGeom>
          <a:noFill/>
          <a:ln/>
        </p:spPr>
        <p:txBody>
          <a:bodyPr wrap="square" lIns="0" tIns="0" rIns="0" bIns="0" rtlCol="0" anchor="ctr"/>
          <a:lstStyle/>
          <a:p>
            <a:pPr indent="0" marL="0">
              <a:buNone/>
            </a:pPr>
            <a:r>
              <a:rPr lang="en-US" sz="3200" b="1" dirty="0">
                <a:solidFill>
                  <a:srgbClr val="FF8A00"/>
                </a:solidFill>
                <a:latin typeface="Arial" pitchFamily="34" charset="0"/>
                <a:ea typeface="Arial" pitchFamily="34" charset="-122"/>
                <a:cs typeface="Arial" pitchFamily="34" charset="-120"/>
              </a:rPr>
              <a:t>100</a:t>
            </a:r>
            <a:endParaRPr lang="en-US" sz="3200" dirty="0"/>
          </a:p>
        </p:txBody>
      </p:sp>
      <p:sp>
        <p:nvSpPr>
          <p:cNvPr id="9" name="Text 7"/>
          <p:cNvSpPr txBox="1"/>
          <p:nvPr/>
        </p:nvSpPr>
        <p:spPr>
          <a:xfrm>
            <a:off x="3611880" y="2423160"/>
            <a:ext cx="2240280" cy="365760"/>
          </a:xfrm>
          <a:prstGeom prst="rect">
            <a:avLst/>
          </a:prstGeom>
          <a:noFill/>
          <a:ln/>
        </p:spPr>
        <p:txBody>
          <a:bodyPr wrap="square" lIns="0" tIns="0" rIns="0" bIns="0" rtlCol="0" anchor="ctr"/>
          <a:lstStyle/>
          <a:p>
            <a:pPr indent="0" marL="0">
              <a:buNone/>
            </a:pPr>
            <a:r>
              <a:rPr lang="en-US" sz="1400" dirty="0">
                <a:solidFill>
                  <a:srgbClr val="5B6573"/>
                </a:solidFill>
                <a:latin typeface="Calibri" pitchFamily="34" charset="0"/>
                <a:ea typeface="Calibri" pitchFamily="34" charset="-122"/>
                <a:cs typeface="Calibri" pitchFamily="34" charset="-120"/>
              </a:rPr>
              <a:t>Daily makes</a:t>
            </a:r>
            <a:endParaRPr lang="en-US" sz="1400" dirty="0"/>
          </a:p>
        </p:txBody>
      </p:sp>
      <p:sp>
        <p:nvSpPr>
          <p:cNvPr id="10" name="Shape 8"/>
          <p:cNvSpPr/>
          <p:nvPr/>
        </p:nvSpPr>
        <p:spPr>
          <a:xfrm>
            <a:off x="548640" y="3154680"/>
            <a:ext cx="2606040" cy="1280160"/>
          </a:xfrm>
          <a:prstGeom prst="roundRect">
            <a:avLst>
              <a:gd name="adj" fmla="val 8571"/>
            </a:avLst>
          </a:prstGeom>
          <a:solidFill>
            <a:srgbClr val="F2F3F5"/>
          </a:solidFill>
          <a:ln w="12700">
            <a:solidFill>
              <a:srgbClr val="F2F3F5"/>
            </a:solidFill>
            <a:prstDash val="solid"/>
          </a:ln>
        </p:spPr>
      </p:sp>
      <p:sp>
        <p:nvSpPr>
          <p:cNvPr id="11" name="Text 9"/>
          <p:cNvSpPr txBox="1"/>
          <p:nvPr/>
        </p:nvSpPr>
        <p:spPr>
          <a:xfrm>
            <a:off x="777240" y="3291840"/>
            <a:ext cx="2194560" cy="640080"/>
          </a:xfrm>
          <a:prstGeom prst="rect">
            <a:avLst/>
          </a:prstGeom>
          <a:noFill/>
          <a:ln/>
        </p:spPr>
        <p:txBody>
          <a:bodyPr wrap="square" lIns="0" tIns="0" rIns="0" bIns="0" rtlCol="0" anchor="ctr"/>
          <a:lstStyle/>
          <a:p>
            <a:pPr indent="0" marL="0">
              <a:buNone/>
            </a:pPr>
            <a:r>
              <a:rPr lang="en-US" sz="3200" b="1" dirty="0">
                <a:solidFill>
                  <a:srgbClr val="FF8A00"/>
                </a:solidFill>
                <a:latin typeface="Arial" pitchFamily="34" charset="0"/>
                <a:ea typeface="Arial" pitchFamily="34" charset="-122"/>
                <a:cs typeface="Arial" pitchFamily="34" charset="-120"/>
              </a:rPr>
              <a:t>5</a:t>
            </a:r>
            <a:endParaRPr lang="en-US" sz="3200" dirty="0"/>
          </a:p>
        </p:txBody>
      </p:sp>
      <p:sp>
        <p:nvSpPr>
          <p:cNvPr id="12" name="Text 10"/>
          <p:cNvSpPr txBox="1"/>
          <p:nvPr/>
        </p:nvSpPr>
        <p:spPr>
          <a:xfrm>
            <a:off x="777240" y="3931920"/>
            <a:ext cx="2240280" cy="365760"/>
          </a:xfrm>
          <a:prstGeom prst="rect">
            <a:avLst/>
          </a:prstGeom>
          <a:noFill/>
          <a:ln/>
        </p:spPr>
        <p:txBody>
          <a:bodyPr wrap="square" lIns="0" tIns="0" rIns="0" bIns="0" rtlCol="0" anchor="ctr"/>
          <a:lstStyle/>
          <a:p>
            <a:pPr indent="0" marL="0">
              <a:buNone/>
            </a:pPr>
            <a:r>
              <a:rPr lang="en-US" sz="1400" dirty="0">
                <a:solidFill>
                  <a:srgbClr val="5B6573"/>
                </a:solidFill>
                <a:latin typeface="Calibri" pitchFamily="34" charset="0"/>
                <a:ea typeface="Calibri" pitchFamily="34" charset="-122"/>
                <a:cs typeface="Calibri" pitchFamily="34" charset="-120"/>
              </a:rPr>
              <a:t>Weekly sessions</a:t>
            </a:r>
            <a:endParaRPr lang="en-US" sz="1400" dirty="0"/>
          </a:p>
        </p:txBody>
      </p:sp>
      <p:sp>
        <p:nvSpPr>
          <p:cNvPr id="13" name="Shape 11"/>
          <p:cNvSpPr/>
          <p:nvPr/>
        </p:nvSpPr>
        <p:spPr>
          <a:xfrm>
            <a:off x="3383280" y="3154680"/>
            <a:ext cx="2606040" cy="1280160"/>
          </a:xfrm>
          <a:prstGeom prst="roundRect">
            <a:avLst>
              <a:gd name="adj" fmla="val 8571"/>
            </a:avLst>
          </a:prstGeom>
          <a:solidFill>
            <a:srgbClr val="F2F3F5"/>
          </a:solidFill>
          <a:ln w="12700">
            <a:solidFill>
              <a:srgbClr val="F2F3F5"/>
            </a:solidFill>
            <a:prstDash val="solid"/>
          </a:ln>
        </p:spPr>
      </p:sp>
      <p:sp>
        <p:nvSpPr>
          <p:cNvPr id="14" name="Text 12"/>
          <p:cNvSpPr txBox="1"/>
          <p:nvPr/>
        </p:nvSpPr>
        <p:spPr>
          <a:xfrm>
            <a:off x="3611880" y="3291840"/>
            <a:ext cx="2194560" cy="640080"/>
          </a:xfrm>
          <a:prstGeom prst="rect">
            <a:avLst/>
          </a:prstGeom>
          <a:noFill/>
          <a:ln/>
        </p:spPr>
        <p:txBody>
          <a:bodyPr wrap="square" lIns="0" tIns="0" rIns="0" bIns="0" rtlCol="0" anchor="ctr"/>
          <a:lstStyle/>
          <a:p>
            <a:pPr indent="0" marL="0">
              <a:buNone/>
            </a:pPr>
            <a:r>
              <a:rPr lang="en-US" sz="3200" b="1" dirty="0">
                <a:solidFill>
                  <a:srgbClr val="FF8A00"/>
                </a:solidFill>
                <a:latin typeface="Arial" pitchFamily="34" charset="0"/>
                <a:ea typeface="Arial" pitchFamily="34" charset="-122"/>
                <a:cs typeface="Arial" pitchFamily="34" charset="-120"/>
              </a:rPr>
              <a:t>75%</a:t>
            </a:r>
            <a:endParaRPr lang="en-US" sz="3200" dirty="0"/>
          </a:p>
        </p:txBody>
      </p:sp>
      <p:sp>
        <p:nvSpPr>
          <p:cNvPr id="15" name="Text 13"/>
          <p:cNvSpPr txBox="1"/>
          <p:nvPr/>
        </p:nvSpPr>
        <p:spPr>
          <a:xfrm>
            <a:off x="3611880" y="3931920"/>
            <a:ext cx="2240280" cy="365760"/>
          </a:xfrm>
          <a:prstGeom prst="rect">
            <a:avLst/>
          </a:prstGeom>
          <a:noFill/>
          <a:ln/>
        </p:spPr>
        <p:txBody>
          <a:bodyPr wrap="square" lIns="0" tIns="0" rIns="0" bIns="0" rtlCol="0" anchor="ctr"/>
          <a:lstStyle/>
          <a:p>
            <a:pPr indent="0" marL="0">
              <a:buNone/>
            </a:pPr>
            <a:r>
              <a:rPr lang="en-US" sz="1400" dirty="0">
                <a:solidFill>
                  <a:srgbClr val="5B6573"/>
                </a:solidFill>
                <a:latin typeface="Calibri" pitchFamily="34" charset="0"/>
                <a:ea typeface="Calibri" pitchFamily="34" charset="-122"/>
                <a:cs typeface="Calibri" pitchFamily="34" charset="-120"/>
              </a:rPr>
              <a:t>Today's FG% (10+ shots)</a:t>
            </a:r>
            <a:endParaRPr lang="en-US" sz="1400" dirty="0"/>
          </a:p>
        </p:txBody>
      </p:sp>
      <p:sp>
        <p:nvSpPr>
          <p:cNvPr id="16" name="Text 14"/>
          <p:cNvSpPr txBox="1"/>
          <p:nvPr/>
        </p:nvSpPr>
        <p:spPr>
          <a:xfrm>
            <a:off x="548640" y="4800600"/>
            <a:ext cx="54864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Animated progress rings turn green with a check when a goal is done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Goals are editable and saved on the phone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Trophy popup, once per goal per day (per week for sessions)</a:t>
            </a:r>
            <a:endParaRPr lang="en-US" sz="1500" dirty="0"/>
          </a:p>
        </p:txBody>
      </p:sp>
      <p:pic>
        <p:nvPicPr>
          <p:cNvPr id="17" name="Image 0" descr="preencoded.png">    </p:cNvPr>
          <p:cNvPicPr>
            <a:picLocks noChangeAspect="1"/>
          </p:cNvPicPr>
          <p:nvPr/>
        </p:nvPicPr>
        <p:blipFill>
          <a:blip r:embed="rId1"/>
          <a:stretch>
            <a:fillRect/>
          </a:stretch>
        </p:blipFill>
        <p:spPr>
          <a:xfrm>
            <a:off x="6263640" y="2011680"/>
            <a:ext cx="5394960" cy="2618142"/>
          </a:xfrm>
          <a:prstGeom prst="rect">
            <a:avLst/>
          </a:prstGeom>
          <a:effectLst>
            <a:outerShdw sx="100000" sy="100000" kx="0" ky="0" algn="bl" rotWithShape="0" blurRad="101600" dist="38100" dir="5400000">
              <a:srgbClr val="000000">
                <a:alpha val="25000"/>
              </a:srgbClr>
            </a:outerShdw>
          </a:effectLst>
        </p:spPr>
      </p:pic>
      <p:sp>
        <p:nvSpPr>
          <p:cNvPr id="18" name="Text 15"/>
          <p:cNvSpPr txBox="1"/>
          <p:nvPr/>
        </p:nvSpPr>
        <p:spPr>
          <a:xfrm>
            <a:off x="6263640" y="4800600"/>
            <a:ext cx="5394960" cy="365760"/>
          </a:xfrm>
          <a:prstGeom prst="rect">
            <a:avLst/>
          </a:prstGeom>
          <a:noFill/>
          <a:ln/>
        </p:spPr>
        <p:txBody>
          <a:bodyPr wrap="square" lIns="0" tIns="0" rIns="0" bIns="0" rtlCol="0" anchor="ctr"/>
          <a:lstStyle/>
          <a:p>
            <a:pPr algn="ctr" indent="0" marL="0">
              <a:buNone/>
            </a:pPr>
            <a:r>
              <a:rPr lang="en-US" sz="1200" dirty="0">
                <a:solidFill>
                  <a:srgbClr val="5B6573"/>
                </a:solidFill>
                <a:latin typeface="Calibri" pitchFamily="34" charset="0"/>
                <a:ea typeface="Calibri" pitchFamily="34" charset="-122"/>
                <a:cs typeface="Calibri" pitchFamily="34" charset="-120"/>
              </a:rPr>
              <a:t>Defaults shown; players can change any target.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FEATURE · MELVIN SANARE</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Gamification on the watch</a:t>
            </a:r>
            <a:endParaRPr lang="en-US" sz="3400" dirty="0"/>
          </a:p>
        </p:txBody>
      </p:sp>
      <p:pic>
        <p:nvPicPr>
          <p:cNvPr id="4" name="Image 0" descr="preencoded.png">    </p:cNvPr>
          <p:cNvPicPr>
            <a:picLocks noChangeAspect="1"/>
          </p:cNvPicPr>
          <p:nvPr/>
        </p:nvPicPr>
        <p:blipFill>
          <a:blip r:embed="rId1"/>
          <a:stretch>
            <a:fillRect/>
          </a:stretch>
        </p:blipFill>
        <p:spPr>
          <a:xfrm>
            <a:off x="640080" y="1691640"/>
            <a:ext cx="3108960" cy="3108960"/>
          </a:xfrm>
          <a:prstGeom prst="rect">
            <a:avLst/>
          </a:prstGeom>
        </p:spPr>
      </p:pic>
      <p:sp>
        <p:nvSpPr>
          <p:cNvPr id="5" name="Shape 2"/>
          <p:cNvSpPr/>
          <p:nvPr/>
        </p:nvSpPr>
        <p:spPr>
          <a:xfrm>
            <a:off x="4206240" y="1783080"/>
            <a:ext cx="2148840" cy="1417320"/>
          </a:xfrm>
          <a:prstGeom prst="roundRect">
            <a:avLst>
              <a:gd name="adj" fmla="val 7742"/>
            </a:avLst>
          </a:prstGeom>
          <a:solidFill>
            <a:srgbClr val="F2F3F5"/>
          </a:solidFill>
          <a:ln w="12700">
            <a:solidFill>
              <a:srgbClr val="F2F3F5"/>
            </a:solidFill>
            <a:prstDash val="solid"/>
          </a:ln>
        </p:spPr>
      </p:sp>
      <p:sp>
        <p:nvSpPr>
          <p:cNvPr id="6" name="Text 3"/>
          <p:cNvSpPr txBox="1"/>
          <p:nvPr/>
        </p:nvSpPr>
        <p:spPr>
          <a:xfrm>
            <a:off x="4297680" y="1874520"/>
            <a:ext cx="1965960" cy="41148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Phone</a:t>
            </a:r>
            <a:endParaRPr lang="en-US" sz="1400" dirty="0"/>
          </a:p>
        </p:txBody>
      </p:sp>
      <p:sp>
        <p:nvSpPr>
          <p:cNvPr id="7" name="Text 4"/>
          <p:cNvSpPr txBox="1"/>
          <p:nvPr/>
        </p:nvSpPr>
        <p:spPr>
          <a:xfrm>
            <a:off x="4343400" y="2286000"/>
            <a:ext cx="1874520" cy="822960"/>
          </a:xfrm>
          <a:prstGeom prst="rect">
            <a:avLst/>
          </a:prstGeom>
          <a:noFill/>
          <a:ln/>
        </p:spPr>
        <p:txBody>
          <a:bodyPr wrap="square" lIns="0" tIns="0" rIns="0" bIns="0" rtlCol="0" anchor="t"/>
          <a:lstStyle/>
          <a:p>
            <a:pPr algn="ctr" indent="0" marL="0">
              <a:buNone/>
            </a:pPr>
            <a:r>
              <a:rPr lang="en-US" sz="1300" dirty="0">
                <a:solidFill>
                  <a:srgbClr val="5B6573"/>
                </a:solidFill>
                <a:latin typeface="Calibri" pitchFamily="34" charset="0"/>
                <a:ea typeface="Calibri" pitchFamily="34" charset="-122"/>
                <a:cs typeface="Calibri" pitchFamily="34" charset="-120"/>
              </a:rPr>
              <a:t>Calculates streak and goal progress</a:t>
            </a:r>
            <a:endParaRPr lang="en-US" sz="1300" dirty="0"/>
          </a:p>
        </p:txBody>
      </p:sp>
      <p:sp>
        <p:nvSpPr>
          <p:cNvPr id="8" name="Shape 5"/>
          <p:cNvSpPr/>
          <p:nvPr/>
        </p:nvSpPr>
        <p:spPr>
          <a:xfrm>
            <a:off x="6400800" y="2304288"/>
            <a:ext cx="365760" cy="365760"/>
          </a:xfrm>
          <a:prstGeom prst="rightArrow">
            <a:avLst/>
          </a:prstGeom>
          <a:solidFill>
            <a:srgbClr val="FF8A00"/>
          </a:solidFill>
          <a:ln w="12700">
            <a:solidFill>
              <a:srgbClr val="FF8A00"/>
            </a:solidFill>
            <a:prstDash val="solid"/>
          </a:ln>
        </p:spPr>
      </p:sp>
      <p:sp>
        <p:nvSpPr>
          <p:cNvPr id="9" name="Shape 6"/>
          <p:cNvSpPr/>
          <p:nvPr/>
        </p:nvSpPr>
        <p:spPr>
          <a:xfrm>
            <a:off x="6812280" y="1783080"/>
            <a:ext cx="2148840" cy="1417320"/>
          </a:xfrm>
          <a:prstGeom prst="roundRect">
            <a:avLst>
              <a:gd name="adj" fmla="val 7742"/>
            </a:avLst>
          </a:prstGeom>
          <a:solidFill>
            <a:srgbClr val="F2F3F5"/>
          </a:solidFill>
          <a:ln w="12700">
            <a:solidFill>
              <a:srgbClr val="F2F3F5"/>
            </a:solidFill>
            <a:prstDash val="solid"/>
          </a:ln>
        </p:spPr>
      </p:sp>
      <p:sp>
        <p:nvSpPr>
          <p:cNvPr id="10" name="Text 7"/>
          <p:cNvSpPr txBox="1"/>
          <p:nvPr/>
        </p:nvSpPr>
        <p:spPr>
          <a:xfrm>
            <a:off x="6903720" y="1874520"/>
            <a:ext cx="1965960" cy="41148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Wear OS Data Layer</a:t>
            </a:r>
            <a:endParaRPr lang="en-US" sz="1400" dirty="0"/>
          </a:p>
        </p:txBody>
      </p:sp>
      <p:sp>
        <p:nvSpPr>
          <p:cNvPr id="11" name="Text 8"/>
          <p:cNvSpPr txBox="1"/>
          <p:nvPr/>
        </p:nvSpPr>
        <p:spPr>
          <a:xfrm>
            <a:off x="6949440" y="2286000"/>
            <a:ext cx="1874520" cy="822960"/>
          </a:xfrm>
          <a:prstGeom prst="rect">
            <a:avLst/>
          </a:prstGeom>
          <a:noFill/>
          <a:ln/>
        </p:spPr>
        <p:txBody>
          <a:bodyPr wrap="square" lIns="0" tIns="0" rIns="0" bIns="0" rtlCol="0" anchor="t"/>
          <a:lstStyle/>
          <a:p>
            <a:pPr algn="ctr" indent="0" marL="0">
              <a:buNone/>
            </a:pPr>
            <a:r>
              <a:rPr lang="en-US" sz="1300" dirty="0">
                <a:solidFill>
                  <a:srgbClr val="5B6573"/>
                </a:solidFill>
                <a:latin typeface="Calibri" pitchFamily="34" charset="0"/>
                <a:ea typeface="Calibri" pitchFamily="34" charset="-122"/>
                <a:cs typeface="Calibri" pitchFamily="34" charset="-120"/>
              </a:rPr>
              <a:t>Syncs a stats snapshot + live popups</a:t>
            </a:r>
            <a:endParaRPr lang="en-US" sz="1300" dirty="0"/>
          </a:p>
        </p:txBody>
      </p:sp>
      <p:sp>
        <p:nvSpPr>
          <p:cNvPr id="12" name="Shape 9"/>
          <p:cNvSpPr/>
          <p:nvPr/>
        </p:nvSpPr>
        <p:spPr>
          <a:xfrm>
            <a:off x="9006840" y="2304288"/>
            <a:ext cx="365760" cy="365760"/>
          </a:xfrm>
          <a:prstGeom prst="rightArrow">
            <a:avLst/>
          </a:prstGeom>
          <a:solidFill>
            <a:srgbClr val="FF8A00"/>
          </a:solidFill>
          <a:ln w="12700">
            <a:solidFill>
              <a:srgbClr val="FF8A00"/>
            </a:solidFill>
            <a:prstDash val="solid"/>
          </a:ln>
        </p:spPr>
      </p:sp>
      <p:sp>
        <p:nvSpPr>
          <p:cNvPr id="13" name="Shape 10"/>
          <p:cNvSpPr/>
          <p:nvPr/>
        </p:nvSpPr>
        <p:spPr>
          <a:xfrm>
            <a:off x="9418320" y="1783080"/>
            <a:ext cx="2148840" cy="1417320"/>
          </a:xfrm>
          <a:prstGeom prst="roundRect">
            <a:avLst>
              <a:gd name="adj" fmla="val 7742"/>
            </a:avLst>
          </a:prstGeom>
          <a:solidFill>
            <a:srgbClr val="F2F3F5"/>
          </a:solidFill>
          <a:ln w="12700">
            <a:solidFill>
              <a:srgbClr val="F2F3F5"/>
            </a:solidFill>
            <a:prstDash val="solid"/>
          </a:ln>
        </p:spPr>
      </p:sp>
      <p:sp>
        <p:nvSpPr>
          <p:cNvPr id="14" name="Text 11"/>
          <p:cNvSpPr txBox="1"/>
          <p:nvPr/>
        </p:nvSpPr>
        <p:spPr>
          <a:xfrm>
            <a:off x="9509760" y="1874520"/>
            <a:ext cx="1965960" cy="411480"/>
          </a:xfrm>
          <a:prstGeom prst="rect">
            <a:avLst/>
          </a:prstGeom>
          <a:noFill/>
          <a:ln/>
        </p:spPr>
        <p:txBody>
          <a:bodyPr wrap="square" lIns="0" tIns="0" rIns="0" bIns="0" rtlCol="0" anchor="ctr"/>
          <a:lstStyle/>
          <a:p>
            <a:pPr algn="ctr" indent="0" marL="0">
              <a:buNone/>
            </a:pPr>
            <a:r>
              <a:rPr lang="en-US" sz="1400" b="1" dirty="0">
                <a:solidFill>
                  <a:srgbClr val="1F2328"/>
                </a:solidFill>
                <a:latin typeface="Arial" pitchFamily="34" charset="0"/>
                <a:ea typeface="Arial" pitchFamily="34" charset="-122"/>
                <a:cs typeface="Arial" pitchFamily="34" charset="-120"/>
              </a:rPr>
              <a:t>Watch</a:t>
            </a:r>
            <a:endParaRPr lang="en-US" sz="1400" dirty="0"/>
          </a:p>
        </p:txBody>
      </p:sp>
      <p:sp>
        <p:nvSpPr>
          <p:cNvPr id="15" name="Text 12"/>
          <p:cNvSpPr txBox="1"/>
          <p:nvPr/>
        </p:nvSpPr>
        <p:spPr>
          <a:xfrm>
            <a:off x="9555480" y="2286000"/>
            <a:ext cx="1874520" cy="822960"/>
          </a:xfrm>
          <a:prstGeom prst="rect">
            <a:avLst/>
          </a:prstGeom>
          <a:noFill/>
          <a:ln/>
        </p:spPr>
        <p:txBody>
          <a:bodyPr wrap="square" lIns="0" tIns="0" rIns="0" bIns="0" rtlCol="0" anchor="t"/>
          <a:lstStyle/>
          <a:p>
            <a:pPr algn="ctr" indent="0" marL="0">
              <a:buNone/>
            </a:pPr>
            <a:r>
              <a:rPr lang="en-US" sz="1300" dirty="0">
                <a:solidFill>
                  <a:srgbClr val="5B6573"/>
                </a:solidFill>
                <a:latin typeface="Calibri" pitchFamily="34" charset="0"/>
                <a:ea typeface="Calibri" pitchFamily="34" charset="-122"/>
                <a:cs typeface="Calibri" pitchFamily="34" charset="-120"/>
              </a:rPr>
              <a:t>Shows streak, rings, and popups with a vibration</a:t>
            </a:r>
            <a:endParaRPr lang="en-US" sz="1300" dirty="0"/>
          </a:p>
        </p:txBody>
      </p:sp>
      <p:sp>
        <p:nvSpPr>
          <p:cNvPr id="16" name="Shape 13"/>
          <p:cNvSpPr/>
          <p:nvPr/>
        </p:nvSpPr>
        <p:spPr>
          <a:xfrm>
            <a:off x="4206240" y="3566160"/>
            <a:ext cx="7360920" cy="1554480"/>
          </a:xfrm>
          <a:prstGeom prst="roundRect">
            <a:avLst>
              <a:gd name="adj" fmla="val 5882"/>
            </a:avLst>
          </a:prstGeom>
          <a:solidFill>
            <a:srgbClr val="16191D"/>
          </a:solidFill>
          <a:ln w="12700">
            <a:solidFill>
              <a:srgbClr val="16191D"/>
            </a:solidFill>
            <a:prstDash val="solid"/>
          </a:ln>
        </p:spPr>
      </p:sp>
      <p:sp>
        <p:nvSpPr>
          <p:cNvPr id="17" name="Text 14"/>
          <p:cNvSpPr txBox="1"/>
          <p:nvPr/>
        </p:nvSpPr>
        <p:spPr>
          <a:xfrm>
            <a:off x="4434840" y="3657600"/>
            <a:ext cx="6949440" cy="1371600"/>
          </a:xfrm>
          <a:prstGeom prst="rect">
            <a:avLst/>
          </a:prstGeom>
          <a:noFill/>
          <a:ln/>
        </p:spPr>
        <p:txBody>
          <a:bodyPr wrap="square" lIns="0" tIns="0" rIns="0" bIns="0" rtlCol="0" anchor="ctr"/>
          <a:lstStyle/>
          <a:p>
            <a:pPr indent="0" marL="0">
              <a:buNone/>
            </a:pPr>
            <a:r>
              <a:rPr lang="en-US" sz="1200" dirty="0">
                <a:solidFill>
                  <a:srgbClr val="7EE2A0"/>
                </a:solidFill>
                <a:latin typeface="Courier New" pitchFamily="34" charset="0"/>
                <a:ea typeface="Courier New" pitchFamily="34" charset="-122"/>
                <a:cs typeface="Courier New" pitchFamily="34" charset="-120"/>
              </a:rPr>
              <a:t>phone =&gt; data   /squatch/stats  {"currentStreak":2,"bestStreak":2,...}</a:t>
            </a:r>
            <a:endParaRPr lang="en-US" sz="1200" dirty="0"/>
          </a:p>
          <a:p>
            <a:pPr indent="0" marL="0">
              <a:buNone/>
            </a:pPr>
            <a:r>
              <a:rPr lang="en-US" sz="1200" dirty="0">
                <a:solidFill>
                  <a:srgbClr val="7EE2A0"/>
                </a:solidFill>
                <a:latin typeface="Courier New" pitchFamily="34" charset="0"/>
                <a:ea typeface="Courier New" pitchFamily="34" charset="-122"/>
                <a:cs typeface="Courier New" pitchFamily="34" charset="-120"/>
              </a:rPr>
              <a:t>watch &lt;= data   /squatch/stats  {"currentStreak":2,"bestStreak":2,...}</a:t>
            </a:r>
            <a:endParaRPr lang="en-US" sz="1200" dirty="0"/>
          </a:p>
          <a:p>
            <a:pPr indent="0" marL="0">
              <a:buNone/>
            </a:pPr>
            <a:r>
              <a:rPr lang="en-US" sz="1200" dirty="0">
                <a:solidFill>
                  <a:srgbClr val="7EE2A0"/>
                </a:solidFill>
                <a:latin typeface="Courier New" pitchFamily="34" charset="0"/>
                <a:ea typeface="Courier New" pitchFamily="34" charset="-122"/>
                <a:cs typeface="Courier New" pitchFamily="34" charset="-120"/>
              </a:rPr>
              <a:t>watch -&gt; phone  /squatch/workout/shot  2</a:t>
            </a:r>
            <a:endParaRPr lang="en-US" sz="1200" dirty="0"/>
          </a:p>
        </p:txBody>
      </p:sp>
      <p:sp>
        <p:nvSpPr>
          <p:cNvPr id="18" name="Text 15"/>
          <p:cNvSpPr txBox="1"/>
          <p:nvPr/>
        </p:nvSpPr>
        <p:spPr>
          <a:xfrm>
            <a:off x="4206240" y="5303520"/>
            <a:ext cx="7360920" cy="64008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Every phone/watch message is logged under the SquatchComm tag in Logcat, which is our evidence that the Wear OS integration works end to end.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FEATURE · KALEB KEBEDE · iOS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XP and levels</a:t>
            </a:r>
            <a:endParaRPr lang="en-US" sz="3400" dirty="0"/>
          </a:p>
        </p:txBody>
      </p:sp>
      <p:sp>
        <p:nvSpPr>
          <p:cNvPr id="4" name="Shape 2"/>
          <p:cNvSpPr/>
          <p:nvPr/>
        </p:nvSpPr>
        <p:spPr>
          <a:xfrm>
            <a:off x="548640" y="1645920"/>
            <a:ext cx="2606040" cy="1600200"/>
          </a:xfrm>
          <a:prstGeom prst="roundRect">
            <a:avLst>
              <a:gd name="adj" fmla="val 6857"/>
            </a:avLst>
          </a:prstGeom>
          <a:solidFill>
            <a:srgbClr val="F2F3F5"/>
          </a:solidFill>
          <a:ln w="12700">
            <a:solidFill>
              <a:srgbClr val="F2F3F5"/>
            </a:solidFill>
            <a:prstDash val="solid"/>
          </a:ln>
        </p:spPr>
      </p:sp>
      <p:sp>
        <p:nvSpPr>
          <p:cNvPr id="5" name="Text 3"/>
          <p:cNvSpPr txBox="1"/>
          <p:nvPr/>
        </p:nvSpPr>
        <p:spPr>
          <a:xfrm>
            <a:off x="777240" y="1783080"/>
            <a:ext cx="2194560" cy="822960"/>
          </a:xfrm>
          <a:prstGeom prst="rect">
            <a:avLst/>
          </a:prstGeom>
          <a:noFill/>
          <a:ln/>
        </p:spPr>
        <p:txBody>
          <a:bodyPr wrap="square" lIns="0" tIns="0" rIns="0" bIns="0" rtlCol="0" anchor="ctr"/>
          <a:lstStyle/>
          <a:p>
            <a:pPr indent="0" marL="0">
              <a:buNone/>
            </a:pPr>
            <a:r>
              <a:rPr lang="en-US" sz="4400" b="1" dirty="0">
                <a:solidFill>
                  <a:srgbClr val="FF8A00"/>
                </a:solidFill>
                <a:latin typeface="Arial" pitchFamily="34" charset="0"/>
                <a:ea typeface="Arial" pitchFamily="34" charset="-122"/>
                <a:cs typeface="Arial" pitchFamily="34" charset="-120"/>
              </a:rPr>
              <a:t>+25</a:t>
            </a:r>
            <a:endParaRPr lang="en-US" sz="4400" dirty="0"/>
          </a:p>
        </p:txBody>
      </p:sp>
      <p:sp>
        <p:nvSpPr>
          <p:cNvPr id="6" name="Text 4"/>
          <p:cNvSpPr txBox="1"/>
          <p:nvPr/>
        </p:nvSpPr>
        <p:spPr>
          <a:xfrm>
            <a:off x="777240" y="2651760"/>
            <a:ext cx="2240280" cy="41148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per completed workout</a:t>
            </a:r>
            <a:endParaRPr lang="en-US" sz="1500" dirty="0"/>
          </a:p>
        </p:txBody>
      </p:sp>
      <p:sp>
        <p:nvSpPr>
          <p:cNvPr id="7" name="Shape 5"/>
          <p:cNvSpPr/>
          <p:nvPr/>
        </p:nvSpPr>
        <p:spPr>
          <a:xfrm>
            <a:off x="3383280" y="1645920"/>
            <a:ext cx="2606040" cy="1600200"/>
          </a:xfrm>
          <a:prstGeom prst="roundRect">
            <a:avLst>
              <a:gd name="adj" fmla="val 6857"/>
            </a:avLst>
          </a:prstGeom>
          <a:solidFill>
            <a:srgbClr val="F2F3F5"/>
          </a:solidFill>
          <a:ln w="12700">
            <a:solidFill>
              <a:srgbClr val="F2F3F5"/>
            </a:solidFill>
            <a:prstDash val="solid"/>
          </a:ln>
        </p:spPr>
      </p:sp>
      <p:sp>
        <p:nvSpPr>
          <p:cNvPr id="8" name="Text 6"/>
          <p:cNvSpPr txBox="1"/>
          <p:nvPr/>
        </p:nvSpPr>
        <p:spPr>
          <a:xfrm>
            <a:off x="3611880" y="1783080"/>
            <a:ext cx="2194560" cy="822960"/>
          </a:xfrm>
          <a:prstGeom prst="rect">
            <a:avLst/>
          </a:prstGeom>
          <a:noFill/>
          <a:ln/>
        </p:spPr>
        <p:txBody>
          <a:bodyPr wrap="square" lIns="0" tIns="0" rIns="0" bIns="0" rtlCol="0" anchor="ctr"/>
          <a:lstStyle/>
          <a:p>
            <a:pPr indent="0" marL="0">
              <a:buNone/>
            </a:pPr>
            <a:r>
              <a:rPr lang="en-US" sz="4400" b="1" dirty="0">
                <a:solidFill>
                  <a:srgbClr val="FF8A00"/>
                </a:solidFill>
                <a:latin typeface="Arial" pitchFamily="34" charset="0"/>
                <a:ea typeface="Arial" pitchFamily="34" charset="-122"/>
                <a:cs typeface="Arial" pitchFamily="34" charset="-120"/>
              </a:rPr>
              <a:t>+1</a:t>
            </a:r>
            <a:endParaRPr lang="en-US" sz="4400" dirty="0"/>
          </a:p>
        </p:txBody>
      </p:sp>
      <p:sp>
        <p:nvSpPr>
          <p:cNvPr id="9" name="Text 7"/>
          <p:cNvSpPr txBox="1"/>
          <p:nvPr/>
        </p:nvSpPr>
        <p:spPr>
          <a:xfrm>
            <a:off x="3611880" y="2651760"/>
            <a:ext cx="2240280" cy="41148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per make</a:t>
            </a:r>
            <a:endParaRPr lang="en-US" sz="1500" dirty="0"/>
          </a:p>
        </p:txBody>
      </p:sp>
      <p:sp>
        <p:nvSpPr>
          <p:cNvPr id="10" name="Shape 8"/>
          <p:cNvSpPr/>
          <p:nvPr/>
        </p:nvSpPr>
        <p:spPr>
          <a:xfrm>
            <a:off x="6217920" y="1645920"/>
            <a:ext cx="2606040" cy="1600200"/>
          </a:xfrm>
          <a:prstGeom prst="roundRect">
            <a:avLst>
              <a:gd name="adj" fmla="val 6857"/>
            </a:avLst>
          </a:prstGeom>
          <a:solidFill>
            <a:srgbClr val="F2F3F5"/>
          </a:solidFill>
          <a:ln w="12700">
            <a:solidFill>
              <a:srgbClr val="F2F3F5"/>
            </a:solidFill>
            <a:prstDash val="solid"/>
          </a:ln>
        </p:spPr>
      </p:sp>
      <p:sp>
        <p:nvSpPr>
          <p:cNvPr id="11" name="Text 9"/>
          <p:cNvSpPr txBox="1"/>
          <p:nvPr/>
        </p:nvSpPr>
        <p:spPr>
          <a:xfrm>
            <a:off x="6446520" y="1783080"/>
            <a:ext cx="2194560" cy="822960"/>
          </a:xfrm>
          <a:prstGeom prst="rect">
            <a:avLst/>
          </a:prstGeom>
          <a:noFill/>
          <a:ln/>
        </p:spPr>
        <p:txBody>
          <a:bodyPr wrap="square" lIns="0" tIns="0" rIns="0" bIns="0" rtlCol="0" anchor="ctr"/>
          <a:lstStyle/>
          <a:p>
            <a:pPr indent="0" marL="0">
              <a:buNone/>
            </a:pPr>
            <a:r>
              <a:rPr lang="en-US" sz="4400" b="1" dirty="0">
                <a:solidFill>
                  <a:srgbClr val="FF8A00"/>
                </a:solidFill>
                <a:latin typeface="Arial" pitchFamily="34" charset="0"/>
                <a:ea typeface="Arial" pitchFamily="34" charset="-122"/>
                <a:cs typeface="Arial" pitchFamily="34" charset="-120"/>
              </a:rPr>
              <a:t>+2</a:t>
            </a:r>
            <a:endParaRPr lang="en-US" sz="4400" dirty="0"/>
          </a:p>
        </p:txBody>
      </p:sp>
      <p:sp>
        <p:nvSpPr>
          <p:cNvPr id="12" name="Text 10"/>
          <p:cNvSpPr txBox="1"/>
          <p:nvPr/>
        </p:nvSpPr>
        <p:spPr>
          <a:xfrm>
            <a:off x="6446520" y="2651760"/>
            <a:ext cx="2240280" cy="41148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bonus per swish</a:t>
            </a:r>
            <a:endParaRPr lang="en-US" sz="1500" dirty="0"/>
          </a:p>
        </p:txBody>
      </p:sp>
      <p:sp>
        <p:nvSpPr>
          <p:cNvPr id="13" name="Shape 11"/>
          <p:cNvSpPr/>
          <p:nvPr/>
        </p:nvSpPr>
        <p:spPr>
          <a:xfrm>
            <a:off x="9052560" y="1645920"/>
            <a:ext cx="2606040" cy="1600200"/>
          </a:xfrm>
          <a:prstGeom prst="roundRect">
            <a:avLst>
              <a:gd name="adj" fmla="val 6857"/>
            </a:avLst>
          </a:prstGeom>
          <a:solidFill>
            <a:srgbClr val="F2F3F5"/>
          </a:solidFill>
          <a:ln w="12700">
            <a:solidFill>
              <a:srgbClr val="F2F3F5"/>
            </a:solidFill>
            <a:prstDash val="solid"/>
          </a:ln>
        </p:spPr>
      </p:sp>
      <p:sp>
        <p:nvSpPr>
          <p:cNvPr id="14" name="Text 12"/>
          <p:cNvSpPr txBox="1"/>
          <p:nvPr/>
        </p:nvSpPr>
        <p:spPr>
          <a:xfrm>
            <a:off x="9281160" y="1783080"/>
            <a:ext cx="2194560" cy="822960"/>
          </a:xfrm>
          <a:prstGeom prst="rect">
            <a:avLst/>
          </a:prstGeom>
          <a:noFill/>
          <a:ln/>
        </p:spPr>
        <p:txBody>
          <a:bodyPr wrap="square" lIns="0" tIns="0" rIns="0" bIns="0" rtlCol="0" anchor="ctr"/>
          <a:lstStyle/>
          <a:p>
            <a:pPr indent="0" marL="0">
              <a:buNone/>
            </a:pPr>
            <a:r>
              <a:rPr lang="en-US" sz="4400" b="1" dirty="0">
                <a:solidFill>
                  <a:srgbClr val="FF8A00"/>
                </a:solidFill>
                <a:latin typeface="Arial" pitchFamily="34" charset="0"/>
                <a:ea typeface="Arial" pitchFamily="34" charset="-122"/>
                <a:cs typeface="Arial" pitchFamily="34" charset="-120"/>
              </a:rPr>
              <a:t>+15</a:t>
            </a:r>
            <a:endParaRPr lang="en-US" sz="4400" dirty="0"/>
          </a:p>
        </p:txBody>
      </p:sp>
      <p:sp>
        <p:nvSpPr>
          <p:cNvPr id="15" name="Text 13"/>
          <p:cNvSpPr txBox="1"/>
          <p:nvPr/>
        </p:nvSpPr>
        <p:spPr>
          <a:xfrm>
            <a:off x="9281160" y="2651760"/>
            <a:ext cx="2240280" cy="41148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for 75%+ shooting</a:t>
            </a:r>
            <a:endParaRPr lang="en-US" sz="1500" dirty="0"/>
          </a:p>
        </p:txBody>
      </p:sp>
      <p:sp>
        <p:nvSpPr>
          <p:cNvPr id="16" name="Shape 14"/>
          <p:cNvSpPr/>
          <p:nvPr/>
        </p:nvSpPr>
        <p:spPr>
          <a:xfrm>
            <a:off x="548640" y="3794760"/>
            <a:ext cx="822960" cy="822960"/>
          </a:xfrm>
          <a:prstGeom prst="ellipse">
            <a:avLst/>
          </a:prstGeom>
          <a:solidFill>
            <a:srgbClr val="FF8A00"/>
          </a:solidFill>
          <a:ln w="12700">
            <a:solidFill>
              <a:srgbClr val="FF8A00"/>
            </a:solidFill>
            <a:prstDash val="solid"/>
          </a:ln>
        </p:spPr>
      </p:sp>
      <p:pic>
        <p:nvPicPr>
          <p:cNvPr id="17" name="Image 0" descr="preencoded.png">    </p:cNvPr>
          <p:cNvPicPr>
            <a:picLocks noChangeAspect="1"/>
          </p:cNvPicPr>
          <p:nvPr/>
        </p:nvPicPr>
        <p:blipFill>
          <a:blip r:embed="rId1"/>
          <a:stretch>
            <a:fillRect/>
          </a:stretch>
        </p:blipFill>
        <p:spPr>
          <a:xfrm>
            <a:off x="746150" y="3992270"/>
            <a:ext cx="427939" cy="427939"/>
          </a:xfrm>
          <a:prstGeom prst="rect">
            <a:avLst/>
          </a:prstGeom>
        </p:spPr>
      </p:pic>
      <p:sp>
        <p:nvSpPr>
          <p:cNvPr id="18" name="Text 15"/>
          <p:cNvSpPr txBox="1"/>
          <p:nvPr/>
        </p:nvSpPr>
        <p:spPr>
          <a:xfrm>
            <a:off x="1600200" y="3794760"/>
            <a:ext cx="4389120" cy="411480"/>
          </a:xfrm>
          <a:prstGeom prst="rect">
            <a:avLst/>
          </a:prstGeom>
          <a:noFill/>
          <a:ln/>
        </p:spPr>
        <p:txBody>
          <a:bodyPr wrap="square" lIns="0" tIns="0" rIns="0" bIns="0" rtlCol="0" anchor="ctr"/>
          <a:lstStyle/>
          <a:p>
            <a:pPr indent="0" marL="0">
              <a:buNone/>
            </a:pPr>
            <a:r>
              <a:rPr lang="en-US" sz="2000" b="1" dirty="0">
                <a:solidFill>
                  <a:srgbClr val="1F2328"/>
                </a:solidFill>
                <a:latin typeface="Arial" pitchFamily="34" charset="0"/>
                <a:ea typeface="Arial" pitchFamily="34" charset="-122"/>
                <a:cs typeface="Arial" pitchFamily="34" charset="-120"/>
              </a:rPr>
              <a:t>Level up every 100 XP</a:t>
            </a:r>
            <a:endParaRPr lang="en-US" sz="2000" dirty="0"/>
          </a:p>
        </p:txBody>
      </p:sp>
      <p:sp>
        <p:nvSpPr>
          <p:cNvPr id="19" name="Shape 16"/>
          <p:cNvSpPr/>
          <p:nvPr/>
        </p:nvSpPr>
        <p:spPr>
          <a:xfrm>
            <a:off x="1600200" y="4343400"/>
            <a:ext cx="4206240" cy="274320"/>
          </a:xfrm>
          <a:prstGeom prst="roundRect">
            <a:avLst>
              <a:gd name="adj" fmla="val 50000"/>
            </a:avLst>
          </a:prstGeom>
          <a:solidFill>
            <a:srgbClr val="E3E6EA"/>
          </a:solidFill>
          <a:ln w="12700">
            <a:solidFill>
              <a:srgbClr val="E3E6EA"/>
            </a:solidFill>
            <a:prstDash val="solid"/>
          </a:ln>
        </p:spPr>
      </p:sp>
      <p:sp>
        <p:nvSpPr>
          <p:cNvPr id="20" name="Shape 17"/>
          <p:cNvSpPr/>
          <p:nvPr/>
        </p:nvSpPr>
        <p:spPr>
          <a:xfrm>
            <a:off x="1600200" y="4343400"/>
            <a:ext cx="1892808" cy="274320"/>
          </a:xfrm>
          <a:prstGeom prst="roundRect">
            <a:avLst>
              <a:gd name="adj" fmla="val 50000"/>
            </a:avLst>
          </a:prstGeom>
          <a:solidFill>
            <a:srgbClr val="FF8A00"/>
          </a:solidFill>
          <a:ln w="12700">
            <a:solidFill>
              <a:srgbClr val="FF8A00"/>
            </a:solidFill>
            <a:prstDash val="solid"/>
          </a:ln>
        </p:spPr>
      </p:sp>
      <p:sp>
        <p:nvSpPr>
          <p:cNvPr id="21" name="Text 18"/>
          <p:cNvSpPr txBox="1"/>
          <p:nvPr/>
        </p:nvSpPr>
        <p:spPr>
          <a:xfrm>
            <a:off x="1600200" y="4709160"/>
            <a:ext cx="4389120" cy="320040"/>
          </a:xfrm>
          <a:prstGeom prst="rect">
            <a:avLst/>
          </a:prstGeom>
          <a:noFill/>
          <a:ln/>
        </p:spPr>
        <p:txBody>
          <a:bodyPr wrap="square" lIns="0" tIns="0" rIns="0" bIns="0" rtlCol="0" anchor="ctr"/>
          <a:lstStyle/>
          <a:p>
            <a:pPr indent="0" marL="0">
              <a:buNone/>
            </a:pPr>
            <a:r>
              <a:rPr lang="en-US" sz="1300" dirty="0">
                <a:solidFill>
                  <a:srgbClr val="5B6573"/>
                </a:solidFill>
                <a:latin typeface="Calibri" pitchFamily="34" charset="0"/>
                <a:ea typeface="Calibri" pitchFamily="34" charset="-122"/>
                <a:cs typeface="Calibri" pitchFamily="34" charset="-120"/>
              </a:rPr>
              <a:t>Level 1 · 45 / 100 XP · 55 XP to Level 2</a:t>
            </a:r>
            <a:endParaRPr lang="en-US" sz="1300" dirty="0"/>
          </a:p>
        </p:txBody>
      </p:sp>
      <p:sp>
        <p:nvSpPr>
          <p:cNvPr id="22" name="Text 19"/>
          <p:cNvSpPr txBox="1"/>
          <p:nvPr/>
        </p:nvSpPr>
        <p:spPr>
          <a:xfrm>
            <a:off x="6400800" y="3794760"/>
            <a:ext cx="521208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Player Progress card on the Dashboard</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“Workout Complete!” and “Level Up!” alerts after each workout</a:t>
            </a:r>
            <a:endParaRPr lang="en-US" sz="1600" dirty="0"/>
          </a:p>
          <a:p>
            <a:pPr marL="342900" indent="-342900">
              <a:spcAft>
                <a:spcPts val="800"/>
              </a:spcAft>
              <a:buSzPct val="100000"/>
              <a:buChar char="•"/>
            </a:pPr>
            <a:r>
              <a:rPr lang="en-US" sz="1600" dirty="0">
                <a:solidFill>
                  <a:srgbClr val="1F2328"/>
                </a:solidFill>
                <a:latin typeface="Calibri" pitchFamily="34" charset="0"/>
                <a:ea typeface="Calibri" pitchFamily="34" charset="-122"/>
                <a:cs typeface="Calibri" pitchFamily="34" charset="-120"/>
              </a:rPr>
              <a:t>XP updates automatically from saved workouts</a:t>
            </a:r>
            <a:endParaRPr lang="en-US" sz="1600" dirty="0"/>
          </a:p>
        </p:txBody>
      </p:sp>
      <p:sp>
        <p:nvSpPr>
          <p:cNvPr id="23" name="Text 20"/>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500" i="1" dirty="0">
                <a:solidFill>
                  <a:srgbClr val="1F2328"/>
                </a:solidFill>
                <a:latin typeface="Calibri" pitchFamily="34" charset="0"/>
                <a:ea typeface="Calibri" pitchFamily="34" charset="-122"/>
                <a:cs typeface="Calibri" pitchFamily="34" charset="-120"/>
              </a:rPr>
              <a:t>Example: 5 swishes in Free Throws = 25 + 5 + 10 + 15 = 55 XP</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TESTING &amp; VALIDATION</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Verified with known data and real devices</a:t>
            </a:r>
            <a:endParaRPr lang="en-US" sz="3400" dirty="0"/>
          </a:p>
        </p:txBody>
      </p:sp>
      <p:sp>
        <p:nvSpPr>
          <p:cNvPr id="4" name="Shape 2"/>
          <p:cNvSpPr/>
          <p:nvPr/>
        </p:nvSpPr>
        <p:spPr>
          <a:xfrm>
            <a:off x="548640" y="1645920"/>
            <a:ext cx="3840480" cy="1828800"/>
          </a:xfrm>
          <a:prstGeom prst="roundRect">
            <a:avLst>
              <a:gd name="adj" fmla="val 6000"/>
            </a:avLst>
          </a:prstGeom>
          <a:solidFill>
            <a:srgbClr val="F2F3F5"/>
          </a:solidFill>
          <a:ln w="12700">
            <a:solidFill>
              <a:srgbClr val="F2F3F5"/>
            </a:solidFill>
            <a:prstDash val="solid"/>
          </a:ln>
        </p:spPr>
      </p:sp>
      <p:sp>
        <p:nvSpPr>
          <p:cNvPr id="5" name="Text 3"/>
          <p:cNvSpPr txBox="1"/>
          <p:nvPr/>
        </p:nvSpPr>
        <p:spPr>
          <a:xfrm>
            <a:off x="777240" y="1737360"/>
            <a:ext cx="3474720" cy="1005840"/>
          </a:xfrm>
          <a:prstGeom prst="rect">
            <a:avLst/>
          </a:prstGeom>
          <a:noFill/>
          <a:ln/>
        </p:spPr>
        <p:txBody>
          <a:bodyPr wrap="square" lIns="0" tIns="0" rIns="0" bIns="0" rtlCol="0" anchor="ctr"/>
          <a:lstStyle/>
          <a:p>
            <a:pPr indent="0" marL="0">
              <a:buNone/>
            </a:pPr>
            <a:r>
              <a:rPr lang="en-US" sz="5400" b="1" dirty="0">
                <a:solidFill>
                  <a:srgbClr val="FF8A00"/>
                </a:solidFill>
                <a:latin typeface="Arial" pitchFamily="34" charset="0"/>
                <a:ea typeface="Arial" pitchFamily="34" charset="-122"/>
                <a:cs typeface="Arial" pitchFamily="34" charset="-120"/>
              </a:rPr>
              <a:t>36 / 36</a:t>
            </a:r>
            <a:endParaRPr lang="en-US" sz="5400" dirty="0"/>
          </a:p>
        </p:txBody>
      </p:sp>
      <p:sp>
        <p:nvSpPr>
          <p:cNvPr id="6" name="Text 4"/>
          <p:cNvSpPr txBox="1"/>
          <p:nvPr/>
        </p:nvSpPr>
        <p:spPr>
          <a:xfrm>
            <a:off x="777240" y="2743200"/>
            <a:ext cx="3474720" cy="457200"/>
          </a:xfrm>
          <a:prstGeom prst="rect">
            <a:avLst/>
          </a:prstGeom>
          <a:noFill/>
          <a:ln/>
        </p:spPr>
        <p:txBody>
          <a:bodyPr wrap="square" lIns="0" tIns="0" rIns="0" bIns="0" rtlCol="0" anchor="ctr"/>
          <a:lstStyle/>
          <a:p>
            <a:pPr indent="0" marL="0">
              <a:buNone/>
            </a:pPr>
            <a:r>
              <a:rPr lang="en-US" sz="1600" dirty="0">
                <a:solidFill>
                  <a:srgbClr val="5B6573"/>
                </a:solidFill>
                <a:latin typeface="Calibri" pitchFamily="34" charset="0"/>
                <a:ea typeface="Calibri" pitchFamily="34" charset="-122"/>
                <a:cs typeface="Calibri" pitchFamily="34" charset="-120"/>
              </a:rPr>
              <a:t>unit tests passing</a:t>
            </a:r>
            <a:endParaRPr lang="en-US" sz="1600" dirty="0"/>
          </a:p>
        </p:txBody>
      </p:sp>
      <p:sp>
        <p:nvSpPr>
          <p:cNvPr id="7" name="Shape 5"/>
          <p:cNvSpPr/>
          <p:nvPr/>
        </p:nvSpPr>
        <p:spPr>
          <a:xfrm>
            <a:off x="548640" y="3703320"/>
            <a:ext cx="3840480" cy="1828800"/>
          </a:xfrm>
          <a:prstGeom prst="roundRect">
            <a:avLst>
              <a:gd name="adj" fmla="val 6000"/>
            </a:avLst>
          </a:prstGeom>
          <a:solidFill>
            <a:srgbClr val="F2F3F5"/>
          </a:solidFill>
          <a:ln w="12700">
            <a:solidFill>
              <a:srgbClr val="F2F3F5"/>
            </a:solidFill>
            <a:prstDash val="solid"/>
          </a:ln>
        </p:spPr>
      </p:sp>
      <p:sp>
        <p:nvSpPr>
          <p:cNvPr id="8" name="Text 6"/>
          <p:cNvSpPr txBox="1"/>
          <p:nvPr/>
        </p:nvSpPr>
        <p:spPr>
          <a:xfrm>
            <a:off x="777240" y="3794760"/>
            <a:ext cx="3474720" cy="1005840"/>
          </a:xfrm>
          <a:prstGeom prst="rect">
            <a:avLst/>
          </a:prstGeom>
          <a:noFill/>
          <a:ln/>
        </p:spPr>
        <p:txBody>
          <a:bodyPr wrap="square" lIns="0" tIns="0" rIns="0" bIns="0" rtlCol="0" anchor="ctr"/>
          <a:lstStyle/>
          <a:p>
            <a:pPr indent="0" marL="0">
              <a:buNone/>
            </a:pPr>
            <a:r>
              <a:rPr lang="en-US" sz="4400" b="1" dirty="0">
                <a:solidFill>
                  <a:srgbClr val="2FA85A"/>
                </a:solidFill>
                <a:latin typeface="Arial" pitchFamily="34" charset="0"/>
                <a:ea typeface="Arial" pitchFamily="34" charset="-122"/>
                <a:cs typeface="Arial" pitchFamily="34" charset="-120"/>
              </a:rPr>
              <a:t>53% → 0%</a:t>
            </a:r>
            <a:endParaRPr lang="en-US" sz="4400" dirty="0"/>
          </a:p>
        </p:txBody>
      </p:sp>
      <p:sp>
        <p:nvSpPr>
          <p:cNvPr id="9" name="Text 7"/>
          <p:cNvSpPr txBox="1"/>
          <p:nvPr/>
        </p:nvSpPr>
        <p:spPr>
          <a:xfrm>
            <a:off x="777240" y="4800600"/>
            <a:ext cx="3474720" cy="548640"/>
          </a:xfrm>
          <a:prstGeom prst="rect">
            <a:avLst/>
          </a:prstGeom>
          <a:noFill/>
          <a:ln/>
        </p:spPr>
        <p:txBody>
          <a:bodyPr wrap="square" lIns="0" tIns="0" rIns="0" bIns="0" rtlCol="0" anchor="ctr"/>
          <a:lstStyle/>
          <a:p>
            <a:pPr indent="0" marL="0">
              <a:buNone/>
            </a:pPr>
            <a:r>
              <a:rPr lang="en-US" sz="1500" dirty="0">
                <a:solidFill>
                  <a:srgbClr val="5B6573"/>
                </a:solidFill>
                <a:latin typeface="Calibri" pitchFamily="34" charset="0"/>
                <a:ea typeface="Calibri" pitchFamily="34" charset="-122"/>
                <a:cs typeface="Calibri" pitchFamily="34" charset="-120"/>
              </a:rPr>
              <a:t>idle CPU after fixing the flame animation</a:t>
            </a:r>
            <a:endParaRPr lang="en-US" sz="1500" dirty="0"/>
          </a:p>
        </p:txBody>
      </p:sp>
      <p:graphicFrame>
        <p:nvGraphicFramePr>
          <p:cNvPr id="10" name="Chart 0" descr=""/>
          <p:cNvGraphicFramePr/>
          <p:nvPr/>
        </p:nvGraphicFramePr>
        <p:xfrm>
          <a:off x="4754880" y="155448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4754880" y="4526280"/>
            <a:ext cx="685800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Full workouts: shots swiped on the watch match the phone's counts</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Changed the phone's date: next day, rest day, and two missed days</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Edited and completed goals; the popup appears once per period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KANBAN &amp; TEAM CONTRIBUTIONS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Work tracked on GitHub</a:t>
            </a:r>
            <a:endParaRPr lang="en-US" sz="3400" dirty="0"/>
          </a:p>
        </p:txBody>
      </p:sp>
      <p:graphicFrame>
        <p:nvGraphicFramePr>
          <p:cNvPr id="4" name="Chart 0" descr=""/>
          <p:cNvGraphicFramePr/>
          <p:nvPr/>
        </p:nvGraphicFramePr>
        <p:xfrm>
          <a:off x="548640" y="1554480"/>
          <a:ext cx="4480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94960" y="1645920"/>
          <a:ext cx="6217920" cy="914400"/>
        </p:xfrm>
        <a:graphic>
          <a:graphicData uri="http://schemas.openxmlformats.org/drawingml/2006/table">
            <a:tbl>
              <a:tblPr/>
              <a:tblGrid>
                <a:gridCol w="548640"/>
                <a:gridCol w="2743200"/>
                <a:gridCol w="1737360"/>
                <a:gridCol w="118872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Issue</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Streak tracking</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Melvin</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2FA85A"/>
                          </a:solidFill>
                          <a:latin typeface="Calibri" pitchFamily="34" charset="0"/>
                          <a:ea typeface="Calibri" pitchFamily="34" charset="-122"/>
                          <a:cs typeface="Calibri" pitchFamily="34" charset="-120"/>
                        </a:rPr>
                        <a:t>Closed</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Goal progress</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Melvin, Kaleb</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2FA85A"/>
                          </a:solidFill>
                          <a:latin typeface="Calibri" pitchFamily="34" charset="0"/>
                          <a:ea typeface="Calibri" pitchFamily="34" charset="-122"/>
                          <a:cs typeface="Calibri" pitchFamily="34" charset="-120"/>
                        </a:rPr>
                        <a:t>Closed</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Android port (~90%)</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Kellam</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2FA85A"/>
                          </a:solidFill>
                          <a:latin typeface="Calibri" pitchFamily="34" charset="0"/>
                          <a:ea typeface="Calibri" pitchFamily="34" charset="-122"/>
                          <a:cs typeface="Calibri" pitchFamily="34" charset="-120"/>
                        </a:rPr>
                        <a:t>Closed</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Wear OS integration</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Kellam, Melvin</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2FA85A"/>
                          </a:solidFill>
                          <a:latin typeface="Calibri" pitchFamily="34" charset="0"/>
                          <a:ea typeface="Calibri" pitchFamily="34" charset="-122"/>
                          <a:cs typeface="Calibri" pitchFamily="34" charset="-120"/>
                        </a:rPr>
                        <a:t>Closed</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XP &amp; levels (iOS)</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Kaleb</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2FA85A"/>
                          </a:solidFill>
                          <a:latin typeface="Calibri" pitchFamily="34" charset="0"/>
                          <a:ea typeface="Calibri" pitchFamily="34" charset="-122"/>
                          <a:cs typeface="Calibri" pitchFamily="34" charset="-120"/>
                        </a:rPr>
                        <a:t>Closed</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Apple Watch repeated-shot bug</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FF8A00"/>
                          </a:solidFill>
                          <a:latin typeface="Calibri" pitchFamily="34" charset="0"/>
                          <a:ea typeface="Calibri" pitchFamily="34" charset="-122"/>
                          <a:cs typeface="Calibri" pitchFamily="34" charset="-120"/>
                        </a:rPr>
                        <a:t>Sprint 5</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438912">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Android/Wear OS polish</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dirty="0">
                          <a:solidFill>
                            <a:srgbClr val="1F2328"/>
                          </a:solidFill>
                          <a:latin typeface="Calibri" pitchFamily="34" charset="0"/>
                          <a:ea typeface="Calibri" pitchFamily="34" charset="-122"/>
                          <a:cs typeface="Calibri" pitchFamily="34" charset="-120"/>
                        </a:rPr>
                        <a:t>Team</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400" b="1" dirty="0">
                          <a:solidFill>
                            <a:srgbClr val="FF8A00"/>
                          </a:solidFill>
                          <a:latin typeface="Calibri" pitchFamily="34" charset="0"/>
                          <a:ea typeface="Calibri" pitchFamily="34" charset="-122"/>
                          <a:cs typeface="Calibri" pitchFamily="34" charset="-120"/>
                        </a:rPr>
                        <a:t>Sprint 5</a:t>
                      </a:r>
                      <a:endParaRPr lang="en-US" sz="14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bl>
          </a:graphicData>
        </a:graphic>
      </p:graphicFrame>
      <p:sp>
        <p:nvSpPr>
          <p:cNvPr id="6" name="Text 2"/>
          <p:cNvSpPr txBox="1"/>
          <p:nvPr/>
        </p:nvSpPr>
        <p:spPr>
          <a:xfrm>
            <a:off x="5394960" y="5349240"/>
            <a:ext cx="6217920" cy="457200"/>
          </a:xfrm>
          <a:prstGeom prst="rect">
            <a:avLst/>
          </a:prstGeom>
          <a:noFill/>
          <a:ln/>
        </p:spPr>
        <p:txBody>
          <a:bodyPr wrap="square" lIns="0" tIns="0" rIns="0" bIns="0" rtlCol="0" anchor="ctr"/>
          <a:lstStyle/>
          <a:p>
            <a:pPr indent="0" marL="0">
              <a:buNone/>
            </a:pPr>
            <a:r>
              <a:rPr lang="en-US" sz="1300" dirty="0">
                <a:solidFill>
                  <a:srgbClr val="5B6573"/>
                </a:solidFill>
                <a:latin typeface="Calibri" pitchFamily="34" charset="0"/>
                <a:ea typeface="Calibri" pitchFamily="34" charset="-122"/>
                <a:cs typeface="Calibri" pitchFamily="34" charset="-120"/>
              </a:rPr>
              <a:t>Sprint 4 milestone, story-point labels, and acceptance criteria on every issue.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CLIENT MEETINGS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Two meetings with Squatch Sports this sprint</a:t>
            </a:r>
            <a:endParaRPr lang="en-US" sz="3400" dirty="0"/>
          </a:p>
        </p:txBody>
      </p:sp>
      <p:sp>
        <p:nvSpPr>
          <p:cNvPr id="4" name="Shape 2"/>
          <p:cNvSpPr/>
          <p:nvPr/>
        </p:nvSpPr>
        <p:spPr>
          <a:xfrm>
            <a:off x="548640" y="1645920"/>
            <a:ext cx="5394960" cy="2926080"/>
          </a:xfrm>
          <a:prstGeom prst="roundRect">
            <a:avLst>
              <a:gd name="adj" fmla="val 3750"/>
            </a:avLst>
          </a:prstGeom>
          <a:solidFill>
            <a:srgbClr val="F2F3F5"/>
          </a:solidFill>
          <a:ln w="12700">
            <a:solidFill>
              <a:srgbClr val="F2F3F5"/>
            </a:solidFill>
            <a:prstDash val="solid"/>
          </a:ln>
        </p:spPr>
      </p:sp>
      <p:sp>
        <p:nvSpPr>
          <p:cNvPr id="5" name="Text 3"/>
          <p:cNvSpPr txBox="1"/>
          <p:nvPr/>
        </p:nvSpPr>
        <p:spPr>
          <a:xfrm>
            <a:off x="868680" y="1783080"/>
            <a:ext cx="1828800" cy="640080"/>
          </a:xfrm>
          <a:prstGeom prst="rect">
            <a:avLst/>
          </a:prstGeom>
          <a:noFill/>
          <a:ln/>
        </p:spPr>
        <p:txBody>
          <a:bodyPr wrap="square" lIns="0" tIns="0" rIns="0" bIns="0" rtlCol="0" anchor="ctr"/>
          <a:lstStyle/>
          <a:p>
            <a:pPr indent="0" marL="0">
              <a:buNone/>
            </a:pPr>
            <a:r>
              <a:rPr lang="en-US" sz="3000" b="1" dirty="0">
                <a:solidFill>
                  <a:srgbClr val="FF8A00"/>
                </a:solidFill>
                <a:latin typeface="Arial" pitchFamily="34" charset="0"/>
                <a:ea typeface="Arial" pitchFamily="34" charset="-122"/>
                <a:cs typeface="Arial" pitchFamily="34" charset="-120"/>
              </a:rPr>
              <a:t>Sep 2</a:t>
            </a:r>
            <a:endParaRPr lang="en-US" sz="3000" dirty="0"/>
          </a:p>
        </p:txBody>
      </p:sp>
      <p:sp>
        <p:nvSpPr>
          <p:cNvPr id="6" name="Text 4"/>
          <p:cNvSpPr txBox="1"/>
          <p:nvPr/>
        </p:nvSpPr>
        <p:spPr>
          <a:xfrm>
            <a:off x="2743200" y="1874520"/>
            <a:ext cx="3017520"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Semester kickoff</a:t>
            </a:r>
            <a:endParaRPr lang="en-US" sz="1800" dirty="0"/>
          </a:p>
        </p:txBody>
      </p:sp>
      <p:sp>
        <p:nvSpPr>
          <p:cNvPr id="7" name="Text 5"/>
          <p:cNvSpPr txBox="1"/>
          <p:nvPr/>
        </p:nvSpPr>
        <p:spPr>
          <a:xfrm>
            <a:off x="868680" y="2606040"/>
            <a:ext cx="48006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iOS work is live in the production app</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New focus: Android + Wear OS, stats review, gamification</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Use AI for the port; team builds selected features</a:t>
            </a:r>
            <a:endParaRPr lang="en-US" sz="1500" dirty="0"/>
          </a:p>
        </p:txBody>
      </p:sp>
      <p:sp>
        <p:nvSpPr>
          <p:cNvPr id="8" name="Shape 6"/>
          <p:cNvSpPr/>
          <p:nvPr/>
        </p:nvSpPr>
        <p:spPr>
          <a:xfrm>
            <a:off x="6217920" y="1645920"/>
            <a:ext cx="5394960" cy="2926080"/>
          </a:xfrm>
          <a:prstGeom prst="roundRect">
            <a:avLst>
              <a:gd name="adj" fmla="val 3750"/>
            </a:avLst>
          </a:prstGeom>
          <a:solidFill>
            <a:srgbClr val="F2F3F5"/>
          </a:solidFill>
          <a:ln w="12700">
            <a:solidFill>
              <a:srgbClr val="F2F3F5"/>
            </a:solidFill>
            <a:prstDash val="solid"/>
          </a:ln>
        </p:spPr>
      </p:sp>
      <p:sp>
        <p:nvSpPr>
          <p:cNvPr id="9" name="Text 7"/>
          <p:cNvSpPr txBox="1"/>
          <p:nvPr/>
        </p:nvSpPr>
        <p:spPr>
          <a:xfrm>
            <a:off x="6537960" y="1783080"/>
            <a:ext cx="1828800" cy="640080"/>
          </a:xfrm>
          <a:prstGeom prst="rect">
            <a:avLst/>
          </a:prstGeom>
          <a:noFill/>
          <a:ln/>
        </p:spPr>
        <p:txBody>
          <a:bodyPr wrap="square" lIns="0" tIns="0" rIns="0" bIns="0" rtlCol="0" anchor="ctr"/>
          <a:lstStyle/>
          <a:p>
            <a:pPr indent="0" marL="0">
              <a:buNone/>
            </a:pPr>
            <a:r>
              <a:rPr lang="en-US" sz="3000" b="1" dirty="0">
                <a:solidFill>
                  <a:srgbClr val="FF8A00"/>
                </a:solidFill>
                <a:latin typeface="Arial" pitchFamily="34" charset="0"/>
                <a:ea typeface="Arial" pitchFamily="34" charset="-122"/>
                <a:cs typeface="Arial" pitchFamily="34" charset="-120"/>
              </a:rPr>
              <a:t>Sep 17</a:t>
            </a:r>
            <a:endParaRPr lang="en-US" sz="3000" dirty="0"/>
          </a:p>
        </p:txBody>
      </p:sp>
      <p:sp>
        <p:nvSpPr>
          <p:cNvPr id="10" name="Text 8"/>
          <p:cNvSpPr txBox="1"/>
          <p:nvPr/>
        </p:nvSpPr>
        <p:spPr>
          <a:xfrm>
            <a:off x="8412480" y="1874520"/>
            <a:ext cx="3017520" cy="45720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Client consultation</a:t>
            </a:r>
            <a:endParaRPr lang="en-US" sz="1800" dirty="0"/>
          </a:p>
        </p:txBody>
      </p:sp>
      <p:sp>
        <p:nvSpPr>
          <p:cNvPr id="11" name="Text 9"/>
          <p:cNvSpPr txBox="1"/>
          <p:nvPr/>
        </p:nvSpPr>
        <p:spPr>
          <a:xfrm>
            <a:off x="6537960" y="2606040"/>
            <a:ext cx="480060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Sprint 4–6 plan accepted</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Duolingo-style ideas: streaks, goals, practice time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Bi-weekly demos over Microsoft Teams</a:t>
            </a:r>
            <a:endParaRPr lang="en-US" sz="1500" dirty="0"/>
          </a:p>
        </p:txBody>
      </p:sp>
      <p:sp>
        <p:nvSpPr>
          <p:cNvPr id="12" name="Text 10"/>
          <p:cNvSpPr txBox="1"/>
          <p:nvPr/>
        </p:nvSpPr>
        <p:spPr>
          <a:xfrm>
            <a:off x="548640" y="4892040"/>
            <a:ext cx="11064240" cy="640080"/>
          </a:xfrm>
          <a:prstGeom prst="rect">
            <a:avLst/>
          </a:prstGeom>
          <a:noFill/>
          <a:ln/>
        </p:spPr>
        <p:txBody>
          <a:bodyPr wrap="square" lIns="0" tIns="0" rIns="0" bIns="0" rtlCol="0" anchor="ctr"/>
          <a:lstStyle/>
          <a:p>
            <a:pPr algn="ctr" indent="0" marL="0">
              <a:buNone/>
            </a:pPr>
            <a:r>
              <a:rPr lang="en-US" sz="3000" b="1" i="1" dirty="0">
                <a:solidFill>
                  <a:srgbClr val="1F2328"/>
                </a:solidFill>
                <a:latin typeface="Arial" pitchFamily="34" charset="0"/>
                <a:ea typeface="Arial" pitchFamily="34" charset="-122"/>
                <a:cs typeface="Arial" pitchFamily="34" charset="-120"/>
              </a:rPr>
              <a:t>“Hide the broccoli”</a:t>
            </a:r>
            <a:endParaRPr lang="en-US" sz="3000" dirty="0"/>
          </a:p>
        </p:txBody>
      </p:sp>
      <p:sp>
        <p:nvSpPr>
          <p:cNvPr id="13" name="Text 11"/>
          <p:cNvSpPr txBox="1"/>
          <p:nvPr/>
        </p:nvSpPr>
        <p:spPr>
          <a:xfrm>
            <a:off x="548640" y="5532120"/>
            <a:ext cx="11064240" cy="411480"/>
          </a:xfrm>
          <a:prstGeom prst="rect">
            <a:avLst/>
          </a:prstGeom>
          <a:noFill/>
          <a:ln/>
        </p:spPr>
        <p:txBody>
          <a:bodyPr wrap="square" lIns="0" tIns="0" rIns="0" bIns="0" rtlCol="0" anchor="ctr"/>
          <a:lstStyle/>
          <a:p>
            <a:pPr algn="ctr" indent="0" marL="0">
              <a:buNone/>
            </a:pPr>
            <a:r>
              <a:rPr lang="en-US" sz="1600" dirty="0">
                <a:solidFill>
                  <a:srgbClr val="5B6573"/>
                </a:solidFill>
                <a:latin typeface="Calibri" pitchFamily="34" charset="0"/>
                <a:ea typeface="Calibri" pitchFamily="34" charset="-122"/>
                <a:cs typeface="Calibri" pitchFamily="34" charset="-120"/>
              </a:rPr>
              <a:t>Make logging and reviewing workouts fun enough that players keep coming back.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RESPONSIBLE USE OF AI</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AI sped us up; testing kept us honest</a:t>
            </a:r>
            <a:endParaRPr lang="en-US" sz="3400" dirty="0"/>
          </a:p>
        </p:txBody>
      </p:sp>
      <p:sp>
        <p:nvSpPr>
          <p:cNvPr id="4" name="Shape 2"/>
          <p:cNvSpPr/>
          <p:nvPr/>
        </p:nvSpPr>
        <p:spPr>
          <a:xfrm>
            <a:off x="548640" y="1645920"/>
            <a:ext cx="5394960" cy="2103120"/>
          </a:xfrm>
          <a:prstGeom prst="roundRect">
            <a:avLst>
              <a:gd name="adj" fmla="val 5217"/>
            </a:avLst>
          </a:prstGeom>
          <a:solidFill>
            <a:srgbClr val="F2F3F5"/>
          </a:solidFill>
          <a:ln w="12700">
            <a:solidFill>
              <a:srgbClr val="F2F3F5"/>
            </a:solidFill>
            <a:prstDash val="solid"/>
          </a:ln>
        </p:spPr>
      </p:sp>
      <p:sp>
        <p:nvSpPr>
          <p:cNvPr id="5" name="Shape 3"/>
          <p:cNvSpPr/>
          <p:nvPr/>
        </p:nvSpPr>
        <p:spPr>
          <a:xfrm>
            <a:off x="822960" y="1920240"/>
            <a:ext cx="731520" cy="731520"/>
          </a:xfrm>
          <a:prstGeom prst="ellipse">
            <a:avLst/>
          </a:prstGeom>
          <a:solidFill>
            <a:srgbClr val="FF8A00"/>
          </a:solidFill>
          <a:ln w="12700">
            <a:solidFill>
              <a:srgbClr val="FF8A00"/>
            </a:solidFill>
            <a:prstDash val="solid"/>
          </a:ln>
        </p:spPr>
      </p:sp>
      <p:pic>
        <p:nvPicPr>
          <p:cNvPr id="6" name="Image 0" descr="preencoded.png">    </p:cNvPr>
          <p:cNvPicPr>
            <a:picLocks noChangeAspect="1"/>
          </p:cNvPicPr>
          <p:nvPr/>
        </p:nvPicPr>
        <p:blipFill>
          <a:blip r:embed="rId1"/>
          <a:stretch>
            <a:fillRect/>
          </a:stretch>
        </p:blipFill>
        <p:spPr>
          <a:xfrm>
            <a:off x="998525" y="2095805"/>
            <a:ext cx="380390" cy="380390"/>
          </a:xfrm>
          <a:prstGeom prst="rect">
            <a:avLst/>
          </a:prstGeom>
        </p:spPr>
      </p:pic>
      <p:sp>
        <p:nvSpPr>
          <p:cNvPr id="7" name="Text 4"/>
          <p:cNvSpPr txBox="1"/>
          <p:nvPr/>
        </p:nvSpPr>
        <p:spPr>
          <a:xfrm>
            <a:off x="1737360" y="1965960"/>
            <a:ext cx="4023360" cy="41148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How we used it</a:t>
            </a:r>
            <a:endParaRPr lang="en-US" sz="1800" dirty="0"/>
          </a:p>
        </p:txBody>
      </p:sp>
      <p:sp>
        <p:nvSpPr>
          <p:cNvPr id="8" name="Text 5"/>
          <p:cNvSpPr txBox="1"/>
          <p:nvPr/>
        </p:nvSpPr>
        <p:spPr>
          <a:xfrm>
            <a:off x="1737360" y="2423160"/>
            <a:ext cx="4023360" cy="118872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AI converted the iOS app to Android (Kellam). Claude Code wrote the streak, goal, and watch-sync code and tests, and helped read device logs (Melvin).</a:t>
            </a:r>
            <a:endParaRPr lang="en-US" sz="1400" dirty="0"/>
          </a:p>
        </p:txBody>
      </p:sp>
      <p:sp>
        <p:nvSpPr>
          <p:cNvPr id="9" name="Shape 6"/>
          <p:cNvSpPr/>
          <p:nvPr/>
        </p:nvSpPr>
        <p:spPr>
          <a:xfrm>
            <a:off x="6217920" y="1645920"/>
            <a:ext cx="5394960" cy="2103120"/>
          </a:xfrm>
          <a:prstGeom prst="roundRect">
            <a:avLst>
              <a:gd name="adj" fmla="val 5217"/>
            </a:avLst>
          </a:prstGeom>
          <a:solidFill>
            <a:srgbClr val="F2F3F5"/>
          </a:solidFill>
          <a:ln w="12700">
            <a:solidFill>
              <a:srgbClr val="F2F3F5"/>
            </a:solidFill>
            <a:prstDash val="solid"/>
          </a:ln>
        </p:spPr>
      </p:sp>
      <p:sp>
        <p:nvSpPr>
          <p:cNvPr id="10" name="Shape 7"/>
          <p:cNvSpPr/>
          <p:nvPr/>
        </p:nvSpPr>
        <p:spPr>
          <a:xfrm>
            <a:off x="6492240" y="1920240"/>
            <a:ext cx="731520" cy="731520"/>
          </a:xfrm>
          <a:prstGeom prst="ellipse">
            <a:avLst/>
          </a:prstGeom>
          <a:solidFill>
            <a:srgbClr val="FF8A00"/>
          </a:solidFill>
          <a:ln w="12700">
            <a:solidFill>
              <a:srgbClr val="FF8A00"/>
            </a:solidFill>
            <a:prstDash val="solid"/>
          </a:ln>
        </p:spPr>
      </p:sp>
      <p:pic>
        <p:nvPicPr>
          <p:cNvPr id="11" name="Image 1" descr="preencoded.png">    </p:cNvPr>
          <p:cNvPicPr>
            <a:picLocks noChangeAspect="1"/>
          </p:cNvPicPr>
          <p:nvPr/>
        </p:nvPicPr>
        <p:blipFill>
          <a:blip r:embed="rId2"/>
          <a:stretch>
            <a:fillRect/>
          </a:stretch>
        </p:blipFill>
        <p:spPr>
          <a:xfrm>
            <a:off x="6667805" y="2095805"/>
            <a:ext cx="380390" cy="380390"/>
          </a:xfrm>
          <a:prstGeom prst="rect">
            <a:avLst/>
          </a:prstGeom>
        </p:spPr>
      </p:pic>
      <p:sp>
        <p:nvSpPr>
          <p:cNvPr id="12" name="Text 8"/>
          <p:cNvSpPr txBox="1"/>
          <p:nvPr/>
        </p:nvSpPr>
        <p:spPr>
          <a:xfrm>
            <a:off x="7406640" y="1965960"/>
            <a:ext cx="4023360" cy="41148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What it improved</a:t>
            </a:r>
            <a:endParaRPr lang="en-US" sz="1800" dirty="0"/>
          </a:p>
        </p:txBody>
      </p:sp>
      <p:sp>
        <p:nvSpPr>
          <p:cNvPr id="13" name="Text 9"/>
          <p:cNvSpPr txBox="1"/>
          <p:nvPr/>
        </p:nvSpPr>
        <p:spPr>
          <a:xfrm>
            <a:off x="7406640" y="2423160"/>
            <a:ext cx="4023360" cy="118872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We built the features quickly while learning Android for the first time, and got 36 automated tests using known dates and data.</a:t>
            </a:r>
            <a:endParaRPr lang="en-US" sz="1400" dirty="0"/>
          </a:p>
        </p:txBody>
      </p:sp>
      <p:sp>
        <p:nvSpPr>
          <p:cNvPr id="14" name="Shape 10"/>
          <p:cNvSpPr/>
          <p:nvPr/>
        </p:nvSpPr>
        <p:spPr>
          <a:xfrm>
            <a:off x="548640" y="3977640"/>
            <a:ext cx="5394960" cy="2103120"/>
          </a:xfrm>
          <a:prstGeom prst="roundRect">
            <a:avLst>
              <a:gd name="adj" fmla="val 5217"/>
            </a:avLst>
          </a:prstGeom>
          <a:solidFill>
            <a:srgbClr val="F2F3F5"/>
          </a:solidFill>
          <a:ln w="12700">
            <a:solidFill>
              <a:srgbClr val="F2F3F5"/>
            </a:solidFill>
            <a:prstDash val="solid"/>
          </a:ln>
        </p:spPr>
      </p:sp>
      <p:sp>
        <p:nvSpPr>
          <p:cNvPr id="15" name="Shape 11"/>
          <p:cNvSpPr/>
          <p:nvPr/>
        </p:nvSpPr>
        <p:spPr>
          <a:xfrm>
            <a:off x="822960" y="4251960"/>
            <a:ext cx="731520" cy="731520"/>
          </a:xfrm>
          <a:prstGeom prst="ellipse">
            <a:avLst/>
          </a:prstGeom>
          <a:solidFill>
            <a:srgbClr val="FF8A00"/>
          </a:solidFill>
          <a:ln w="12700">
            <a:solidFill>
              <a:srgbClr val="FF8A00"/>
            </a:solidFill>
            <a:prstDash val="solid"/>
          </a:ln>
        </p:spPr>
      </p:sp>
      <p:pic>
        <p:nvPicPr>
          <p:cNvPr id="16" name="Image 2" descr="preencoded.png">    </p:cNvPr>
          <p:cNvPicPr>
            <a:picLocks noChangeAspect="1"/>
          </p:cNvPicPr>
          <p:nvPr/>
        </p:nvPicPr>
        <p:blipFill>
          <a:blip r:embed="rId3"/>
          <a:stretch>
            <a:fillRect/>
          </a:stretch>
        </p:blipFill>
        <p:spPr>
          <a:xfrm>
            <a:off x="998525" y="4427525"/>
            <a:ext cx="380390" cy="380390"/>
          </a:xfrm>
          <a:prstGeom prst="rect">
            <a:avLst/>
          </a:prstGeom>
        </p:spPr>
      </p:pic>
      <p:sp>
        <p:nvSpPr>
          <p:cNvPr id="17" name="Text 12"/>
          <p:cNvSpPr txBox="1"/>
          <p:nvPr/>
        </p:nvSpPr>
        <p:spPr>
          <a:xfrm>
            <a:off x="1737360" y="4297680"/>
            <a:ext cx="4023360" cy="41148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Limitations we found</a:t>
            </a:r>
            <a:endParaRPr lang="en-US" sz="1800" dirty="0"/>
          </a:p>
        </p:txBody>
      </p:sp>
      <p:sp>
        <p:nvSpPr>
          <p:cNvPr id="18" name="Text 13"/>
          <p:cNvSpPr txBox="1"/>
          <p:nvPr/>
        </p:nvSpPr>
        <p:spPr>
          <a:xfrm>
            <a:off x="1737360" y="4754880"/>
            <a:ext cx="4023360" cy="118872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An AI-written animation passed every test but froze the emulators. AI also only follows the rules we give it, so we designed the streak rules ourselves.</a:t>
            </a:r>
            <a:endParaRPr lang="en-US" sz="1400" dirty="0"/>
          </a:p>
        </p:txBody>
      </p:sp>
      <p:sp>
        <p:nvSpPr>
          <p:cNvPr id="19" name="Shape 14"/>
          <p:cNvSpPr/>
          <p:nvPr/>
        </p:nvSpPr>
        <p:spPr>
          <a:xfrm>
            <a:off x="6217920" y="3977640"/>
            <a:ext cx="5394960" cy="2103120"/>
          </a:xfrm>
          <a:prstGeom prst="roundRect">
            <a:avLst>
              <a:gd name="adj" fmla="val 5217"/>
            </a:avLst>
          </a:prstGeom>
          <a:solidFill>
            <a:srgbClr val="F2F3F5"/>
          </a:solidFill>
          <a:ln w="12700">
            <a:solidFill>
              <a:srgbClr val="F2F3F5"/>
            </a:solidFill>
            <a:prstDash val="solid"/>
          </a:ln>
        </p:spPr>
      </p:sp>
      <p:sp>
        <p:nvSpPr>
          <p:cNvPr id="20" name="Shape 15"/>
          <p:cNvSpPr/>
          <p:nvPr/>
        </p:nvSpPr>
        <p:spPr>
          <a:xfrm>
            <a:off x="6492240" y="4251960"/>
            <a:ext cx="731520" cy="731520"/>
          </a:xfrm>
          <a:prstGeom prst="ellipse">
            <a:avLst/>
          </a:prstGeom>
          <a:solidFill>
            <a:srgbClr val="FF8A00"/>
          </a:solidFill>
          <a:ln w="12700">
            <a:solidFill>
              <a:srgbClr val="FF8A00"/>
            </a:solidFill>
            <a:prstDash val="solid"/>
          </a:ln>
        </p:spPr>
      </p:sp>
      <p:pic>
        <p:nvPicPr>
          <p:cNvPr id="21" name="Image 3" descr="preencoded.png">    </p:cNvPr>
          <p:cNvPicPr>
            <a:picLocks noChangeAspect="1"/>
          </p:cNvPicPr>
          <p:nvPr/>
        </p:nvPicPr>
        <p:blipFill>
          <a:blip r:embed="rId4"/>
          <a:stretch>
            <a:fillRect/>
          </a:stretch>
        </p:blipFill>
        <p:spPr>
          <a:xfrm>
            <a:off x="6667805" y="4427525"/>
            <a:ext cx="380390" cy="380390"/>
          </a:xfrm>
          <a:prstGeom prst="rect">
            <a:avLst/>
          </a:prstGeom>
        </p:spPr>
      </p:pic>
      <p:sp>
        <p:nvSpPr>
          <p:cNvPr id="22" name="Text 16"/>
          <p:cNvSpPr txBox="1"/>
          <p:nvPr/>
        </p:nvSpPr>
        <p:spPr>
          <a:xfrm>
            <a:off x="7406640" y="4297680"/>
            <a:ext cx="4023360" cy="411480"/>
          </a:xfrm>
          <a:prstGeom prst="rect">
            <a:avLst/>
          </a:prstGeom>
          <a:noFill/>
          <a:ln/>
        </p:spPr>
        <p:txBody>
          <a:bodyPr wrap="square" lIns="0" tIns="0" rIns="0" bIns="0" rtlCol="0" anchor="ctr"/>
          <a:lstStyle/>
          <a:p>
            <a:pPr indent="0" marL="0">
              <a:buNone/>
            </a:pPr>
            <a:r>
              <a:rPr lang="en-US" sz="1800" b="1" dirty="0">
                <a:solidFill>
                  <a:srgbClr val="1F2328"/>
                </a:solidFill>
                <a:latin typeface="Arial" pitchFamily="34" charset="0"/>
                <a:ea typeface="Arial" pitchFamily="34" charset="-122"/>
                <a:cs typeface="Arial" pitchFamily="34" charset="-120"/>
              </a:rPr>
              <a:t>Verification &amp; accountability</a:t>
            </a:r>
            <a:endParaRPr lang="en-US" sz="1800" dirty="0"/>
          </a:p>
        </p:txBody>
      </p:sp>
      <p:sp>
        <p:nvSpPr>
          <p:cNvPr id="23" name="Text 17"/>
          <p:cNvSpPr txBox="1"/>
          <p:nvPr/>
        </p:nvSpPr>
        <p:spPr>
          <a:xfrm>
            <a:off x="7406640" y="4754880"/>
            <a:ext cx="4023360" cy="1188720"/>
          </a:xfrm>
          <a:prstGeom prst="rect">
            <a:avLst/>
          </a:prstGeom>
          <a:noFill/>
          <a:ln/>
        </p:spPr>
        <p:txBody>
          <a:bodyPr wrap="square" lIns="0" tIns="0" rIns="0" bIns="0" rtlCol="0" anchor="t"/>
          <a:lstStyle/>
          <a:p>
            <a:pPr indent="0" marL="0">
              <a:buNone/>
            </a:pPr>
            <a:r>
              <a:rPr lang="en-US" sz="1400" dirty="0">
                <a:solidFill>
                  <a:srgbClr val="5B6573"/>
                </a:solidFill>
                <a:latin typeface="Calibri" pitchFamily="34" charset="0"/>
                <a:ea typeface="Calibri" pitchFamily="34" charset="-122"/>
                <a:cs typeface="Calibri" pitchFamily="34" charset="-120"/>
              </a:rPr>
              <a:t>Every feature was reviewed and tested on emulators. Final decisions and deliverables are the team's responsibility.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ACHIEVEMENTS &amp; CHALLENGES</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What we delivered and what we overcame</a:t>
            </a:r>
            <a:endParaRPr lang="en-US" sz="3400" dirty="0"/>
          </a:p>
        </p:txBody>
      </p:sp>
      <p:pic>
        <p:nvPicPr>
          <p:cNvPr id="4" name="Image 0" descr="preencoded.png">    </p:cNvPr>
          <p:cNvPicPr>
            <a:picLocks noChangeAspect="1"/>
          </p:cNvPicPr>
          <p:nvPr/>
        </p:nvPicPr>
        <p:blipFill>
          <a:blip r:embed="rId1"/>
          <a:stretch>
            <a:fillRect/>
          </a:stretch>
        </p:blipFill>
        <p:spPr>
          <a:xfrm>
            <a:off x="548640" y="1728216"/>
            <a:ext cx="347472" cy="347472"/>
          </a:xfrm>
          <a:prstGeom prst="rect">
            <a:avLst/>
          </a:prstGeom>
        </p:spPr>
      </p:pic>
      <p:sp>
        <p:nvSpPr>
          <p:cNvPr id="5" name="Text 2"/>
          <p:cNvSpPr txBox="1"/>
          <p:nvPr/>
        </p:nvSpPr>
        <p:spPr>
          <a:xfrm>
            <a:off x="1051560" y="1691640"/>
            <a:ext cx="4206240" cy="457200"/>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Android phone + Wear OS apps working end to end</a:t>
            </a:r>
            <a:endParaRPr lang="en-US" sz="1600" dirty="0"/>
          </a:p>
        </p:txBody>
      </p:sp>
      <p:pic>
        <p:nvPicPr>
          <p:cNvPr id="6" name="Image 1" descr="preencoded.png">    </p:cNvPr>
          <p:cNvPicPr>
            <a:picLocks noChangeAspect="1"/>
          </p:cNvPicPr>
          <p:nvPr/>
        </p:nvPicPr>
        <p:blipFill>
          <a:blip r:embed="rId2"/>
          <a:stretch>
            <a:fillRect/>
          </a:stretch>
        </p:blipFill>
        <p:spPr>
          <a:xfrm>
            <a:off x="548640" y="2386584"/>
            <a:ext cx="347472" cy="347472"/>
          </a:xfrm>
          <a:prstGeom prst="rect">
            <a:avLst/>
          </a:prstGeom>
        </p:spPr>
      </p:pic>
      <p:sp>
        <p:nvSpPr>
          <p:cNvPr id="7" name="Text 3"/>
          <p:cNvSpPr txBox="1"/>
          <p:nvPr/>
        </p:nvSpPr>
        <p:spPr>
          <a:xfrm>
            <a:off x="1051560" y="2350008"/>
            <a:ext cx="4206240" cy="457200"/>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Streaks and goals on the phone and watch</a:t>
            </a:r>
            <a:endParaRPr lang="en-US" sz="1600" dirty="0"/>
          </a:p>
        </p:txBody>
      </p:sp>
      <p:pic>
        <p:nvPicPr>
          <p:cNvPr id="8" name="Image 2" descr="preencoded.png">    </p:cNvPr>
          <p:cNvPicPr>
            <a:picLocks noChangeAspect="1"/>
          </p:cNvPicPr>
          <p:nvPr/>
        </p:nvPicPr>
        <p:blipFill>
          <a:blip r:embed="rId3"/>
          <a:stretch>
            <a:fillRect/>
          </a:stretch>
        </p:blipFill>
        <p:spPr>
          <a:xfrm>
            <a:off x="548640" y="3044952"/>
            <a:ext cx="347472" cy="347472"/>
          </a:xfrm>
          <a:prstGeom prst="rect">
            <a:avLst/>
          </a:prstGeom>
        </p:spPr>
      </p:pic>
      <p:sp>
        <p:nvSpPr>
          <p:cNvPr id="9" name="Text 4"/>
          <p:cNvSpPr txBox="1"/>
          <p:nvPr/>
        </p:nvSpPr>
        <p:spPr>
          <a:xfrm>
            <a:off x="1051560" y="3008376"/>
            <a:ext cx="4206240" cy="457200"/>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XP and levels on iOS</a:t>
            </a:r>
            <a:endParaRPr lang="en-US" sz="1600" dirty="0"/>
          </a:p>
        </p:txBody>
      </p:sp>
      <p:pic>
        <p:nvPicPr>
          <p:cNvPr id="10" name="Image 3" descr="preencoded.png">    </p:cNvPr>
          <p:cNvPicPr>
            <a:picLocks noChangeAspect="1"/>
          </p:cNvPicPr>
          <p:nvPr/>
        </p:nvPicPr>
        <p:blipFill>
          <a:blip r:embed="rId4"/>
          <a:stretch>
            <a:fillRect/>
          </a:stretch>
        </p:blipFill>
        <p:spPr>
          <a:xfrm>
            <a:off x="548640" y="3703320"/>
            <a:ext cx="347472" cy="347472"/>
          </a:xfrm>
          <a:prstGeom prst="rect">
            <a:avLst/>
          </a:prstGeom>
        </p:spPr>
      </p:pic>
      <p:sp>
        <p:nvSpPr>
          <p:cNvPr id="11" name="Text 5"/>
          <p:cNvSpPr txBox="1"/>
          <p:nvPr/>
        </p:nvSpPr>
        <p:spPr>
          <a:xfrm>
            <a:off x="1051560" y="3666744"/>
            <a:ext cx="4206240" cy="457200"/>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36 passing unit tests</a:t>
            </a:r>
            <a:endParaRPr lang="en-US" sz="1600" dirty="0"/>
          </a:p>
        </p:txBody>
      </p:sp>
      <p:pic>
        <p:nvPicPr>
          <p:cNvPr id="12" name="Image 4" descr="preencoded.png">    </p:cNvPr>
          <p:cNvPicPr>
            <a:picLocks noChangeAspect="1"/>
          </p:cNvPicPr>
          <p:nvPr/>
        </p:nvPicPr>
        <p:blipFill>
          <a:blip r:embed="rId5"/>
          <a:stretch>
            <a:fillRect/>
          </a:stretch>
        </p:blipFill>
        <p:spPr>
          <a:xfrm>
            <a:off x="548640" y="4361688"/>
            <a:ext cx="347472" cy="347472"/>
          </a:xfrm>
          <a:prstGeom prst="rect">
            <a:avLst/>
          </a:prstGeom>
        </p:spPr>
      </p:pic>
      <p:sp>
        <p:nvSpPr>
          <p:cNvPr id="13" name="Text 6"/>
          <p:cNvSpPr txBox="1"/>
          <p:nvPr/>
        </p:nvSpPr>
        <p:spPr>
          <a:xfrm>
            <a:off x="1051560" y="4325112"/>
            <a:ext cx="4206240" cy="457200"/>
          </a:xfrm>
          <a:prstGeom prst="rect">
            <a:avLst/>
          </a:prstGeom>
          <a:noFill/>
          <a:ln/>
        </p:spPr>
        <p:txBody>
          <a:bodyPr wrap="square" lIns="0" tIns="0" rIns="0" bIns="0" rtlCol="0" anchor="ctr"/>
          <a:lstStyle/>
          <a:p>
            <a:pPr indent="0" marL="0">
              <a:buNone/>
            </a:pPr>
            <a:r>
              <a:rPr lang="en-US" sz="1600" dirty="0">
                <a:solidFill>
                  <a:srgbClr val="1F2328"/>
                </a:solidFill>
                <a:latin typeface="Calibri" pitchFamily="34" charset="0"/>
                <a:ea typeface="Calibri" pitchFamily="34" charset="-122"/>
                <a:cs typeface="Calibri" pitchFamily="34" charset="-120"/>
              </a:rPr>
              <a:t>GitHub milestones, issues, and story points</a:t>
            </a:r>
            <a:endParaRPr lang="en-US" sz="1600" dirty="0"/>
          </a:p>
        </p:txBody>
      </p:sp>
      <p:sp>
        <p:nvSpPr>
          <p:cNvPr id="14" name="Text 7"/>
          <p:cNvSpPr txBox="1"/>
          <p:nvPr/>
        </p:nvSpPr>
        <p:spPr>
          <a:xfrm>
            <a:off x="548640" y="5120640"/>
            <a:ext cx="4846320" cy="914400"/>
          </a:xfrm>
          <a:prstGeom prst="rect">
            <a:avLst/>
          </a:prstGeom>
          <a:noFill/>
          <a:ln/>
        </p:spPr>
        <p:txBody>
          <a:bodyPr wrap="square" lIns="0" tIns="0" rIns="0" bIns="0" rtlCol="0" anchor="t"/>
          <a:lstStyle/>
          <a:p>
            <a:pPr indent="0" marL="0">
              <a:buNone/>
            </a:pPr>
            <a:r>
              <a:rPr lang="en-US" sz="1300" i="1" dirty="0">
                <a:solidFill>
                  <a:srgbClr val="5B6573"/>
                </a:solidFill>
                <a:latin typeface="Calibri" pitchFamily="34" charset="0"/>
                <a:ea typeface="Calibri" pitchFamily="34" charset="-122"/>
                <a:cs typeface="Calibri" pitchFamily="34" charset="-120"/>
              </a:rPr>
              <a:t>From Sprint 3: saving data and recovery were our open items. The Android app saves workouts on the phone, and the watch keeps the last stats sync.</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60720" y="1645920"/>
          <a:ext cx="5852160" cy="914400"/>
        </p:xfrm>
        <a:graphic>
          <a:graphicData uri="http://schemas.openxmlformats.org/drawingml/2006/table">
            <a:tbl>
              <a:tblPr/>
              <a:tblGrid>
                <a:gridCol w="2743200"/>
                <a:gridCol w="31089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Challenge</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we solved it</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solidFill>
                      <a:srgbClr val="16191D"/>
                    </a:solidFill>
                  </a:tcPr>
                </a:tc>
              </a:tr>
              <a:tr h="777240">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First time building for Android (and on Windows)</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Set up Android Studio with paired phone and Wear OS emulators</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777240">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Testing streaks across multiple days</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Changed the emulator's date and added Load Demo History</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777240">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Emulators stopped responding</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Measured CPU, limited the animation, cold booted the emulator</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r h="777240">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Features built on different platforms</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c>
                  <a:txBody>
                    <a:bodyPr/>
                    <a:lstStyle/>
                    <a:p>
                      <a:pPr indent="0" marL="0">
                        <a:buNone/>
                      </a:pPr>
                      <a:r>
                        <a:rPr lang="en-US" sz="1300" dirty="0">
                          <a:solidFill>
                            <a:srgbClr val="1F2328"/>
                          </a:solidFill>
                          <a:latin typeface="Calibri" pitchFamily="34" charset="0"/>
                          <a:ea typeface="Calibri" pitchFamily="34" charset="-122"/>
                          <a:cs typeface="Calibri" pitchFamily="34" charset="-120"/>
                        </a:rPr>
                        <a:t>Shared rules and one GitHub board for the whole team</a:t>
                      </a:r>
                      <a:endParaRPr lang="en-US" sz="1300" dirty="0">
                        <a:latin typeface="Calibri" charset="0"/>
                        <a:ea typeface="Calibri" charset="0"/>
                        <a:cs typeface="Calibri" charset="0"/>
                      </a:endParaRPr>
                    </a:p>
                  </a:txBody>
                  <a:tcPr marL="91440" marR="91440" marT="45720" marB="45720" anchor="ctr">
                    <a:lnL w="9525" cap="flat" cmpd="sng" algn="ctr">
                      <a:solidFill>
                        <a:srgbClr val="D6DADF"/>
                      </a:solidFill>
                      <a:prstDash val="solid"/>
                      <a:round/>
                      <a:headEnd type="none" w="med" len="med"/>
                      <a:tailEnd type="none" w="med" len="med"/>
                    </a:lnL>
                    <a:lnR w="9525" cap="flat" cmpd="sng" algn="ctr">
                      <a:solidFill>
                        <a:srgbClr val="D6DADF"/>
                      </a:solidFill>
                      <a:prstDash val="solid"/>
                      <a:round/>
                      <a:headEnd type="none" w="med" len="med"/>
                      <a:tailEnd type="none" w="med" len="med"/>
                    </a:lnR>
                    <a:lnT w="9525" cap="flat" cmpd="sng" algn="ctr">
                      <a:solidFill>
                        <a:srgbClr val="D6DADF"/>
                      </a:solidFill>
                      <a:prstDash val="solid"/>
                      <a:round/>
                      <a:headEnd type="none" w="med" len="med"/>
                      <a:tailEnd type="none" w="med" len="med"/>
                    </a:lnT>
                    <a:lnB w="9525" cap="flat" cmpd="sng" algn="ctr">
                      <a:solidFill>
                        <a:srgbClr val="D6DADF"/>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lIns="0" tIns="0" rIns="0" bIns="0" rtlCol="0" anchor="ctr"/>
          <a:lstStyle/>
          <a:p>
            <a:pPr indent="0" marL="0">
              <a:buNone/>
            </a:pPr>
            <a:r>
              <a:rPr lang="en-US" sz="1200" b="1" spc="200" kern="0" dirty="0">
                <a:solidFill>
                  <a:srgbClr val="FF8A00"/>
                </a:solidFill>
                <a:latin typeface="Arial" pitchFamily="34" charset="0"/>
                <a:ea typeface="Arial" pitchFamily="34" charset="-122"/>
                <a:cs typeface="Arial" pitchFamily="34" charset="-120"/>
              </a:rPr>
              <a:t>NEXT STEPS &amp; RETROSPECTIVE</a:t>
            </a:r>
            <a:endParaRPr lang="en-US" sz="1200" dirty="0"/>
          </a:p>
        </p:txBody>
      </p:sp>
      <p:sp>
        <p:nvSpPr>
          <p:cNvPr id="3" name="Text 1"/>
          <p:cNvSpPr txBox="1"/>
          <p:nvPr/>
        </p:nvSpPr>
        <p:spPr>
          <a:xfrm>
            <a:off x="548640" y="640080"/>
            <a:ext cx="10972800" cy="685800"/>
          </a:xfrm>
          <a:prstGeom prst="rect">
            <a:avLst/>
          </a:prstGeom>
          <a:noFill/>
          <a:ln/>
        </p:spPr>
        <p:txBody>
          <a:bodyPr wrap="square" lIns="0" tIns="0" rIns="0" bIns="0" rtlCol="0" anchor="ctr"/>
          <a:lstStyle/>
          <a:p>
            <a:pPr indent="0" marL="0">
              <a:buNone/>
            </a:pPr>
            <a:r>
              <a:rPr lang="en-US" sz="3400" b="1" dirty="0">
                <a:solidFill>
                  <a:srgbClr val="1F2328"/>
                </a:solidFill>
                <a:latin typeface="Arial" pitchFamily="34" charset="0"/>
                <a:ea typeface="Arial" pitchFamily="34" charset="-122"/>
                <a:cs typeface="Arial" pitchFamily="34" charset="-120"/>
              </a:rPr>
              <a:t>Sprint 5: October 1 – 31</a:t>
            </a:r>
            <a:endParaRPr lang="en-US" sz="3400" dirty="0"/>
          </a:p>
        </p:txBody>
      </p:sp>
      <p:sp>
        <p:nvSpPr>
          <p:cNvPr id="4" name="Shape 2"/>
          <p:cNvSpPr/>
          <p:nvPr/>
        </p:nvSpPr>
        <p:spPr>
          <a:xfrm>
            <a:off x="548640" y="1645920"/>
            <a:ext cx="502920" cy="502920"/>
          </a:xfrm>
          <a:prstGeom prst="ellipse">
            <a:avLst/>
          </a:prstGeom>
          <a:solidFill>
            <a:srgbClr val="FF8A00"/>
          </a:solidFill>
          <a:ln w="12700">
            <a:solidFill>
              <a:srgbClr val="FF8A00"/>
            </a:solidFill>
            <a:prstDash val="solid"/>
          </a:ln>
        </p:spPr>
      </p:sp>
      <p:sp>
        <p:nvSpPr>
          <p:cNvPr id="5" name="Text 3"/>
          <p:cNvSpPr txBox="1"/>
          <p:nvPr/>
        </p:nvSpPr>
        <p:spPr>
          <a:xfrm>
            <a:off x="548640" y="16459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34440" y="1600200"/>
            <a:ext cx="457200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Finish Android and Wear OS polish and disconnect handling (#20)</a:t>
            </a:r>
            <a:endParaRPr lang="en-US" sz="1500" dirty="0"/>
          </a:p>
        </p:txBody>
      </p:sp>
      <p:sp>
        <p:nvSpPr>
          <p:cNvPr id="7" name="Shape 5"/>
          <p:cNvSpPr/>
          <p:nvPr/>
        </p:nvSpPr>
        <p:spPr>
          <a:xfrm>
            <a:off x="548640" y="2468880"/>
            <a:ext cx="502920" cy="502920"/>
          </a:xfrm>
          <a:prstGeom prst="ellipse">
            <a:avLst/>
          </a:prstGeom>
          <a:solidFill>
            <a:srgbClr val="FF8A00"/>
          </a:solidFill>
          <a:ln w="12700">
            <a:solidFill>
              <a:srgbClr val="FF8A00"/>
            </a:solidFill>
            <a:prstDash val="solid"/>
          </a:ln>
        </p:spPr>
      </p:sp>
      <p:sp>
        <p:nvSpPr>
          <p:cNvPr id="8" name="Text 6"/>
          <p:cNvSpPr txBox="1"/>
          <p:nvPr/>
        </p:nvSpPr>
        <p:spPr>
          <a:xfrm>
            <a:off x="548640" y="24688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txBox="1"/>
          <p:nvPr/>
        </p:nvSpPr>
        <p:spPr>
          <a:xfrm>
            <a:off x="1234440" y="2423160"/>
            <a:ext cx="457200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Fix the Apple Watch repeated-shot bug (#19)</a:t>
            </a:r>
            <a:endParaRPr lang="en-US" sz="1500" dirty="0"/>
          </a:p>
        </p:txBody>
      </p:sp>
      <p:sp>
        <p:nvSpPr>
          <p:cNvPr id="10" name="Shape 8"/>
          <p:cNvSpPr/>
          <p:nvPr/>
        </p:nvSpPr>
        <p:spPr>
          <a:xfrm>
            <a:off x="548640" y="3291840"/>
            <a:ext cx="502920" cy="502920"/>
          </a:xfrm>
          <a:prstGeom prst="ellipse">
            <a:avLst/>
          </a:prstGeom>
          <a:solidFill>
            <a:srgbClr val="FF8A00"/>
          </a:solidFill>
          <a:ln w="12700">
            <a:solidFill>
              <a:srgbClr val="FF8A00"/>
            </a:solidFill>
            <a:prstDash val="solid"/>
          </a:ln>
        </p:spPr>
      </p:sp>
      <p:sp>
        <p:nvSpPr>
          <p:cNvPr id="11" name="Text 9"/>
          <p:cNvSpPr txBox="1"/>
          <p:nvPr/>
        </p:nvSpPr>
        <p:spPr>
          <a:xfrm>
            <a:off x="548640" y="3291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txBox="1"/>
          <p:nvPr/>
        </p:nvSpPr>
        <p:spPr>
          <a:xfrm>
            <a:off x="1234440" y="3246120"/>
            <a:ext cx="457200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Improve stats and charts; add practice-time tracking</a:t>
            </a:r>
            <a:endParaRPr lang="en-US" sz="1500" dirty="0"/>
          </a:p>
        </p:txBody>
      </p:sp>
      <p:sp>
        <p:nvSpPr>
          <p:cNvPr id="13" name="Shape 11"/>
          <p:cNvSpPr/>
          <p:nvPr/>
        </p:nvSpPr>
        <p:spPr>
          <a:xfrm>
            <a:off x="548640" y="4114800"/>
            <a:ext cx="502920" cy="502920"/>
          </a:xfrm>
          <a:prstGeom prst="ellipse">
            <a:avLst/>
          </a:prstGeom>
          <a:solidFill>
            <a:srgbClr val="FF8A00"/>
          </a:solidFill>
          <a:ln w="12700">
            <a:solidFill>
              <a:srgbClr val="FF8A00"/>
            </a:solidFill>
            <a:prstDash val="solid"/>
          </a:ln>
        </p:spPr>
      </p:sp>
      <p:sp>
        <p:nvSpPr>
          <p:cNvPr id="14" name="Text 12"/>
          <p:cNvSpPr txBox="1"/>
          <p:nvPr/>
        </p:nvSpPr>
        <p:spPr>
          <a:xfrm>
            <a:off x="548640" y="4114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txBox="1"/>
          <p:nvPr/>
        </p:nvSpPr>
        <p:spPr>
          <a:xfrm>
            <a:off x="1234440" y="4069080"/>
            <a:ext cx="457200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Refine gamification across platforms from client feedback</a:t>
            </a:r>
            <a:endParaRPr lang="en-US" sz="1500" dirty="0"/>
          </a:p>
        </p:txBody>
      </p:sp>
      <p:sp>
        <p:nvSpPr>
          <p:cNvPr id="16" name="Shape 14"/>
          <p:cNvSpPr/>
          <p:nvPr/>
        </p:nvSpPr>
        <p:spPr>
          <a:xfrm>
            <a:off x="548640" y="4937760"/>
            <a:ext cx="502920" cy="502920"/>
          </a:xfrm>
          <a:prstGeom prst="ellipse">
            <a:avLst/>
          </a:prstGeom>
          <a:solidFill>
            <a:srgbClr val="FF8A00"/>
          </a:solidFill>
          <a:ln w="12700">
            <a:solidFill>
              <a:srgbClr val="FF8A00"/>
            </a:solidFill>
            <a:prstDash val="solid"/>
          </a:ln>
        </p:spPr>
      </p:sp>
      <p:sp>
        <p:nvSpPr>
          <p:cNvPr id="17" name="Text 15"/>
          <p:cNvSpPr txBox="1"/>
          <p:nvPr/>
        </p:nvSpPr>
        <p:spPr>
          <a:xfrm>
            <a:off x="548640" y="4937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234440" y="4892040"/>
            <a:ext cx="4572000" cy="594360"/>
          </a:xfrm>
          <a:prstGeom prst="rect">
            <a:avLst/>
          </a:prstGeom>
          <a:noFill/>
          <a:ln/>
        </p:spPr>
        <p:txBody>
          <a:bodyPr wrap="square" lIns="0" tIns="0" rIns="0" bIns="0" rtlCol="0" anchor="ctr"/>
          <a:lstStyle/>
          <a:p>
            <a:pPr indent="0" marL="0">
              <a:buNone/>
            </a:pPr>
            <a:r>
              <a:rPr lang="en-US" sz="1500" dirty="0">
                <a:solidFill>
                  <a:srgbClr val="1F2328"/>
                </a:solidFill>
                <a:latin typeface="Calibri" pitchFamily="34" charset="0"/>
                <a:ea typeface="Calibri" pitchFamily="34" charset="-122"/>
                <a:cs typeface="Calibri" pitchFamily="34" charset="-120"/>
              </a:rPr>
              <a:t>Integration and defect testing</a:t>
            </a:r>
            <a:endParaRPr lang="en-US" sz="1500" dirty="0"/>
          </a:p>
        </p:txBody>
      </p:sp>
      <p:sp>
        <p:nvSpPr>
          <p:cNvPr id="19" name="Shape 17"/>
          <p:cNvSpPr/>
          <p:nvPr/>
        </p:nvSpPr>
        <p:spPr>
          <a:xfrm>
            <a:off x="6263640" y="1645920"/>
            <a:ext cx="5349240" cy="2011680"/>
          </a:xfrm>
          <a:prstGeom prst="roundRect">
            <a:avLst>
              <a:gd name="adj" fmla="val 5455"/>
            </a:avLst>
          </a:prstGeom>
          <a:solidFill>
            <a:srgbClr val="F2F3F5"/>
          </a:solidFill>
          <a:ln w="12700">
            <a:solidFill>
              <a:srgbClr val="F2F3F5"/>
            </a:solidFill>
            <a:prstDash val="solid"/>
          </a:ln>
        </p:spPr>
      </p:sp>
      <p:sp>
        <p:nvSpPr>
          <p:cNvPr id="20" name="Text 18"/>
          <p:cNvSpPr txBox="1"/>
          <p:nvPr/>
        </p:nvSpPr>
        <p:spPr>
          <a:xfrm>
            <a:off x="6537960" y="1828800"/>
            <a:ext cx="4846320" cy="411480"/>
          </a:xfrm>
          <a:prstGeom prst="rect">
            <a:avLst/>
          </a:prstGeom>
          <a:noFill/>
          <a:ln/>
        </p:spPr>
        <p:txBody>
          <a:bodyPr wrap="square" lIns="0" tIns="0" rIns="0" bIns="0" rtlCol="0" anchor="ctr"/>
          <a:lstStyle/>
          <a:p>
            <a:pPr indent="0" marL="0">
              <a:buNone/>
            </a:pPr>
            <a:r>
              <a:rPr lang="en-US" sz="1800" b="1" dirty="0">
                <a:solidFill>
                  <a:srgbClr val="2FA85A"/>
                </a:solidFill>
                <a:latin typeface="Arial" pitchFamily="34" charset="0"/>
                <a:ea typeface="Arial" pitchFamily="34" charset="-122"/>
                <a:cs typeface="Arial" pitchFamily="34" charset="-120"/>
              </a:rPr>
              <a:t>Went well</a:t>
            </a:r>
            <a:endParaRPr lang="en-US" sz="1800" dirty="0"/>
          </a:p>
        </p:txBody>
      </p:sp>
      <p:sp>
        <p:nvSpPr>
          <p:cNvPr id="21" name="Text 19"/>
          <p:cNvSpPr txBox="1"/>
          <p:nvPr/>
        </p:nvSpPr>
        <p:spPr>
          <a:xfrm>
            <a:off x="6537960" y="2331720"/>
            <a:ext cx="484632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Port came together quickly</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Every member shipped a feature</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Known-date tests gave confidence</a:t>
            </a:r>
            <a:endParaRPr lang="en-US" sz="1500" dirty="0"/>
          </a:p>
        </p:txBody>
      </p:sp>
      <p:sp>
        <p:nvSpPr>
          <p:cNvPr id="22" name="Shape 20"/>
          <p:cNvSpPr/>
          <p:nvPr/>
        </p:nvSpPr>
        <p:spPr>
          <a:xfrm>
            <a:off x="6263640" y="3886200"/>
            <a:ext cx="5349240" cy="2011680"/>
          </a:xfrm>
          <a:prstGeom prst="roundRect">
            <a:avLst>
              <a:gd name="adj" fmla="val 5455"/>
            </a:avLst>
          </a:prstGeom>
          <a:solidFill>
            <a:srgbClr val="F2F3F5"/>
          </a:solidFill>
          <a:ln w="12700">
            <a:solidFill>
              <a:srgbClr val="F2F3F5"/>
            </a:solidFill>
            <a:prstDash val="solid"/>
          </a:ln>
        </p:spPr>
      </p:sp>
      <p:sp>
        <p:nvSpPr>
          <p:cNvPr id="23" name="Text 21"/>
          <p:cNvSpPr txBox="1"/>
          <p:nvPr/>
        </p:nvSpPr>
        <p:spPr>
          <a:xfrm>
            <a:off x="6537960" y="4069080"/>
            <a:ext cx="4846320" cy="411480"/>
          </a:xfrm>
          <a:prstGeom prst="rect">
            <a:avLst/>
          </a:prstGeom>
          <a:noFill/>
          <a:ln/>
        </p:spPr>
        <p:txBody>
          <a:bodyPr wrap="square" lIns="0" tIns="0" rIns="0" bIns="0" rtlCol="0" anchor="ctr"/>
          <a:lstStyle/>
          <a:p>
            <a:pPr indent="0" marL="0">
              <a:buNone/>
            </a:pPr>
            <a:r>
              <a:rPr lang="en-US" sz="1800" b="1" dirty="0">
                <a:solidFill>
                  <a:srgbClr val="FF8A00"/>
                </a:solidFill>
                <a:latin typeface="Arial" pitchFamily="34" charset="0"/>
                <a:ea typeface="Arial" pitchFamily="34" charset="-122"/>
                <a:cs typeface="Arial" pitchFamily="34" charset="-120"/>
              </a:rPr>
              <a:t>To improve</a:t>
            </a:r>
            <a:endParaRPr lang="en-US" sz="1800" dirty="0"/>
          </a:p>
        </p:txBody>
      </p:sp>
      <p:sp>
        <p:nvSpPr>
          <p:cNvPr id="24" name="Text 22"/>
          <p:cNvSpPr txBox="1"/>
          <p:nvPr/>
        </p:nvSpPr>
        <p:spPr>
          <a:xfrm>
            <a:off x="6537960" y="4572000"/>
            <a:ext cx="484632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Agree on platforms earlier</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Test on devices sooner</a:t>
            </a:r>
            <a:endParaRPr lang="en-US" sz="1500" dirty="0"/>
          </a:p>
          <a:p>
            <a:pPr marL="342900" indent="-342900">
              <a:spcAft>
                <a:spcPts val="600"/>
              </a:spcAft>
              <a:buSzPct val="100000"/>
              <a:buChar char="•"/>
            </a:pPr>
            <a:r>
              <a:rPr lang="en-US" sz="1500" dirty="0">
                <a:solidFill>
                  <a:srgbClr val="1F2328"/>
                </a:solidFill>
                <a:latin typeface="Calibri" pitchFamily="34" charset="0"/>
                <a:ea typeface="Calibri" pitchFamily="34" charset="-122"/>
                <a:cs typeface="Calibri" pitchFamily="34" charset="-120"/>
              </a:rPr>
              <a:t>Commit in smaller pieces</a:t>
            </a:r>
            <a:endParaRPr lang="en-US" sz="1500" dirty="0"/>
          </a:p>
        </p:txBody>
      </p:sp>
      <p:sp>
        <p:nvSpPr>
          <p:cNvPr id="25" name="Text 23"/>
          <p:cNvSpPr txBox="1"/>
          <p:nvPr/>
        </p:nvSpPr>
        <p:spPr>
          <a:xfrm>
            <a:off x="548640" y="5989320"/>
            <a:ext cx="11064240" cy="411480"/>
          </a:xfrm>
          <a:prstGeom prst="rect">
            <a:avLst/>
          </a:prstGeom>
          <a:noFill/>
          <a:ln/>
        </p:spPr>
        <p:txBody>
          <a:bodyPr wrap="square" lIns="0" tIns="0" rIns="0" bIns="0" rtlCol="0" anchor="ctr"/>
          <a:lstStyle/>
          <a:p>
            <a:pPr indent="0" marL="0">
              <a:buNone/>
            </a:pPr>
            <a:r>
              <a:rPr lang="en-US" sz="1300" i="1" dirty="0">
                <a:solidFill>
                  <a:srgbClr val="5B6573"/>
                </a:solidFill>
                <a:latin typeface="Calibri" pitchFamily="34" charset="0"/>
                <a:ea typeface="Calibri" pitchFamily="34" charset="-122"/>
                <a:cs typeface="Calibri" pitchFamily="34" charset="-120"/>
              </a:rPr>
              <a:t>Client feedback applied: gamification built around “hide the broccoli,” and AI used for the port as requested.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731520" y="1188720"/>
            <a:ext cx="1069848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Thank you</a:t>
            </a:r>
            <a:endParaRPr lang="en-US" sz="6000" dirty="0"/>
          </a:p>
        </p:txBody>
      </p:sp>
      <p:sp>
        <p:nvSpPr>
          <p:cNvPr id="3" name="Shape 1"/>
          <p:cNvSpPr/>
          <p:nvPr/>
        </p:nvSpPr>
        <p:spPr>
          <a:xfrm>
            <a:off x="731520" y="2807208"/>
            <a:ext cx="228600" cy="228600"/>
          </a:xfrm>
          <a:prstGeom prst="ellipse">
            <a:avLst/>
          </a:prstGeom>
          <a:solidFill>
            <a:srgbClr val="FF8A00"/>
          </a:solidFill>
          <a:ln w="12700">
            <a:solidFill>
              <a:srgbClr val="FF8A00"/>
            </a:solidFill>
            <a:prstDash val="solid"/>
          </a:ln>
        </p:spPr>
      </p:sp>
      <p:sp>
        <p:nvSpPr>
          <p:cNvPr id="4" name="Text 2"/>
          <p:cNvSpPr txBox="1"/>
          <p:nvPr/>
        </p:nvSpPr>
        <p:spPr>
          <a:xfrm>
            <a:off x="1188720" y="2697480"/>
            <a:ext cx="10058400" cy="457200"/>
          </a:xfrm>
          <a:prstGeom prst="rect">
            <a:avLst/>
          </a:prstGeom>
          <a:noFill/>
          <a:ln/>
        </p:spPr>
        <p:txBody>
          <a:bodyPr wrap="square" lIns="0" tIns="0" rIns="0" bIns="0" rtlCol="0" anchor="ctr"/>
          <a:lstStyle/>
          <a:p>
            <a:pPr indent="0" marL="0">
              <a:buNone/>
            </a:pPr>
            <a:r>
              <a:rPr lang="en-US" sz="2000" dirty="0">
                <a:solidFill>
                  <a:srgbClr val="E5E7EB"/>
                </a:solidFill>
                <a:latin typeface="Calibri" pitchFamily="34" charset="0"/>
                <a:ea typeface="Calibri" pitchFamily="34" charset="-122"/>
                <a:cs typeface="Calibri" pitchFamily="34" charset="-120"/>
              </a:rPr>
              <a:t>Squatch Sports now runs on Android phones and Wear OS watches</a:t>
            </a:r>
            <a:endParaRPr lang="en-US" sz="2000" dirty="0"/>
          </a:p>
        </p:txBody>
      </p:sp>
      <p:sp>
        <p:nvSpPr>
          <p:cNvPr id="5" name="Shape 3"/>
          <p:cNvSpPr/>
          <p:nvPr/>
        </p:nvSpPr>
        <p:spPr>
          <a:xfrm>
            <a:off x="731520" y="3493008"/>
            <a:ext cx="228600" cy="228600"/>
          </a:xfrm>
          <a:prstGeom prst="ellipse">
            <a:avLst/>
          </a:prstGeom>
          <a:solidFill>
            <a:srgbClr val="FF8A00"/>
          </a:solidFill>
          <a:ln w="12700">
            <a:solidFill>
              <a:srgbClr val="FF8A00"/>
            </a:solidFill>
            <a:prstDash val="solid"/>
          </a:ln>
        </p:spPr>
      </p:sp>
      <p:sp>
        <p:nvSpPr>
          <p:cNvPr id="6" name="Text 4"/>
          <p:cNvSpPr txBox="1"/>
          <p:nvPr/>
        </p:nvSpPr>
        <p:spPr>
          <a:xfrm>
            <a:off x="1188720" y="3383280"/>
            <a:ext cx="10058400" cy="457200"/>
          </a:xfrm>
          <a:prstGeom prst="rect">
            <a:avLst/>
          </a:prstGeom>
          <a:noFill/>
          <a:ln/>
        </p:spPr>
        <p:txBody>
          <a:bodyPr wrap="square" lIns="0" tIns="0" rIns="0" bIns="0" rtlCol="0" anchor="ctr"/>
          <a:lstStyle/>
          <a:p>
            <a:pPr indent="0" marL="0">
              <a:buNone/>
            </a:pPr>
            <a:r>
              <a:rPr lang="en-US" sz="2000" dirty="0">
                <a:solidFill>
                  <a:srgbClr val="E5E7EB"/>
                </a:solidFill>
                <a:latin typeface="Calibri" pitchFamily="34" charset="0"/>
                <a:ea typeface="Calibri" pitchFamily="34" charset="-122"/>
                <a:cs typeface="Calibri" pitchFamily="34" charset="-120"/>
              </a:rPr>
              <a:t>Streaks, goals, and XP make every workout feel rewarding</a:t>
            </a:r>
            <a:endParaRPr lang="en-US" sz="2000" dirty="0"/>
          </a:p>
        </p:txBody>
      </p:sp>
      <p:sp>
        <p:nvSpPr>
          <p:cNvPr id="7" name="Shape 5"/>
          <p:cNvSpPr/>
          <p:nvPr/>
        </p:nvSpPr>
        <p:spPr>
          <a:xfrm>
            <a:off x="731520" y="4178808"/>
            <a:ext cx="228600" cy="228600"/>
          </a:xfrm>
          <a:prstGeom prst="ellipse">
            <a:avLst/>
          </a:prstGeom>
          <a:solidFill>
            <a:srgbClr val="FF8A00"/>
          </a:solidFill>
          <a:ln w="12700">
            <a:solidFill>
              <a:srgbClr val="FF8A00"/>
            </a:solidFill>
            <a:prstDash val="solid"/>
          </a:ln>
        </p:spPr>
      </p:sp>
      <p:sp>
        <p:nvSpPr>
          <p:cNvPr id="8" name="Text 6"/>
          <p:cNvSpPr txBox="1"/>
          <p:nvPr/>
        </p:nvSpPr>
        <p:spPr>
          <a:xfrm>
            <a:off x="1188720" y="4069080"/>
            <a:ext cx="10058400" cy="457200"/>
          </a:xfrm>
          <a:prstGeom prst="rect">
            <a:avLst/>
          </a:prstGeom>
          <a:noFill/>
          <a:ln/>
        </p:spPr>
        <p:txBody>
          <a:bodyPr wrap="square" lIns="0" tIns="0" rIns="0" bIns="0" rtlCol="0" anchor="ctr"/>
          <a:lstStyle/>
          <a:p>
            <a:pPr indent="0" marL="0">
              <a:buNone/>
            </a:pPr>
            <a:r>
              <a:rPr lang="en-US" sz="2000" dirty="0">
                <a:solidFill>
                  <a:srgbClr val="E5E7EB"/>
                </a:solidFill>
                <a:latin typeface="Calibri" pitchFamily="34" charset="0"/>
                <a:ea typeface="Calibri" pitchFamily="34" charset="-122"/>
                <a:cs typeface="Calibri" pitchFamily="34" charset="-120"/>
              </a:rPr>
              <a:t>Sprint 5: finish the port, improve stats, refine gamification</a:t>
            </a:r>
            <a:endParaRPr lang="en-US" sz="2000" dirty="0"/>
          </a:p>
        </p:txBody>
      </p:sp>
      <p:sp>
        <p:nvSpPr>
          <p:cNvPr id="9" name="Text 7"/>
          <p:cNvSpPr txBox="1"/>
          <p:nvPr/>
        </p:nvSpPr>
        <p:spPr>
          <a:xfrm>
            <a:off x="731520" y="4937760"/>
            <a:ext cx="10698480" cy="457200"/>
          </a:xfrm>
          <a:prstGeom prst="rect">
            <a:avLst/>
          </a:prstGeom>
          <a:noFill/>
          <a:ln/>
        </p:spPr>
        <p:txBody>
          <a:bodyPr wrap="square" lIns="0" tIns="0" rIns="0" bIns="0" rtlCol="0" anchor="ctr"/>
          <a:lstStyle/>
          <a:p>
            <a:pPr indent="0" marL="0">
              <a:buNone/>
            </a:pPr>
            <a:r>
              <a:rPr lang="en-US" sz="1800" b="1" dirty="0">
                <a:solidFill>
                  <a:srgbClr val="FF8A00"/>
                </a:solidFill>
                <a:latin typeface="Calibri" pitchFamily="34" charset="0"/>
                <a:ea typeface="Calibri" pitchFamily="34" charset="-122"/>
                <a:cs typeface="Calibri" pitchFamily="34" charset="-120"/>
              </a:rPr>
              <a:t>Thanks to Mike Niehl and Preston David at Squatch Sports. Questions and feedback are welcome.</a:t>
            </a:r>
            <a:endParaRPr lang="en-US" sz="1800" dirty="0"/>
          </a:p>
        </p:txBody>
      </p:sp>
      <p:sp>
        <p:nvSpPr>
          <p:cNvPr id="10" name="Text 8"/>
          <p:cNvSpPr txBox="1"/>
          <p:nvPr/>
        </p:nvSpPr>
        <p:spPr>
          <a:xfrm>
            <a:off x="731520" y="5486400"/>
            <a:ext cx="10698480" cy="365760"/>
          </a:xfrm>
          <a:prstGeom prst="rect">
            <a:avLst/>
          </a:prstGeom>
          <a:noFill/>
          <a:ln/>
        </p:spPr>
        <p:txBody>
          <a:bodyPr wrap="square" lIns="0" tIns="0" rIns="0" bIns="0" rtlCol="0" anchor="ctr"/>
          <a:lstStyle/>
          <a:p>
            <a:pPr indent="0" marL="0">
              <a:buNone/>
            </a:pPr>
            <a:r>
              <a:rPr lang="en-US" sz="1400" dirty="0">
                <a:solidFill>
                  <a:srgbClr val="9AA3AF"/>
                </a:solidFill>
                <a:latin typeface="Calibri" pitchFamily="34" charset="0"/>
                <a:ea typeface="Calibri" pitchFamily="34" charset="-122"/>
                <a:cs typeface="Calibri" pitchFamily="34" charset="-120"/>
              </a:rPr>
              <a:t>github.com/KellamA/Squatch-Sports-Team-11-Capstone-Project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Squatch Sports – Sprint 4 Review</dc:title>
  <dc:subject>PptxGenJS Presentation</dc:subject>
  <dc:creator>Team 11</dc:creator>
  <cp:lastModifiedBy>Team 11</cp:lastModifiedBy>
  <cp:revision>1</cp:revision>
  <dcterms:created xsi:type="dcterms:W3CDTF">2026-09-30T22:31:43Z</dcterms:created>
  <dcterms:modified xsi:type="dcterms:W3CDTF">2026-09-30T22:31:43Z</dcterms:modified>
</cp:coreProperties>
</file>